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5a22c94de64dd1" /><Relationship Type="http://schemas.openxmlformats.org/officeDocument/2006/relationships/extended-properties" Target="/docProps/app.xml" Id="R41fc7053021343fd" /><Relationship Type="http://schemas.openxmlformats.org/officeDocument/2006/relationships/officeDocument" Target="/ppt/presentation.xml" Id="R1ac177818efc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3d8f27eef4243"/>
  </p:sldMasterIdLst>
  <p:notesMasterIdLst>
    <p:notesMasterId xmlns:r="http://schemas.openxmlformats.org/officeDocument/2006/relationships" r:id="R2e6e56166b124cd1"/>
  </p:notesMasterIdLst>
  <p:sldIdLst>
    <p:sldId xmlns:r="http://schemas.openxmlformats.org/officeDocument/2006/relationships" id="256" r:id="Re549dda5451a413b"/>
    <p:sldId xmlns:r="http://schemas.openxmlformats.org/officeDocument/2006/relationships" id="257" r:id="R9ff61672e841411b"/>
    <p:sldId xmlns:r="http://schemas.openxmlformats.org/officeDocument/2006/relationships" id="258" r:id="R9e0e0ff94ec24ab7"/>
    <p:sldId xmlns:r="http://schemas.openxmlformats.org/officeDocument/2006/relationships" id="259" r:id="R07d2256385964b1b"/>
    <p:sldId xmlns:r="http://schemas.openxmlformats.org/officeDocument/2006/relationships" id="260" r:id="R1bbae47b01b3461f"/>
    <p:sldId xmlns:r="http://schemas.openxmlformats.org/officeDocument/2006/relationships" id="261" r:id="Rada4cf32b61a4121"/>
    <p:sldId xmlns:r="http://schemas.openxmlformats.org/officeDocument/2006/relationships" id="262" r:id="Rf98531bd713443e7"/>
    <p:sldId xmlns:r="http://schemas.openxmlformats.org/officeDocument/2006/relationships" id="263" r:id="Rb226710142cb470c"/>
    <p:sldId xmlns:r="http://schemas.openxmlformats.org/officeDocument/2006/relationships" id="264" r:id="R23ddd945a1634541"/>
    <p:sldId xmlns:r="http://schemas.openxmlformats.org/officeDocument/2006/relationships" id="265" r:id="Rf48326863fa443ad"/>
    <p:sldId xmlns:r="http://schemas.openxmlformats.org/officeDocument/2006/relationships" id="266" r:id="Rfa09c16506a44a88"/>
    <p:sldId xmlns:r="http://schemas.openxmlformats.org/officeDocument/2006/relationships" id="267" r:id="R1f468dcdada84a8b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36b54ce31144ff" /><Relationship Type="http://schemas.openxmlformats.org/officeDocument/2006/relationships/slideMaster" Target="/ppt/slideMasters/slideMaster1.xml" Id="Rb7c3d8f27eef4243" /><Relationship Type="http://schemas.openxmlformats.org/officeDocument/2006/relationships/notesMaster" Target="/ppt/notesMasters/notesMaster1.xml" Id="R2e6e56166b124cd1" /><Relationship Type="http://schemas.openxmlformats.org/officeDocument/2006/relationships/presProps" Target="/ppt/presProps.xml" Id="R7e4ceb477bbd4591" /><Relationship Type="http://schemas.openxmlformats.org/officeDocument/2006/relationships/tableStyles" Target="/ppt/tableStyles.xml" Id="Rce8b6e1ec5c94385" /><Relationship Type="http://schemas.openxmlformats.org/officeDocument/2006/relationships/slide" Target="/ppt/slides/slide1.xml" Id="Re549dda5451a413b" /><Relationship Type="http://schemas.openxmlformats.org/officeDocument/2006/relationships/slide" Target="/ppt/slides/slide2.xml" Id="R9ff61672e841411b" /><Relationship Type="http://schemas.openxmlformats.org/officeDocument/2006/relationships/slide" Target="/ppt/slides/slide3.xml" Id="R9e0e0ff94ec24ab7" /><Relationship Type="http://schemas.openxmlformats.org/officeDocument/2006/relationships/slide" Target="/ppt/slides/slide4.xml" Id="R07d2256385964b1b" /><Relationship Type="http://schemas.openxmlformats.org/officeDocument/2006/relationships/slide" Target="/ppt/slides/slide5.xml" Id="R1bbae47b01b3461f" /><Relationship Type="http://schemas.openxmlformats.org/officeDocument/2006/relationships/slide" Target="/ppt/slides/slide6.xml" Id="Rada4cf32b61a4121" /><Relationship Type="http://schemas.openxmlformats.org/officeDocument/2006/relationships/slide" Target="/ppt/slides/slide7.xml" Id="Rf98531bd713443e7" /><Relationship Type="http://schemas.openxmlformats.org/officeDocument/2006/relationships/slide" Target="/ppt/slides/slide8.xml" Id="Rb226710142cb470c" /><Relationship Type="http://schemas.openxmlformats.org/officeDocument/2006/relationships/slide" Target="/ppt/slides/slide9.xml" Id="R23ddd945a1634541" /><Relationship Type="http://schemas.openxmlformats.org/officeDocument/2006/relationships/slide" Target="/ppt/slides/slide10.xml" Id="Rf48326863fa443ad" /><Relationship Type="http://schemas.openxmlformats.org/officeDocument/2006/relationships/slide" Target="/ppt/slides/slide11.xml" Id="Rfa09c16506a44a88" /><Relationship Type="http://schemas.openxmlformats.org/officeDocument/2006/relationships/slide" Target="/ppt/slides/slide12.xml" Id="R1f468dcdada8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25b81ec03d40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8347390ed4fe6" /><Relationship Type="http://schemas.openxmlformats.org/officeDocument/2006/relationships/notesMaster" Target="/ppt/notesMasters/notesMaster1.xml" Id="R05e11c4c9f6548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93dfc299d94292" /><Relationship Type="http://schemas.openxmlformats.org/officeDocument/2006/relationships/notesMaster" Target="/ppt/notesMasters/notesMaster1.xml" Id="Rcd576b719dcf45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c87ecc3a4f46ff" /><Relationship Type="http://schemas.openxmlformats.org/officeDocument/2006/relationships/notesMaster" Target="/ppt/notesMasters/notesMaster1.xml" Id="Rcf27a357e35c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a6fbee688d4fcd" /><Relationship Type="http://schemas.openxmlformats.org/officeDocument/2006/relationships/notesMaster" Target="/ppt/notesMasters/notesMaster1.xml" Id="R486b3205f4bd45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54b8d360f54f96" /><Relationship Type="http://schemas.openxmlformats.org/officeDocument/2006/relationships/notesMaster" Target="/ppt/notesMasters/notesMaster1.xml" Id="R7bc980008bb342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8ebe00f08f4de1" /><Relationship Type="http://schemas.openxmlformats.org/officeDocument/2006/relationships/notesMaster" Target="/ppt/notesMasters/notesMaster1.xml" Id="Rd826964c0f4d4c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d8a4a03f7342bd" /><Relationship Type="http://schemas.openxmlformats.org/officeDocument/2006/relationships/notesMaster" Target="/ppt/notesMasters/notesMaster1.xml" Id="R4f2bd245be504b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41f3bc33894b49" /><Relationship Type="http://schemas.openxmlformats.org/officeDocument/2006/relationships/notesMaster" Target="/ppt/notesMasters/notesMaster1.xml" Id="Re7a8099865a44e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b225ba12ec48af" /><Relationship Type="http://schemas.openxmlformats.org/officeDocument/2006/relationships/notesMaster" Target="/ppt/notesMasters/notesMaster1.xml" Id="Rd41d226bda9f48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f1bf1a76d44c6d" /><Relationship Type="http://schemas.openxmlformats.org/officeDocument/2006/relationships/notesMaster" Target="/ppt/notesMasters/notesMaster1.xml" Id="R3e6ff8983e2843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f821b87ed4414d" /><Relationship Type="http://schemas.openxmlformats.org/officeDocument/2006/relationships/notesMaster" Target="/ppt/notesMasters/notesMaster1.xml" Id="Rb8c60349164145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1f7903f2b2a4921" /><Relationship Type="http://schemas.openxmlformats.org/officeDocument/2006/relationships/notesMaster" Target="/ppt/notesMasters/notesMaster1.xml" Id="R09666ecb6248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docs/marketing/assets/fde-tech-light-path-v1.png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61fd3c5bc48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d6daeca8b841df" /><Relationship Type="http://schemas.openxmlformats.org/officeDocument/2006/relationships/slideLayout" Target="/ppt/slideLayouts/slideLayout1.xml" Id="Rf63caa7878e3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3caa7878e3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75baf17a784f38" /><Relationship Type="http://schemas.openxmlformats.org/officeDocument/2006/relationships/image" Target="/ppt/media/image.png" Id="R5d743d7f64cc4299" /><Relationship Type="http://schemas.openxmlformats.org/officeDocument/2006/relationships/notesSlide" Target="/ppt/notesSlides/notesSlide1.xml" Id="Rf3cdb9aa8efb40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b12bb43f34a76" /><Relationship Type="http://schemas.openxmlformats.org/officeDocument/2006/relationships/notesSlide" Target="/ppt/notesSlides/notesSlide2.xml" Id="Rac5e240954c3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b12d7004f466b" /><Relationship Type="http://schemas.openxmlformats.org/officeDocument/2006/relationships/notesSlide" Target="/ppt/notesSlides/notesSlide3.xml" Id="R782408dced024b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8587febf34dd7" /><Relationship Type="http://schemas.openxmlformats.org/officeDocument/2006/relationships/notesSlide" Target="/ppt/notesSlides/notesSlide4.xml" Id="R396c273f607f4a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94d74f2c074703" /><Relationship Type="http://schemas.openxmlformats.org/officeDocument/2006/relationships/notesSlide" Target="/ppt/notesSlides/notesSlide5.xml" Id="R0cd5efd9c9b845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f03ea5cb143dc" /><Relationship Type="http://schemas.openxmlformats.org/officeDocument/2006/relationships/notesSlide" Target="/ppt/notesSlides/notesSlide6.xml" Id="R4840359bfd224e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a64208c8e45c1" /><Relationship Type="http://schemas.openxmlformats.org/officeDocument/2006/relationships/notesSlide" Target="/ppt/notesSlides/notesSlide7.xml" Id="R43202d62799847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9253062874ae6" /><Relationship Type="http://schemas.openxmlformats.org/officeDocument/2006/relationships/notesSlide" Target="/ppt/notesSlides/notesSlide8.xml" Id="Rb0b9cd6ad9b947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4608a29b14209" /><Relationship Type="http://schemas.openxmlformats.org/officeDocument/2006/relationships/notesSlide" Target="/ppt/notesSlides/notesSlide9.xml" Id="R988a4a473ad445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c8188e77a427c" /><Relationship Type="http://schemas.openxmlformats.org/officeDocument/2006/relationships/notesSlide" Target="/ppt/notesSlides/notesSlide10.xml" Id="R1b02b238d35f4ac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d32dde0ea14ccb" /><Relationship Type="http://schemas.openxmlformats.org/officeDocument/2006/relationships/notesSlide" Target="/ppt/notesSlides/notesSlide11.xml" Id="R4a2f3d40924246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67ce62b764127" /><Relationship Type="http://schemas.openxmlformats.org/officeDocument/2006/relationships/notesSlide" Target="/ppt/notesSlides/notesSlide12.xml" Id="Rb9cbb4ecbc8842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CA3C-454F-4AC4-8E3D-2BA1E307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FDE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CA9F7-7B7D-48EA-B2E0-F3F160F8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Your company wants to use AI.</a:t>
            </a:r>
          </a:p>
          <a:p xmlns:a="http://schemas.openxmlformats.org/drawingml/2006/main">
            <a:pPr algn="l">
              <a:buNone/>
              <a:defRPr sz="3600" b="0">
                <a:solidFill>
                  <a:srgbClr val="070707"/>
                </a:solidFill>
              </a:defRPr>
            </a:pPr>
            <a:r>
              <a:rPr sz="3600" b="0">
                <a:solidFill>
                  <a:srgbClr val="070707"/>
                </a:solidFill>
              </a:rPr>
              <a:t>Where should it start?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F1DF9-59C9-4554-8A05-9FFCDBF1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An FDE works inside the business to find the right first problem,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then turns it into a system people use and results can prove.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43d7f64cc4299"/>
          <a:srcRect xmlns:a="http://schemas.openxmlformats.org/drawingml/2006/main" l="612" t="0" r="6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D74A1-7765-470F-B333-AAA898A8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03" b="1">
                <a:solidFill>
                  <a:srgbClr val="070707"/>
                </a:solidFill>
              </a:defRPr>
            </a:pPr>
            <a:r>
              <a:rPr sz="803" b="1">
                <a:solidFill>
                  <a:srgbClr val="070707"/>
                </a:solidFill>
              </a:rPr>
              <a:t>Business assessment | Workflow redesign | Skills | Custom SaaS | Databases | Agents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C83F5-28FB-4508-BC24-EE11BE1C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Event offer: complimentary enterprise AI assessment</a:t>
            </a:r>
          </a:p>
          <a:p xmlns:a="http://schemas.openxmlformats.org/drawingml/2006/main">
            <a:pPr algn="r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10 companies per day</a:t>
            </a:r>
          </a:p>
        </p:txBody>
      </p:sp>
    </p:spTree>
    <p:extLst>
      <p:ext uri="{BB962C8B-B14F-4D97-AF65-F5344CB8AC3E}">
        <p14:creationId xmlns:p14="http://schemas.microsoft.com/office/powerpoint/2010/main" val="217005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513DB-BF7E-43DF-B1C9-0ED6443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AI can now</a:t>
            </a:r>
          </a:p>
          <a:p xmlns:a="http://schemas.openxmlformats.org/drawingml/2006/main">
            <a:pPr algn="l">
              <a:buNone/>
              <a:defRPr sz="3750" b="0">
                <a:solidFill>
                  <a:srgbClr val="070707"/>
                </a:solidFill>
              </a:defRPr>
            </a:pPr>
            <a:r>
              <a:rPr sz="3750" b="0">
                <a:solidFill>
                  <a:srgbClr val="070707"/>
                </a:solidFill>
              </a:rPr>
              <a:t>do the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1AFA5-B18F-4A18-B8FE-342CBD3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10" b="0">
                <a:solidFill>
                  <a:srgbClr val="070707"/>
                </a:solidFill>
              </a:defRPr>
            </a:pPr>
            <a:r>
              <a:rPr sz="1110" b="0">
                <a:solidFill>
                  <a:srgbClr val="070707"/>
                </a:solidFill>
              </a:rPr>
              <a:t>We used to complete every step manually.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73B06-31B4-4563-971A-773DAAE0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Agents can now read documents, retrieve data, use tools, and complete a sequence of tasks. When review is required, they hand the decision back to a person.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7B1CF-57DE-47D0-B6F3-13699F07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HOW THE OPERATING MODEL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72E23-4A92-4887-9D0D-A08A5F43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0FC0C-2845-49C8-9D82-0DEC988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Agents take on repetitive execution.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63C99-1CAD-43F7-8AD0-D736FB55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69D54-5106-4804-896F-B94FE18C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People remain responsible for goals, judgment, and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D4442-1503-4746-A335-21D0333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0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AD063C-422F-4828-98E9-165958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One manager can direct several agents.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32CE-AD26-41C0-B48C-F6C63AA6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67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C91D-DD28-43C2-A47E-58049D50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81750"/>
            <a:ext cx="6305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0">
                <a:solidFill>
                  <a:srgbClr val="070707"/>
                </a:solidFill>
              </a:defRPr>
            </a:pPr>
            <a:r>
              <a:rPr sz="968" b="0">
                <a:solidFill>
                  <a:srgbClr val="070707"/>
                </a:solidFill>
              </a:rPr>
              <a:t>Companies can turn working knowledge into reusable workflows and Skills.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D575A-DFC0-44FB-BC37-CF8D4F47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C740E-2BCA-4758-820C-B34BE59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29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In 2025, Microsoft introduced the idea of the Agent Boss: an employee who builds, delegates to, and manages agents.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68766-B019-48ED-88C9-B3F5A346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86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D88A5-395E-4F4A-87A1-853362EA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10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OpenAI defines agents as systems that can complete workflows on a user’s behalf, rather than simply answer questions.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094AB-64AA-4C2F-AC05-5F23264D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67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EAB1-059B-4330-822B-BC9B3720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791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Google describes enterprise agents as systems that connect models with company data, tools, memory, orchestration, and runtime infrastructure.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091CF-1DC1-471A-9231-02E6AAD6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48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91C02C-33AD-40A7-814B-90C5C0A4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40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Anthropic’s research suggests that people tend to decide what should be done, while agents make more of the execution decisions about how to do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0BB2E8-6931-488C-8D14-473F98C9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4E9CB-6887-4AFD-B879-75BA34C4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Operating efficiency will diverge with how AI-native a company becomes.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D600F-C585-4D23-B061-933F4750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F7AC05-8B83-4BC5-B3D2-1301BC95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06239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A41D9D-B1E9-4402-8B9B-DB9EF72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The numbers are already moving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6FFC7-79DA-46A8-84B9-A37617DE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CE5CFC-3974-431F-82C6-E0680FE7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Microsoft’s 2025 Work Trend Index surveyed 31,000 workers across 31 countries. 81% of surveyed leaders expected agents to enter their company’s AI strategy within 12–18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4BBB4A-B36B-4248-8A06-C6E1009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6BB50-9244-4C4C-BC5C-F06A04A9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C3C4F-2E6E-43A6-846C-BEEF2423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1M+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98CC75-ADBC-4035-8D67-8E069163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In 2025, OpenAI reported more than one million business customers.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CA252-0A26-4ED8-BF2F-0BB4AF22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0D8C5-1E17-438E-B53E-B6B812C9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B7E5E-4DF8-4DDD-9138-16E2F0BC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FEC66-96D3-4F41-BC47-DBD3651A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73" b="1">
                <a:solidFill>
                  <a:srgbClr val="070707"/>
                </a:solidFill>
              </a:defRPr>
            </a:pPr>
            <a:r>
              <a:rPr sz="1073" b="1">
                <a:solidFill>
                  <a:srgbClr val="070707"/>
                </a:solidFill>
              </a:rPr>
              <a:t>Since February, weekly active Codex users grew 108× in legal, 41× in sales, 41× in recruiting, and 26× in marketing.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1517C2-F84B-4DF8-8ED1-30E9673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62D6-E7E8-4B5A-A7AC-1E2FFF81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33D8B-4583-4B65-BEFD-61A139E1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96F57-34BF-48E4-A402-DAD9088A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070707"/>
                </a:solidFill>
              </a:defRPr>
            </a:pPr>
            <a:r>
              <a:rPr sz="788" b="1">
                <a:solidFill>
                  <a:srgbClr val="070707"/>
                </a:solidFill>
              </a:rPr>
              <a:t>PUBLIC EXAMPLES ALREADY IN PRODUCTION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B9025-D16A-4C2A-89D7-5985DFAA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1BD7-A747-4AE9-AE83-2E722C24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Codex reduced code review time by 50% and shortened some projects from weeks to days.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64831-4FE7-42D1-9384-4CBAC0DA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8ACF1-275F-434D-BD86-0D6D57C5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Its multi-agent due diligence framework reportedly cut development time by more than 50% and improved agent accuracy by 30%.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06452-7062-4B90-AEC9-472D4C2C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DE42C-F9F8-45A8-9AFA-839DCBB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A Google Cloud customer story reports $53.9 million in annual savings, 87% faster issue resolution, and 30% of calls resolved proactively with 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9D1744-2138-4642-9D8E-7F0C898E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FA207E-4F42-4965-AB66-18DCB423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5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OpenAI reports that Lowe’s provides AI-powered project guidance to associates across more than 1,700 stores.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8518B4-BF33-45EA-8177-9A2EB429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FF1B0A-CA8B-4E88-8387-171A9FA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817003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82551A-3177-4478-8288-84952B09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Leaders want higher efficiency,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but do not know where to begin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69C03-9532-4122-B139-C4A9CAD3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MANY COMPANIES HAVE ALREADY TRIED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8C3F-EC34-465D-8AD4-FD088981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0B92E-AA9D-4816-AD86-3C144A1D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Employees have subscriptions but use them only occasionally.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07B19-81D9-4A85-8625-AD680B2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E73B8-E97D-4A23-BB0D-FF373BA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A demo looked good, but nobody used it after launch.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924D8-FB93-4098-B0CA-34FC6EA1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28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BA9A2-7269-4540-8062-7409F381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Other companies’ cases do not fit the way this company works.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2381-0B5A-42A1-9118-F628BDFF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E307-6241-458F-9E2C-12B7DDFE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Every department has ideas, but nobody can set priorities.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05453-BB3F-4FA3-B617-F990FF02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2AC54-9719-4A1F-AAEB-BB54C0E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Information is scattered across chat, spreadsheets, PDFs, drives, and personal computers.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CF6F3-C60C-4669-A964-87E4BAC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643AAC-720A-4887-AB9A-AD52EC58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29025"/>
            <a:ext cx="6305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Leaders worry about security and do not know how much authority an agent should have.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FA7815-894D-41DD-8773-675A1552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57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AI transformation crosses four boundaries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C79B02-FACB-49D5-BECF-D901A96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005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The outcome leadership wants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99F4A-6C02-41CF-8179-41581513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7EDED3-060F-49A9-A6B1-0F4E9E2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frontline work actually happens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20E28-2255-4503-ACAF-5FB8036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23E11-1341-4F90-AC74-795B9712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Where the data and systems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4FA846-236F-4AEE-8793-EECFC9AD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B3E0C-8C00-4F66-96D6-F357805E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1">
                <a:solidFill>
                  <a:srgbClr val="070707"/>
                </a:solidFill>
              </a:defRPr>
            </a:pPr>
            <a:r>
              <a:rPr sz="1005" b="1">
                <a:solidFill>
                  <a:srgbClr val="070707"/>
                </a:solidFill>
              </a:rPr>
              <a:t>How the solution gets built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64490-5FB2-4AD4-8DBA-932C21E9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Leave out one layer and the project often stalls.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300AF1-FF09-486D-8EDF-6D29752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WHY INTERNAL PROJECTS STALL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0B3F10-BB82-4B9D-9025-1F351F0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05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leadership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C064A-5026-409A-9C2C-CA916C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7056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ambition is broad, but the first practical job remains unclear.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F782E-8CC7-4FD5-82A1-AA9C24BC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532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C6EC97-42B0-498B-96C0-9686EA0E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009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Listen only to frontline teams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B945E-9AA4-47DE-A3E9-68BA09F5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2009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You collect scattered requests but cannot identify the best investment.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F3C16-57E2-4254-A5ED-37E1372D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485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A649-0679-4AF8-86F2-3A04ACE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9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Start with a software vendor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1C6B-FBCF-423C-83D4-5CDF31B1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962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The vendor needs clear requirements—the thing the company still lacks.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F3A24-080D-4BB3-AA6D-93C957F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43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831BC0-C003-4D47-94E6-D73284DF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Buy a standard product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0A8932-2DC2-436E-920C-7314791D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Deployment is fast, but the workflow may not fit.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366AC2-AEBC-47A3-AD14-8535FEE3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391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EB13C-0D71-4E43-8491-D511E15B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86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Build a large platform first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99549-D4D1-44C6-8BCD-491704E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86800"/>
            <a:ext cx="471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Time and money are committed before business value is tested.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4E6F0-E51D-4B32-A49F-A53377D1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53550"/>
            <a:ext cx="653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23" b="1">
                <a:solidFill>
                  <a:srgbClr val="070707"/>
                </a:solidFill>
              </a:defRPr>
            </a:pPr>
            <a:r>
              <a:rPr sz="923" b="1">
                <a:solidFill>
                  <a:srgbClr val="070707"/>
                </a:solidFill>
              </a:rPr>
              <a:t>A company needs someone who can connect business, product, and technology. That is the FDE’s role.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2D9760-3FE5-406D-86CF-959B71FE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09688F-79CC-4C11-BA8D-9002BA14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32836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66D293-CC18-45DA-8C45-FA20F171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 FDE starts with ambiguity</a:t>
            </a:r>
          </a:p>
          <a:p xmlns:a="http://schemas.openxmlformats.org/drawingml/2006/main">
            <a:pPr algn="l">
              <a:buNone/>
              <a:defRPr sz="2775" b="0">
                <a:solidFill>
                  <a:srgbClr val="070707"/>
                </a:solidFill>
              </a:defRPr>
            </a:pPr>
            <a:r>
              <a:rPr sz="2775" b="0">
                <a:solidFill>
                  <a:srgbClr val="070707"/>
                </a:solidFill>
              </a:rPr>
              <a:t>and stays until results can be tested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51C7A-3AB2-4D4C-A00A-2B7DB3F1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A Forward Deployed Engineer does more than write code at a customer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95" b="0">
                <a:solidFill>
                  <a:srgbClr val="070707"/>
                </a:solidFill>
              </a:defRPr>
            </a:pPr>
            <a:r>
              <a:rPr sz="1095" b="0">
                <a:solidFill>
                  <a:srgbClr val="070707"/>
                </a:solidFill>
              </a:rPr>
              <a:t>The work starts by observing the business: why leadership wants AI, what employees do each day, where the data lives, and where time, errors, or slow response hurt the company.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78AFB-0DC1-41A1-A248-6BAA4142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9430B-2994-421D-BA86-0A950D2E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Once the problem is clear, the FDE chooses how to solve it: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18334-98EF-4860-B444-552E33A6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56634-FFC6-462E-9ED1-262CAEEC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Use an existing product when it already solves the problem.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BFCCA-77AC-4E82-B953-4C7F2F0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C8820-3BF1-4F9A-9DC2-42DD7AA7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C2FCD-046A-4604-848F-78FF4A2B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Build a Skill when a Skill is enough.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2A0B29-EC03-46A6-9E83-7B5A49E1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6DAF9-99C6-43F4-A618-76E43B21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05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036E0-539F-440E-912D-83BA6E3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Integrate with existing systems when the workflow crosses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134B8-FCB9-497F-ADC3-17BE48F7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BC4E9C-4084-430E-833A-2343E98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24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A4518-551D-4C83-8BFB-D51449F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Create a database or knowledge base when the data must be organized first.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52F5E6-11A1-4F97-BBC2-3253821F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4290-9321-430D-B420-9E12761D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09567-C15A-44B6-A22B-5062D20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0" b="0">
                <a:solidFill>
                  <a:srgbClr val="070707"/>
                </a:solidFill>
              </a:defRPr>
            </a:pPr>
            <a:r>
              <a:rPr sz="1020" b="0">
                <a:solidFill>
                  <a:srgbClr val="070707"/>
                </a:solidFill>
              </a:rPr>
              <a:t>Design the division of work between people and agents when the workflow is suitable.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013E1-F511-4A75-B777-DD30BA63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A85D2-98EF-483C-BF0B-F604DF92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282359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BA23301-5D76-4643-8493-EF4EF5D0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From one small tool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to a company-wide AI upgrade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C3C7D-C118-424D-905D-A05AFADF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5DD41-9C88-45C5-83A7-A209622C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specific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28C932-FA23-4714-8F70-DB9D2854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6918B-6626-48A7-8639-248CD1E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Company-specific Skills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93663-8F63-4B76-B053-593CD639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65F96-9A79-4B25-8B09-3CADE0D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Quotation, entry, reconciliation, and reporting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DDD4-70C8-458E-AE1E-5A04BD40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6099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92183-4D5D-4DA8-A48B-EAA784A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433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Document, spreadsheet, and image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DE1B32-ADD2-472B-B5A0-60051C2E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9814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268C4-0396-4CE5-A176-EDF77DBD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91477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Small custom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4290-E322-47F8-BD4A-124B6AE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AEF88-EF3A-4446-AB75-E99A07AB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the problem is clear and results are needed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27C6A-59A1-4817-A908-49758992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B3941-FFBC-40B3-89D3-4CF83343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One business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D2955-F690-4114-8A3A-312E4880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FEED9C-D229-4E90-A262-970A110C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Interviews and workflow mapping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1509E-7C8B-4DB2-92CE-81AAB1CB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D74A-CAC8-41F3-9959-A9D11CE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ERP, CRM, collaboration, and messaging integrations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A7777-92CF-4C99-9CD7-6FD8BD92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ACD471-E9EE-4D08-9170-84AD0A72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4367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Progress, result, and activity 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96B310-A599-43C1-84DF-723D572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8674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E991F-49AC-4DFB-9207-223E2DAD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5800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Role-specific agents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116E84-8886-49CC-BF26-E3673E4A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62388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680156-2AD2-4332-B6C6-0335550C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617220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Exception handling and human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9D6008-507E-46E7-B7AF-CAED1BC5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9132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C13C6-A3BC-4CAE-8C22-4F759668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43725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work crosses people and systems through manual handoffs.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8073BD-B02E-408F-B4DB-6DAB70B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443021-4B9C-4AB3-AC6C-0C1182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A data 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37C323-8CBE-4F23-A2B1-1132C581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70B4E3-292E-42C6-91ED-D81CDE69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5815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Operational databases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A1CFD2-6EB1-47F3-BB5F-C86C428A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333FE1-EA94-49E7-8F04-78BF048F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29625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Data cleanup and consistent naming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C7860-DECC-4DE7-9181-82887C2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6777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AD2F3D-77D4-43D3-AC93-C5C404C4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801100"/>
            <a:ext cx="15144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Trusted data for agents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068F3-1DC4-4A51-9F94-007A4CFA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124825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82CFA6-E4BA-4F96-9C05-12DF909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58150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Enterprise knowledge bases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15227A-16F9-47CD-A200-9BB7123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8496300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E34BA1-158F-4645-AC88-64DACA38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4296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0">
                <a:solidFill>
                  <a:srgbClr val="070707"/>
                </a:solidFill>
              </a:defRPr>
            </a:pPr>
            <a:r>
              <a:rPr sz="832" b="0">
                <a:solidFill>
                  <a:srgbClr val="070707"/>
                </a:solidFill>
              </a:rPr>
              <a:t>Permissions and usage boundaries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B3C513-64D6-425B-B99F-E17A6EB8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FD7CC-C2E9-48F1-9AB1-ECA0044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011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Best when information is hard to find, share, or trust.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89E954-C9CB-4693-BC10-D31F49BC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D10527-254D-4D45-BAC2-1EF52B3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2C2C23-8A6A-4D15-A850-5B8C5476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70707"/>
                </a:solidFill>
              </a:defRPr>
            </a:pPr>
            <a:r>
              <a:rPr sz="1650" b="1">
                <a:solidFill>
                  <a:srgbClr val="070707"/>
                </a:solidFill>
              </a:rPr>
              <a:t>A company-wide upgrade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C05674-6CEB-4E1F-AD7E-521FCFB6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624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605551-11E8-4BDB-98DB-6A0E951E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Identify work suitable for AI across departments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DF3CA0-8DB0-46E3-AE5D-7643605F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054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9C4C9A-F90E-4448-928D-71FDF5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Redesign how people and agents divide the work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4E4A4C-A2B4-4A05-8112-AC730B1A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0483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C99DD-059D-4307-A6F0-EAB8EB32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Set permissions, approvals, and accountability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610FD-6733-4CB0-A8E0-E4F5BAE6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79132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3F37C9-C965-47F1-900F-76AC3DCE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Define the pilot sequence and expansion 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28B9C4-73B7-4B46-9E96-244CEC4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534275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F236A6-A534-4231-9DA6-EA7560E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Train the company’s own Agent Bosses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59E06B-B7C7-43C3-9A53-47DAAFE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A7CEBC-95C3-48F0-B8CB-AFA364CF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Best when leadership wants one coordinated program.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864354-200E-498C-AE8B-985DB2E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483A95-6817-4467-8E1F-49524A56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6548196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35BA1-03E2-4CBE-8BD4-ED9637D9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Assess first.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Build only if it is worth building.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1EC75-0837-4973-A33B-3CA043D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54C5F-92F0-455C-A734-B03733A8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Clarify why the company wants AI: save time, reduce errors, increase revenue, or change how the company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F8960-C551-4C4B-AC5D-70B0B79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E0803-2FCB-4231-BADC-0BC6FA11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00FA1-1CA9-4C71-A8EC-F0E4701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Observe the spreadsheets, files, messages, and business systems employees really use—including exceptions outside the official process.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25F96-EE8A-4FD1-9557-034977E7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43597-7EAD-452A-8C7A-8D054CDC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7FDD7-900D-4201-A972-6D22516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Rank opportunities by value, difficulty, data readiness, risk, and time to validation. Not every problem needs AI.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C021-F2C7-40FA-9BF6-7017B4F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4A63F-F9C0-44C8-A9CD-31B03B0C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57F8C-6FC9-4B19-B332-6D4382C1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Choose one job. Agree on the owner, data, scope, and result metric before building a usable version.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E5AD8-B29B-4945-B6AB-0D83ED7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D2E70-567D-4B5B-A258-DF6D23F2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36904B-DC13-4CCE-9078-56416226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real users have tried it, decide whether to improve it, expand it, or stop.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07762-6886-4E30-8CB6-A27D77E7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37251D-74F9-4FF0-9ADF-49B5EA46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2819768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E096B-CCE6-4E52-817F-CE03A3BF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Not a demo.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070707"/>
                </a:solidFill>
              </a:defRPr>
            </a:pPr>
            <a:r>
              <a:rPr sz="2850" b="0">
                <a:solidFill>
                  <a:srgbClr val="070707"/>
                </a:solidFill>
              </a:rPr>
              <a:t>A working test with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AFE8-6C43-4C08-AD20-77F42571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070707"/>
                </a:solidFill>
              </a:defRPr>
            </a:pPr>
            <a:r>
              <a:rPr sz="1013" b="0">
                <a:solidFill>
                  <a:srgbClr val="070707"/>
                </a:solidFill>
              </a:rPr>
              <a:t>Depending on the agreed scope, a pilot may include: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0CD50-39F0-4FE0-AE6F-0A1B9DA0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E1A3C-EBF1-4617-A491-EF673AB5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map of the current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14DAB-5011-47B7-9BFD-E1F62B7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E8C3-2E8A-4A7F-98F9-9416836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62890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3FE26-12A1-44FC-8B69-40760C04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problem and pilot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ED051-59A9-4FA8-8854-F7530D8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DD4CE-B94E-43CA-A286-BB58F08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35147B-7A7C-46A1-B370-FA97E33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working prototype or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530F88-E76E-4742-9978-989FC756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197F8-5959-46B9-AB43-42F89064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609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7A2EE-5397-47B9-9F97-0A61845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The data and permissions used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78F896-A7D4-41E5-A95E-A72359FD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38557-0B4C-4798-9604-91E2C74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AF8EA5-2236-4D80-A5E7-FF942D20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Responsibilities for people and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527E-6498-4E4D-96A7-404926B6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D0512-8FA0-4516-8157-B3EEE785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5910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0EC57E-F4AD-48BF-9796-2D83760E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Human approval points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12CDA-03CA-4A6E-902E-9611C07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B14732-5C68-4676-AFE9-4FE463DA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1E00AD-5DCE-411A-8071-5676CF07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before-and-after comparison 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779C2-A610-4DF9-81AB-1426CAFE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9891C-8494-4079-940F-743051BB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5721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9995-4E2D-4667-B479-0307F2E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8" b="1">
                <a:solidFill>
                  <a:srgbClr val="070707"/>
                </a:solidFill>
              </a:defRPr>
            </a:pPr>
            <a:r>
              <a:rPr sz="968" b="1">
                <a:solidFill>
                  <a:srgbClr val="070707"/>
                </a:solidFill>
              </a:rPr>
              <a:t>A recommendation to continue, adjust, or stop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4E775-7D63-4829-A8DE-291D9C02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8A02A-2FC2-4375-90EB-C35721B9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72708A-0CB0-4EC3-9370-9BDD1742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 WORK BEGINS, WE AGREE 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2F23F8-DE13-473C-B4B5-0548F017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13122-C398-41BC-93B5-6542AB04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Who owns the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2E7B9-AD84-4430-B0B0-982B7465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152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6D5851-0D0F-47A6-A2D8-619DE544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completion means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19F8BD-CAEF-49E4-82B2-5834E0A7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F384F4-3386-49A4-89E1-02312581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What is outside this pilot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A6F454-3CA8-4B29-A8AA-1DA59C62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6391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D281AF-DF6F-4280-922D-5AF298C5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How the result will be judged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7978A2-24BC-4265-9FA5-38DEA7B2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F6C5F-28CE-4A61-BCBF-07D12BCB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8872258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784A2C-EE57-417F-967C-0C8A2F7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Show what changed in the business,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070707"/>
                </a:solidFill>
              </a:defRPr>
            </a:pPr>
            <a:r>
              <a:rPr sz="2400" b="0">
                <a:solidFill>
                  <a:srgbClr val="070707"/>
                </a:solidFill>
              </a:rPr>
              <a:t>not only what the system looks like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4FD60-A06D-47E6-B675-C7529142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BA76E-ABC9-4EE2-8012-4AD533E1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32" b="1">
                <a:solidFill>
                  <a:srgbClr val="070707"/>
                </a:solidFill>
              </a:defRPr>
            </a:pPr>
            <a:r>
              <a:rPr sz="832" b="1">
                <a:solidFill>
                  <a:srgbClr val="070707"/>
                </a:solidFill>
              </a:rPr>
              <a:t>Case details are pending customer confirmation. No company name, logo, or performance figure will be used without permission and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5FABF-8ED0-443E-9FBC-58A21327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COMPANIES WE HAVE SERVED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C355-CD7C-4E5C-AB67-A86005A8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0B5D1-A571-4D48-9C80-78C8B3DD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A089D-F3B3-4E20-BC7C-97C737B7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97AEF-44BE-4A47-A0DE-EC6DFA60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601FE-59C3-4D61-8E46-300EA36B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7320C-DA0A-41DB-A752-E8C9B419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73293-5EE9-4A73-90C5-09C70ABE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071BF-9877-45C0-A445-F8A9F6B3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[Client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E349E-6D2C-487B-92BB-8CC2AFBF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70707"/>
                </a:solidFill>
              </a:defRPr>
            </a:pPr>
            <a:r>
              <a:rPr sz="825" b="1">
                <a:solidFill>
                  <a:srgbClr val="070707"/>
                </a:solidFill>
              </a:rPr>
              <a:t>One line under each logo: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E8169D-0A45-4368-A620-D8D7ED6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070707"/>
                </a:solidFill>
              </a:defRPr>
            </a:pPr>
            <a:r>
              <a:rPr sz="810" b="0">
                <a:solidFill>
                  <a:srgbClr val="070707"/>
                </a:solidFill>
              </a:rPr>
              <a:t>[Company or industry] | We helped the team [one-sentence description of the actual service].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7E28B-BBE4-4275-AACE-064D4D01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0" b="0">
                <a:solidFill>
                  <a:srgbClr val="656563"/>
                </a:solidFill>
              </a:defRPr>
            </a:pPr>
            <a:r>
              <a:rPr sz="810" b="0">
                <a:solidFill>
                  <a:srgbClr val="656563"/>
                </a:solidFill>
              </a:rPr>
              <a:t>Include a logo only when the service was actually delivered, the client has approved public use of its name and logo, and the work can be verified. A sales conversation, proposal, or public vendor case study is not a client engagement.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53105-0040-43AF-A035-2A8F007D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1 | [Factory type / business function]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BB987-EA99-438F-8A78-8E262F7B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Before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73BDB-4B47-4C1A-8333-F0FA784B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[Role] used [chat / spreadsheets / PDFs / ERP / email] to complete [specific task]. It happened [frequency], required [people or time], and often caused [specific issue].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FB366-0999-471F-906A-833A4389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found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6B2C2-BD39-40C5-A46B-78141564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The initial request was [customer’s original request]. After observing the workflow, the problem affecting the business was [confirmed problem].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963C9-B007-499A-A1C8-B5CD61A4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we delivered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7E032-AAF3-43B1-BBF8-588BF0B2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070707"/>
                </a:solidFill>
              </a:defRPr>
            </a:pPr>
            <a:r>
              <a:rPr sz="825" b="0">
                <a:solidFill>
                  <a:srgbClr val="070707"/>
                </a:solidFill>
              </a:rPr>
              <a:t>[Skill / custom SaaS / automation / database / agent workflow], connected to [existing systems or data].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8AFAD8-8022-4CC7-BD4F-CE30E02C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What changed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A07331-7567-4FF1-A466-AE3B98C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28662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41565-D516-4CB9-AC36-61AE0CB3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Processing time: [before] → [after]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C05985-261B-4B44-AD8A-3EE42C68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65810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36A48-11C6-468F-B35C-F08695F9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Manual steps: [before] → [after]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727AD-6AF4-4128-83B8-97C4BB9D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029575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61DFEB-BC9A-4965-895C-DD7BF8A4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Errors or rework: [before] → [after]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6404CE-9495-4239-9390-55FBCCA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401050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53371-7BC8-4E13-A3D3-33E79E2E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Business result: [customer-confirmed result]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88A77-C536-45D5-86DB-D41982AC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077B3A-65FE-4470-A5FC-D91F8696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CASE STUDY 2 | [Factory type / business function]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E4BFB6-70A6-4D3A-817E-95719BF1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18" b="0">
                <a:solidFill>
                  <a:srgbClr val="070707"/>
                </a:solidFill>
              </a:defRPr>
            </a:pPr>
            <a:r>
              <a:rPr sz="818" b="0">
                <a:solidFill>
                  <a:srgbClr val="070707"/>
                </a:solidFill>
              </a:rPr>
              <a:t>Use the same structure. A useful set would include one small tool, one end-to-end workflow, and one database or company-wide transformation.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4CC22-BBE7-4C5E-B802-E885356C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F4F7F-19E4-44F2-8095-AA66BCA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7731509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8C1B1F-3C23-4B6A-B4ED-7877BEB7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A working agent still needs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someone who knows how to lead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AC3B93-F5C3-439F-8F72-57B9731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FDE delivery builds the company’s AI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28" b="0">
                <a:solidFill>
                  <a:srgbClr val="070707"/>
                </a:solidFill>
              </a:defRPr>
            </a:pPr>
            <a:r>
              <a:rPr sz="1028" b="0">
                <a:solidFill>
                  <a:srgbClr val="070707"/>
                </a:solidFill>
              </a:rPr>
              <a:t>After launch, managers and employees need to know how to: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4EB3-884D-43DC-ABBE-BC3FB6F8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0707"/>
                </a:solidFill>
              </a:defRPr>
            </a:pPr>
            <a:r>
              <a:rPr sz="1238" b="1">
                <a:solidFill>
                  <a:srgbClr val="070707"/>
                </a:solidFill>
              </a:rPr>
              <a:t>We call this training Agent Boss.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43942-B6F4-4E68-85F3-1DA9ED8B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It is not a prompt-writing class or a tour of AI tools. It teaches people how to lead work carried out by both humans and agents.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F1CB9-BC56-4DBB-A2A8-EF57F7A1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E3363-3911-4A43-9C97-A4A7CD7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Give agents clear goals and completion criteria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EE6BC-2AA7-40FA-B1EB-2B52BE5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F9B22-832F-4E88-B300-DF154B66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194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E1C9-36B7-4FEB-BDCB-E64DCA6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Decide which work can be delegated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1D651-F152-4F1A-AB0B-BD16A2FD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CBDD7A-F856-47FD-B724-0015F51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F648-8DD2-4EB6-B7D8-330A21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Review the process and 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13FE5-7A2A-447B-89F6-9EA1CB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42396-B7E4-4B6C-876D-75B8A0D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96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2F5153-C8FD-4811-91A9-A4881578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Handle exceptions, request changes, or stop a task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1AE992-548D-428A-A9E2-0CFDCF0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16C22-2CC6-4DDD-ABB4-944E79BE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197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9DC8D-3D34-4F09-93BD-B4C96D4E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Manage data, tools, and permissions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BE5F67-03B5-4C2B-9FA4-78E6BA27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6598F-6C0A-4FA3-B5C3-6B501AF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198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DD25E-356D-4473-A558-CD6604A5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Turn good practices into shared Skills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EAEC-3A58-4C97-846E-4EA34F34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8E4060-D5EF-4220-9C76-85144FC4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219950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98FB9-130F-4091-9972-B0919001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070707"/>
                </a:solidFill>
              </a:defRPr>
            </a:pPr>
            <a:r>
              <a:rPr sz="885" b="0">
                <a:solidFill>
                  <a:srgbClr val="070707"/>
                </a:solidFill>
              </a:rPr>
              <a:t>Remain accountable for the business 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B547FD-898E-4D94-B864-0A5A27FF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73AF11-C5FA-46D2-B959-11DEFE00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FDE: build and launch 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10632D-8A36-4E42-AD5E-E37B5C15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070707"/>
                </a:solidFill>
              </a:defRPr>
            </a:pPr>
            <a:r>
              <a:rPr sz="863" b="1">
                <a:solidFill>
                  <a:srgbClr val="070707"/>
                </a:solidFill>
              </a:rPr>
              <a:t>Agent Boss: help the team take ownership and keep improving 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1C5F4-ACB7-44D4-8343-0743CF34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909BF3-1A28-41AC-839E-A5932EBC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3385364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8E94CE-2573-4A28-9B66-4FB6DAC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70707"/>
                </a:solidFill>
              </a:defRPr>
            </a:pPr>
            <a:r>
              <a:rPr sz="3150" b="0">
                <a:solidFill>
                  <a:srgbClr val="070707"/>
                </a:solidFill>
              </a:rPr>
              <a:t>Find the right first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1D633-506D-4719-8CF0-DCE4BA6E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070707"/>
                </a:solidFill>
              </a:defRPr>
            </a:pPr>
            <a:r>
              <a:rPr sz="1050" b="0">
                <a:solidFill>
                  <a:srgbClr val="070707"/>
                </a:solidFill>
              </a:rPr>
              <a:t>During the event, we are offering a complimentary enterprise AI assessment.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1401B-B41C-4E8B-9AED-C4C23172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YOU WILL RECEIVE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08160-B8E2-4F72-8135-9E796738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WE MAY ALSO TELL YOU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C7AC5-0B61-4CA6-9DFF-600E328C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C7E81-7E21-4DA7-B29D-D9451F08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One to three areas worth examining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F3473-A451-4B0D-8681-28F3FFDA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2874-ED1D-4355-A702-EA83C704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814DB-997B-435C-AFBE-D4296B6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initial judgment on whether AI fits the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3BEC2-878D-47B9-BF0D-7ABEFB52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3A26B-8EA5-4C4A-B7B3-9354E86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782C01-7B3C-40B9-8A9B-9EE731BC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data, systems, and people required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194C9-33B7-4752-AE31-33EB4FD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BC9CC-C555-4CD5-9E41-5DD6148E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2AE48-9369-4D46-8A86-8CCB566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 recommendation: buy software, build a Skill, create custom SaaS, organize data, or redesign the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F465F-2C53-4B42-8612-D7C1B74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D1B0F-9110-4A9C-B54A-58A0FE02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247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E62E19-9C71-4B73-B195-C72502A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honest view on whether a pilot is worthwhile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701CD-8B33-4CE4-AA60-D5BD59DA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289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C77AF-4559-42C4-8019-9605E6E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problem does not need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FE6D0-60ED-4F2A-A45C-3155F5A2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204D1-1EEE-4736-8936-BDED2C5E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F9EBF5-70DE-4BAF-B579-C2BE0008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The data is not ready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6FA3F-D9F8-4560-B051-E3FFD6B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CF7D8D-31AC-441F-87AF-AC8A296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7687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D41C5A-5B1D-4D3A-B5C9-2C6C0A00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Fix the workflow before building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EAD0A8-EBC5-4C75-9F8F-754BCA8A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EA95FE-B641-4E28-9025-85EC9FE7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600825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843255-4279-45FA-AB2F-1FEB9B12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93" b="0">
                <a:solidFill>
                  <a:srgbClr val="070707"/>
                </a:solidFill>
              </a:defRPr>
            </a:pPr>
            <a:r>
              <a:rPr sz="893" b="0">
                <a:solidFill>
                  <a:srgbClr val="070707"/>
                </a:solidFill>
              </a:rPr>
              <a:t>An existing product is better value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3AAD80-5461-4F4E-B735-7372E4E0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9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152198-9B44-402F-ADCA-33FC6E7D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70" b="1">
                <a:solidFill>
                  <a:srgbClr val="070707"/>
                </a:solidFill>
              </a:defRPr>
            </a:pPr>
            <a:r>
              <a:rPr sz="870" b="1">
                <a:solidFill>
                  <a:srgbClr val="070707"/>
                </a:solidFill>
              </a:rPr>
              <a:t>The assessment does not include a complete plan and does not require access to unauthorized sensitive data.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AF893-4228-4F06-8238-4570E5F4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E2B77E-45DC-45AE-A607-4A057078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4234553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D9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9CB9-E294-4266-87B6-0A66FC68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Which part of your business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should AI improve first?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762F2-91BA-4073-ABF8-5A33571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10 companies per day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75CFF"/>
                </a:solidFill>
              </a:defRPr>
            </a:pPr>
            <a:r>
              <a:rPr sz="1350" b="1">
                <a:solidFill>
                  <a:srgbClr val="075CFF"/>
                </a:solidFill>
              </a:rPr>
              <a:t>20 over the two-day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E97E6-5C5C-4446-ABFC-0DF18B76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9582B-9AB9-4EEF-B65E-47EB222C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6563"/>
                </a:solidFill>
              </a:defRPr>
            </a:pPr>
            <a:r>
              <a:rPr sz="825" b="0">
                <a:solidFill>
                  <a:srgbClr val="656563"/>
                </a:solidFill>
              </a:rPr>
              <a:t>QR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38F76-D83E-4AD0-8DCB-B08645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SCAN AND TELL US: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2BD2F-2676-47BD-8380-839E4131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5C943-5E38-45F1-9650-704C7DE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company and industry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35E45-6EAA-40C5-8941-418B6C1D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B3B63-C51B-40B2-98B2-6CA9889A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5A5C89-8F76-4AE1-A0BE-35500571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The one area you most want to improve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36D70-4659-4EC6-B406-943B011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CFF60-8DC4-4B11-9364-40D297D7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AC7B2-CBD2-4758-864B-7BF56404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How the work is done today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63D2-7833-44EF-9988-26C16409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E1A02-3A2F-4543-B756-D459F6A1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4B519-0CB2-426F-8B9B-01ED11CA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Who owns that part of the business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56AF9-7456-481C-898F-F7250F1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B5A47F-A535-4499-A638-DEA48220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67D2-E51B-4227-B294-473F2CEB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Your contact details and preferred 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AA8C86-F28A-4B24-A66E-9948E0D6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SCAN TO RESERVE · AVAILABLE UNTIL FULL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B55993-3392-462F-A5FB-3E6B3A4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[Brand name]</a:t>
            </a:r>
          </a:p>
          <a:p xmlns:a="http://schemas.openxmlformats.org/drawingml/2006/main">
            <a:pPr algn="r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[Name / phone / WeChat / website]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87D01-2D15-42D3-A914-768AD6EA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6AF9F-AB1B-4850-9534-809B336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0" b="1">
                <a:solidFill>
                  <a:srgbClr val="070707"/>
                </a:solidFill>
              </a:defRPr>
            </a:pPr>
            <a:r>
              <a:rPr sz="990" b="1">
                <a:solidFill>
                  <a:srgbClr val="070707"/>
                </a:solidFill>
              </a:rPr>
              <a:t>Start with one problem you can understand, complete, and measure.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EA5B1-1E51-489E-811C-06F130D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999C20-149E-4827-96ED-44D95D00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enterprise AI upgrade</a:t>
            </a:r>
          </a:p>
        </p:txBody>
      </p:sp>
    </p:spTree>
    <p:extLst>
      <p:ext uri="{BB962C8B-B14F-4D97-AF65-F5344CB8AC3E}">
        <p14:creationId xmlns:p14="http://schemas.microsoft.com/office/powerpoint/2010/main" val="1699150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2026-08-24T07:45:17.1790000Z</dcterms:created>
  <dcterms:modified xsi:type="dcterms:W3CDTF">2026-08-24T07:45:17.1790000Z</dcterms:modified>
</coreProperties>
</file>