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0b114fa2f24241" /><Relationship Type="http://schemas.openxmlformats.org/officeDocument/2006/relationships/extended-properties" Target="/docProps/app.xml" Id="Rdb6833ea48bf44c2" /><Relationship Type="http://schemas.openxmlformats.org/officeDocument/2006/relationships/officeDocument" Target="/ppt/presentation.xml" Id="Rf9eaf3cfa3794b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9654aeea2a444d"/>
  </p:sldMasterIdLst>
  <p:notesMasterIdLst>
    <p:notesMasterId xmlns:r="http://schemas.openxmlformats.org/officeDocument/2006/relationships" r:id="R0802de2c1a18450b"/>
  </p:notesMasterIdLst>
  <p:sldIdLst>
    <p:sldId xmlns:r="http://schemas.openxmlformats.org/officeDocument/2006/relationships" id="256" r:id="R1aa11ba287704121"/>
    <p:sldId xmlns:r="http://schemas.openxmlformats.org/officeDocument/2006/relationships" id="257" r:id="R6b0e38e5485c4a05"/>
    <p:sldId xmlns:r="http://schemas.openxmlformats.org/officeDocument/2006/relationships" id="258" r:id="R4ebcbc4794d94994"/>
  </p:sldIdLst>
  <p:sldSz cx="5829300" cy="7543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889977c9d3474e" /><Relationship Type="http://schemas.openxmlformats.org/officeDocument/2006/relationships/slideMaster" Target="/ppt/slideMasters/slideMaster1.xml" Id="Rc49654aeea2a444d" /><Relationship Type="http://schemas.openxmlformats.org/officeDocument/2006/relationships/notesMaster" Target="/ppt/notesMasters/notesMaster1.xml" Id="R0802de2c1a18450b" /><Relationship Type="http://schemas.openxmlformats.org/officeDocument/2006/relationships/presProps" Target="/ppt/presProps.xml" Id="Rc2c2cd1c59d2442d" /><Relationship Type="http://schemas.openxmlformats.org/officeDocument/2006/relationships/tableStyles" Target="/ppt/tableStyles.xml" Id="R3861b557ec244bc8" /><Relationship Type="http://schemas.openxmlformats.org/officeDocument/2006/relationships/slide" Target="/ppt/slides/slide1.xml" Id="R1aa11ba287704121" /><Relationship Type="http://schemas.openxmlformats.org/officeDocument/2006/relationships/slide" Target="/ppt/slides/slide2.xml" Id="R6b0e38e5485c4a05" /><Relationship Type="http://schemas.openxmlformats.org/officeDocument/2006/relationships/slide" Target="/ppt/slides/slide3.xml" Id="R4ebcbc4794d949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3fc3b1bbdb47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c0b30e7ef74d97" /><Relationship Type="http://schemas.openxmlformats.org/officeDocument/2006/relationships/notesMaster" Target="/ppt/notesMasters/notesMaster1.xml" Id="R5f35889c7c7a49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abbce6142c430b" /><Relationship Type="http://schemas.openxmlformats.org/officeDocument/2006/relationships/notesMaster" Target="/ppt/notesMasters/notesMaster1.xml" Id="R3374f15a5dc14e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e5dc46d6d44f16" /><Relationship Type="http://schemas.openxmlformats.org/officeDocument/2006/relationships/notesMaster" Target="/ppt/notesMasters/notesMaster1.xml" Id="Rf6bb9da966b545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1b9e0d30b4e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dcb1a923ec4885" /><Relationship Type="http://schemas.openxmlformats.org/officeDocument/2006/relationships/slideLayout" Target="/ppt/slideLayouts/slideLayout1.xml" Id="Rc7f3f0a3d6794b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f3f0a3d6794b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3d378ed3f4f2e" /><Relationship Type="http://schemas.openxmlformats.org/officeDocument/2006/relationships/image" Target="/ppt/media/image.png" Id="Rb865efa8be604396" /><Relationship Type="http://schemas.openxmlformats.org/officeDocument/2006/relationships/notesSlide" Target="/ppt/notesSlides/notesSlide1.xml" Id="R369164924b974b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6cb32f4e84b9c" /><Relationship Type="http://schemas.openxmlformats.org/officeDocument/2006/relationships/notesSlide" Target="/ppt/notesSlides/notesSlide2.xml" Id="Rab4d66c8cd3d4e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0f42bd6bf4d2b" /><Relationship Type="http://schemas.openxmlformats.org/officeDocument/2006/relationships/notesSlide" Target="/ppt/notesSlides/notesSlide3.xml" Id="R89d11829337e4d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6050B-40BF-4EE0-BB33-5206A82D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33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0808"/>
                </a:solidFill>
              </a:defRPr>
            </a:pPr>
            <a:r>
              <a:rPr sz="1350" b="1">
                <a:solidFill>
                  <a:srgbClr val="080808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16955-4C31-45D9-9900-9E4C1B37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23975"/>
            <a:ext cx="51816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080808"/>
                </a:solidFill>
              </a:defRPr>
            </a:pPr>
            <a:r>
              <a:rPr sz="3750" b="0">
                <a:solidFill>
                  <a:srgbClr val="080808"/>
                </a:solidFill>
              </a:rPr>
              <a:t>企业想做 AI 升级，</a:t>
            </a:r>
          </a:p>
          <a:p xmlns:a="http://schemas.openxmlformats.org/drawingml/2006/main">
            <a:pPr algn="l">
              <a:defRPr sz="3750" b="0">
                <a:solidFill>
                  <a:srgbClr val="080808"/>
                </a:solidFill>
              </a:defRPr>
            </a:pPr>
            <a:r>
              <a:rPr sz="3750" b="0">
                <a:solidFill>
                  <a:srgbClr val="080808"/>
                </a:solidFill>
              </a:rPr>
              <a:t>第一步从哪里</a:t>
            </a:r>
          </a:p>
          <a:p xmlns:a="http://schemas.openxmlformats.org/drawingml/2006/main">
            <a:pPr algn="l">
              <a:defRPr sz="3750" b="0">
                <a:solidFill>
                  <a:srgbClr val="080808"/>
                </a:solidFill>
              </a:defRPr>
            </a:pPr>
            <a:r>
              <a:rPr sz="3750" b="0">
                <a:solidFill>
                  <a:srgbClr val="080808"/>
                </a:solidFill>
              </a:rPr>
              <a:t>开始？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5efa8be604396"/>
          <a:srcRect xmlns:a="http://schemas.openxmlformats.org/drawingml/2006/main" l="0" t="1471" r="0" b="1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3714750"/>
            <a:ext cx="5181600" cy="3352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028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4B9E8A-C269-4867-862E-A4C4A319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71475"/>
            <a:ext cx="51816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80808"/>
                </a:solidFill>
              </a:defRPr>
            </a:pPr>
            <a:r>
              <a:rPr sz="3150" b="0">
                <a:solidFill>
                  <a:srgbClr val="080808"/>
                </a:solidFill>
              </a:rPr>
              <a:t>AI 已经可以</a:t>
            </a:r>
          </a:p>
          <a:p xmlns:a="http://schemas.openxmlformats.org/drawingml/2006/main">
            <a:pPr algn="l">
              <a:defRPr sz="3150" b="0">
                <a:solidFill>
                  <a:srgbClr val="080808"/>
                </a:solidFill>
              </a:defRPr>
            </a:pPr>
            <a:r>
              <a:rPr sz="3150" b="0">
                <a:solidFill>
                  <a:srgbClr val="080808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0F2F4-B54F-4BEC-982A-5F26C1D9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3525"/>
            <a:ext cx="5181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0808"/>
                </a:solidFill>
              </a:defRPr>
            </a:pPr>
            <a:r>
              <a:rPr sz="788" b="1">
                <a:solidFill>
                  <a:srgbClr val="080808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91B01-A65D-4720-A0B6-B6CE62F4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847850"/>
            <a:ext cx="518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80808"/>
                </a:solidFill>
              </a:defRPr>
            </a:pPr>
            <a:r>
              <a:rPr sz="788" b="0">
                <a:solidFill>
                  <a:srgbClr val="080808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F6649-98BD-4ECB-811A-E63FDE5C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43175"/>
            <a:ext cx="5181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F0CB3-5493-4784-A0A0-8B0F9A90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491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0808"/>
                </a:solidFill>
              </a:defRPr>
            </a:pPr>
            <a:r>
              <a:rPr sz="788" b="1">
                <a:solidFill>
                  <a:srgbClr val="080808"/>
                </a:solidFill>
              </a:rPr>
              <a:t>公司的运作效率，会随着 AI Native 程度拉开差距。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202C7-EEB4-4BD6-BB5F-C2D12A74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3528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80808"/>
                </a:solidFill>
              </a:defRPr>
            </a:pPr>
            <a:r>
              <a:rPr sz="675" b="0">
                <a:solidFill>
                  <a:srgbClr val="08080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66B7E-0863-4082-A7FD-84399DDA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80808"/>
                </a:solidFill>
              </a:defRPr>
            </a:pPr>
            <a:r>
              <a:rPr sz="863" b="1">
                <a:solidFill>
                  <a:srgbClr val="080808"/>
                </a:solidFill>
              </a:rPr>
              <a:t>重复工作交给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15925-9C21-49C7-87F2-E9800916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5E61"/>
                </a:solidFill>
              </a:defRPr>
            </a:pPr>
            <a:r>
              <a:rPr sz="713" b="0">
                <a:solidFill>
                  <a:srgbClr val="5D5E61"/>
                </a:solidFill>
              </a:rPr>
              <a:t>Microsoft：员工将开始构建、分配和管理 Agent。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B4D33-2866-4A38-B57C-309EAB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A49CE-0C48-4741-A5D7-6FF3C3C3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576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80808"/>
                </a:solidFill>
              </a:defRPr>
            </a:pPr>
            <a:r>
              <a:rPr sz="675" b="0">
                <a:solidFill>
                  <a:srgbClr val="08080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F0BCF-4EBB-46F5-8FDB-B8918CBD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80808"/>
                </a:solidFill>
              </a:defRPr>
            </a:pPr>
            <a:r>
              <a:rPr sz="863" b="1">
                <a:solidFill>
                  <a:srgbClr val="080808"/>
                </a:solidFill>
              </a:rPr>
              <a:t>人负责目标、判断和审核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1B161-F7E6-45A6-86C5-D07707E7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3860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5E61"/>
                </a:solidFill>
              </a:defRPr>
            </a:pPr>
            <a:r>
              <a:rPr sz="713" b="0">
                <a:solidFill>
                  <a:srgbClr val="5D5E61"/>
                </a:solidFill>
              </a:rPr>
              <a:t>OpenAI：Agent 能代表用户完成工作流。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FC303-18EA-4739-AE88-E7732040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4A161-E117-453C-A34D-3DC60D55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625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80808"/>
                </a:solidFill>
              </a:defRPr>
            </a:pPr>
            <a:r>
              <a:rPr sz="675" b="0">
                <a:solidFill>
                  <a:srgbClr val="08080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E8F2A-5E43-4E1A-96AF-17652C61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80808"/>
                </a:solidFill>
              </a:defRPr>
            </a:pPr>
            <a:r>
              <a:rPr sz="863" b="1">
                <a:solidFill>
                  <a:srgbClr val="080808"/>
                </a:solidFill>
              </a:rPr>
              <a:t>一个负责人可以带多个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8565A-51C6-4417-A6CE-06030070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5E61"/>
                </a:solidFill>
              </a:defRPr>
            </a:pPr>
            <a:r>
              <a:rPr sz="713" b="0">
                <a:solidFill>
                  <a:srgbClr val="5D5E61"/>
                </a:solidFill>
              </a:rPr>
              <a:t>Google：企业 Agent 要连接数据、工具、记忆和运行环境。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7612A-DB63-4D7F-8DC0-2FD29F9E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6ECD4-FDDC-4541-9381-8BE5F074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67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80808"/>
                </a:solidFill>
              </a:defRPr>
            </a:pPr>
            <a:r>
              <a:rPr sz="675" b="0">
                <a:solidFill>
                  <a:srgbClr val="080808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11576-A123-4CDC-A0FE-47FCAC7B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80808"/>
                </a:solidFill>
              </a:defRPr>
            </a:pPr>
            <a:r>
              <a:rPr sz="863" b="1">
                <a:solidFill>
                  <a:srgbClr val="080808"/>
                </a:solidFill>
              </a:rPr>
              <a:t>公司积累能反复使用的流程和 Skill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6ED56-F2D6-4118-920E-437A6912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4830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5E61"/>
                </a:solidFill>
              </a:defRPr>
            </a:pPr>
            <a:r>
              <a:rPr sz="713" b="0">
                <a:solidFill>
                  <a:srgbClr val="5D5E61"/>
                </a:solidFill>
              </a:rPr>
              <a:t>Anthropic：人更多决定做什么，Agent 更多负责怎么做。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943DF-BBAC-4B8C-8801-D28FECE1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80808"/>
                </a:solidFill>
              </a:defRPr>
            </a:pPr>
            <a:r>
              <a:rPr sz="563" b="0">
                <a:solidFill>
                  <a:srgbClr val="080808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6D7C1-6652-4337-8795-B7306E65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2390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80808"/>
                </a:solidFill>
              </a:defRPr>
            </a:pPr>
            <a:r>
              <a:rPr sz="563" b="0">
                <a:solidFill>
                  <a:srgbClr val="080808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598798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47E997-A7E4-412D-BFD0-ECC41EC6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518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0808"/>
                </a:solidFill>
              </a:defRPr>
            </a:pPr>
            <a:r>
              <a:rPr sz="1500" b="0">
                <a:solidFill>
                  <a:srgbClr val="080808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51778-19D0-43F5-8109-C1EABBC5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19175"/>
            <a:ext cx="518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80808"/>
                </a:solidFill>
              </a:defRPr>
            </a:pPr>
            <a:r>
              <a:rPr sz="750" b="0">
                <a:solidFill>
                  <a:srgbClr val="080808"/>
                </a:solidFill>
              </a:rPr>
              <a:t>企业 AI 已经从演示进入真实业务。下面的数据来自 Microsoft、OpenAI 及厂商公开客户资料。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7C68D-99FB-4C06-8AF9-5C36EEB1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52600"/>
            <a:ext cx="314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80808"/>
                </a:solidFill>
              </a:defRPr>
            </a:pPr>
            <a:r>
              <a:rPr sz="638" b="0">
                <a:solidFill>
                  <a:srgbClr val="080808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E5CF5-32FC-4137-9C59-B1D48FE6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7240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80808"/>
                </a:solidFill>
              </a:defRPr>
            </a:pPr>
            <a:r>
              <a:rPr sz="2025" b="0">
                <a:solidFill>
                  <a:srgbClr val="080808"/>
                </a:solidFill>
              </a:rPr>
              <a:t>81%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CF078-06C3-4D4E-A579-74D48EE7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7335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0808"/>
                </a:solidFill>
              </a:defRPr>
            </a:pPr>
            <a:r>
              <a:rPr sz="788" b="1">
                <a:solidFill>
                  <a:srgbClr val="080808"/>
                </a:solidFill>
              </a:rPr>
              <a:t>的受访领导者预计，未来 12—18 个月 Agent 会进入公司的 AI 战略。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B4EB3-82F0-45C2-A0A7-01124969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743075"/>
            <a:ext cx="1038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D5E61"/>
                </a:solidFill>
              </a:defRPr>
            </a:pPr>
            <a:r>
              <a:rPr sz="563" b="0">
                <a:solidFill>
                  <a:srgbClr val="5D5E61"/>
                </a:solidFill>
              </a:rPr>
              <a:t>Microsoft · 31 个国家 / 31,000 名员工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6EFB5-976C-4CE9-B9F9-CF1369AC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4657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C44DB-E301-4016-A114-915E42B0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28900"/>
            <a:ext cx="314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80808"/>
                </a:solidFill>
              </a:defRPr>
            </a:pPr>
            <a:r>
              <a:rPr sz="638" b="0">
                <a:solidFill>
                  <a:srgbClr val="08080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1FC00-3162-4F20-9FF4-16CA0E97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003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80808"/>
                </a:solidFill>
              </a:defRPr>
            </a:pPr>
            <a:r>
              <a:rPr sz="2025" b="0">
                <a:solidFill>
                  <a:srgbClr val="080808"/>
                </a:solidFill>
              </a:rPr>
              <a:t>100万+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A1429-F1C6-4E5A-93A2-B835DCAA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6098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0808"/>
                </a:solidFill>
              </a:defRPr>
            </a:pPr>
            <a:r>
              <a:rPr sz="788" b="1">
                <a:solidFill>
                  <a:srgbClr val="080808"/>
                </a:solidFill>
              </a:rPr>
              <a:t>家企业客户在使用 OpenAI 产品。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41629-5366-4D88-80B2-2B9DA52C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19375"/>
            <a:ext cx="1038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D5E61"/>
                </a:solidFill>
              </a:defRPr>
            </a:pPr>
            <a:r>
              <a:rPr sz="563" b="0">
                <a:solidFill>
                  <a:srgbClr val="5D5E61"/>
                </a:solidFill>
              </a:rPr>
              <a:t>OpenAI ·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86991-58ED-4CFC-ABAD-7D8A65F2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81350"/>
            <a:ext cx="4657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416FD-AE62-4C0D-A1A7-AF0AFD4B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505200"/>
            <a:ext cx="314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80808"/>
                </a:solidFill>
              </a:defRPr>
            </a:pPr>
            <a:r>
              <a:rPr sz="638" b="0">
                <a:solidFill>
                  <a:srgbClr val="08080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DF78F-B8B1-442F-A48D-A2B77DAC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766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80808"/>
                </a:solidFill>
              </a:defRPr>
            </a:pPr>
            <a:r>
              <a:rPr sz="2025" b="0">
                <a:solidFill>
                  <a:srgbClr val="080808"/>
                </a:solidFill>
              </a:rPr>
              <a:t>108×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0AD10-592B-4A5F-A182-4B455C4B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4861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0808"/>
                </a:solidFill>
              </a:defRPr>
            </a:pPr>
            <a:r>
              <a:rPr sz="788" b="1">
                <a:solidFill>
                  <a:srgbClr val="080808"/>
                </a:solidFill>
              </a:rPr>
              <a:t>自 2 月以来，Codex 在法务部门的周活跃用户增长。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82FE8-6D66-437A-84E9-2DD742A5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95675"/>
            <a:ext cx="1038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D5E61"/>
                </a:solidFill>
              </a:defRPr>
            </a:pPr>
            <a:r>
              <a:rPr sz="563" b="0">
                <a:solidFill>
                  <a:srgbClr val="5D5E61"/>
                </a:solidFill>
              </a:rPr>
              <a:t>销售 41× · 招聘 41× · 市场 26×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8750C-6454-4394-A4A4-D59DE8FF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57650"/>
            <a:ext cx="4657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503AD-A7BE-47CC-AC06-8DE73A5D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43425"/>
            <a:ext cx="518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80808"/>
                </a:solidFill>
              </a:defRPr>
            </a:pPr>
            <a:r>
              <a:rPr sz="863" b="1">
                <a:solidFill>
                  <a:srgbClr val="080808"/>
                </a:solidFill>
              </a:rPr>
              <a:t>已经进入生产的公开案例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E6FD0-647E-4951-A33A-2E2155B6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8157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80808"/>
                </a:solidFill>
              </a:defRPr>
            </a:pPr>
            <a:r>
              <a:rPr sz="600" b="0">
                <a:solidFill>
                  <a:srgbClr val="080808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8AB7FD-9636-4A91-8EB5-8F8AD49B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72050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80808"/>
                </a:solidFill>
              </a:defRPr>
            </a:pPr>
            <a:r>
              <a:rPr sz="713" b="1">
                <a:solidFill>
                  <a:srgbClr val="080808"/>
                </a:solidFill>
              </a:rPr>
              <a:t>Cisco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81D742-17BF-4CFC-8027-AEED6666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7205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80808"/>
                </a:solidFill>
              </a:defRPr>
            </a:pPr>
            <a:r>
              <a:rPr sz="690" b="0">
                <a:solidFill>
                  <a:srgbClr val="080808"/>
                </a:solidFill>
              </a:rPr>
              <a:t>代码评审时间缩短 50%；部分项目从数周缩短到数天。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7392F1-F27D-493A-A19B-8B308F03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305425"/>
            <a:ext cx="4657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C1F699-2815-4C45-8CAD-0C5705D9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483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80808"/>
                </a:solidFill>
              </a:defRPr>
            </a:pPr>
            <a:r>
              <a:rPr sz="600" b="0">
                <a:solidFill>
                  <a:srgbClr val="080808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3D948E-CEE1-4553-8B6F-B52CB0AA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438775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80808"/>
                </a:solidFill>
              </a:defRPr>
            </a:pPr>
            <a:r>
              <a:rPr sz="713" b="1">
                <a:solidFill>
                  <a:srgbClr val="080808"/>
                </a:solidFill>
              </a:rPr>
              <a:t>Carlyle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8E53A7-A772-404A-ABCB-D4882A0D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38775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80808"/>
                </a:solidFill>
              </a:defRPr>
            </a:pPr>
            <a:r>
              <a:rPr sz="690" b="0">
                <a:solidFill>
                  <a:srgbClr val="080808"/>
                </a:solidFill>
              </a:rPr>
              <a:t>多 Agent 尽调系统开发时间减少超过 50%，准确率提高 30%。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9DE7B5-D8D1-4AD6-B265-1EAB5893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772150"/>
            <a:ext cx="4657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0C9956-FE5B-4DEB-AAEC-60075B2A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9150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80808"/>
                </a:solidFill>
              </a:defRPr>
            </a:pPr>
            <a:r>
              <a:rPr sz="600" b="0">
                <a:solidFill>
                  <a:srgbClr val="080808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642EC9-F19C-4563-8E96-871F7162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905500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80808"/>
                </a:solidFill>
              </a:defRPr>
            </a:pPr>
            <a:r>
              <a:rPr sz="713" b="1">
                <a:solidFill>
                  <a:srgbClr val="080808"/>
                </a:solidFill>
              </a:rPr>
              <a:t>TELUS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82874D-7EA8-4209-853E-E9A2E463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90550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80808"/>
                </a:solidFill>
              </a:defRPr>
            </a:pPr>
            <a:r>
              <a:rPr sz="690" b="0">
                <a:solidFill>
                  <a:srgbClr val="080808"/>
                </a:solidFill>
              </a:rPr>
              <a:t>每年节省 5,390 万美元；问题解决速度提高 87%。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E3E23C-3CB6-4C74-BD92-E51BD620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238875"/>
            <a:ext cx="4657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27508E-06FE-4AF2-A6D3-6496E293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3817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80808"/>
                </a:solidFill>
              </a:defRPr>
            </a:pPr>
            <a:r>
              <a:rPr sz="600" b="0">
                <a:solidFill>
                  <a:srgbClr val="080808"/>
                </a:solidFill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8E0FDC-EA27-4F0E-BE22-F2406332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72225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80808"/>
                </a:solidFill>
              </a:defRPr>
            </a:pPr>
            <a:r>
              <a:rPr sz="713" b="1">
                <a:solidFill>
                  <a:srgbClr val="080808"/>
                </a:solidFill>
              </a:rPr>
              <a:t>Lowe’s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0ABAE6-8810-480B-98FA-84CCAB11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72225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80808"/>
                </a:solidFill>
              </a:defRPr>
            </a:pPr>
            <a:r>
              <a:rPr sz="690" b="0">
                <a:solidFill>
                  <a:srgbClr val="080808"/>
                </a:solidFill>
              </a:rPr>
              <a:t>在 1,700 多家门店为员工提供 AI 项目指导工具。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1223CA-F9D7-4DAB-B7F9-B3A94DA1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080808"/>
                </a:solidFill>
              </a:defRPr>
            </a:pPr>
            <a:r>
              <a:rPr sz="563" b="0">
                <a:solidFill>
                  <a:srgbClr val="080808"/>
                </a:solidFill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FE0AA3-0E1F-4022-AEF5-1B955090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2390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80808"/>
                </a:solidFill>
              </a:defRPr>
            </a:pPr>
            <a:r>
              <a:rPr sz="563" b="0">
                <a:solidFill>
                  <a:srgbClr val="080808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13762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2026-08-24T05:37:06.6790000Z</dcterms:created>
  <dcterms:modified xsi:type="dcterms:W3CDTF">2026-08-24T05:37:06.6790000Z</dcterms:modified>
</coreProperties>
</file>