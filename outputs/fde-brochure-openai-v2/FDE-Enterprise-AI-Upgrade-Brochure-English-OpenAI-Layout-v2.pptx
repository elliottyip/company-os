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998b2adf7d4668" /><Relationship Type="http://schemas.openxmlformats.org/officeDocument/2006/relationships/extended-properties" Target="/docProps/app.xml" Id="R4ec321383dd54e8b" /><Relationship Type="http://schemas.openxmlformats.org/officeDocument/2006/relationships/officeDocument" Target="/ppt/presentation.xml" Id="R7fecba753c284a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6d19d3bca341db"/>
  </p:sldMasterIdLst>
  <p:notesMasterIdLst>
    <p:notesMasterId xmlns:r="http://schemas.openxmlformats.org/officeDocument/2006/relationships" r:id="Rda67f486bdc94d62"/>
  </p:notesMasterIdLst>
  <p:sldIdLst>
    <p:sldId xmlns:r="http://schemas.openxmlformats.org/officeDocument/2006/relationships" id="256" r:id="R45018f4f37fe41c5"/>
    <p:sldId xmlns:r="http://schemas.openxmlformats.org/officeDocument/2006/relationships" id="257" r:id="R14d22cda7be04fbe"/>
    <p:sldId xmlns:r="http://schemas.openxmlformats.org/officeDocument/2006/relationships" id="258" r:id="Rec2efc5b995b4e94"/>
    <p:sldId xmlns:r="http://schemas.openxmlformats.org/officeDocument/2006/relationships" id="259" r:id="Rc9ef09df4bac4aec"/>
    <p:sldId xmlns:r="http://schemas.openxmlformats.org/officeDocument/2006/relationships" id="260" r:id="Rd57bd74e58bf4ff5"/>
    <p:sldId xmlns:r="http://schemas.openxmlformats.org/officeDocument/2006/relationships" id="261" r:id="Rc73c75ba640d4871"/>
    <p:sldId xmlns:r="http://schemas.openxmlformats.org/officeDocument/2006/relationships" id="262" r:id="Re427c429bb044f29"/>
    <p:sldId xmlns:r="http://schemas.openxmlformats.org/officeDocument/2006/relationships" id="263" r:id="Re83d8614dd6541b6"/>
    <p:sldId xmlns:r="http://schemas.openxmlformats.org/officeDocument/2006/relationships" id="264" r:id="R12561a7b48fc4bd9"/>
    <p:sldId xmlns:r="http://schemas.openxmlformats.org/officeDocument/2006/relationships" id="265" r:id="R51754a41e162408b"/>
    <p:sldId xmlns:r="http://schemas.openxmlformats.org/officeDocument/2006/relationships" id="266" r:id="R907dc622ba9a40af"/>
    <p:sldId xmlns:r="http://schemas.openxmlformats.org/officeDocument/2006/relationships" id="267" r:id="R7eca23e8096543b1"/>
    <p:sldId xmlns:r="http://schemas.openxmlformats.org/officeDocument/2006/relationships" id="268" r:id="R827e8777a10e475b"/>
    <p:sldId xmlns:r="http://schemas.openxmlformats.org/officeDocument/2006/relationships" id="269" r:id="R850e7d2e6c784fd1"/>
    <p:sldId xmlns:r="http://schemas.openxmlformats.org/officeDocument/2006/relationships" id="270" r:id="Rdabdfc0323c84441"/>
    <p:sldId xmlns:r="http://schemas.openxmlformats.org/officeDocument/2006/relationships" id="271" r:id="Rb8ae9f4789bd4555"/>
    <p:sldId xmlns:r="http://schemas.openxmlformats.org/officeDocument/2006/relationships" id="272" r:id="R11f9976fb0e54e56"/>
    <p:sldId xmlns:r="http://schemas.openxmlformats.org/officeDocument/2006/relationships" id="273" r:id="R70ccbf078ef244ae"/>
    <p:sldId xmlns:r="http://schemas.openxmlformats.org/officeDocument/2006/relationships" id="274" r:id="Rc380085f79424cdc"/>
    <p:sldId xmlns:r="http://schemas.openxmlformats.org/officeDocument/2006/relationships" id="275" r:id="Rb828dff41f1c495a"/>
    <p:sldId xmlns:r="http://schemas.openxmlformats.org/officeDocument/2006/relationships" id="276" r:id="R7bf5308aec704965"/>
    <p:sldId xmlns:r="http://schemas.openxmlformats.org/officeDocument/2006/relationships" id="277" r:id="R88371017191e4042"/>
    <p:sldId xmlns:r="http://schemas.openxmlformats.org/officeDocument/2006/relationships" id="278" r:id="Rc031a6a9cae84218"/>
    <p:sldId xmlns:r="http://schemas.openxmlformats.org/officeDocument/2006/relationships" id="279" r:id="Rfc05b19461284bd6"/>
  </p:sldIdLst>
  <p:sldSz cx="5324475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eca5135a65484e" /><Relationship Type="http://schemas.openxmlformats.org/officeDocument/2006/relationships/slideMaster" Target="/ppt/slideMasters/slideMaster1.xml" Id="Rce6d19d3bca341db" /><Relationship Type="http://schemas.openxmlformats.org/officeDocument/2006/relationships/notesMaster" Target="/ppt/notesMasters/notesMaster1.xml" Id="Rda67f486bdc94d62" /><Relationship Type="http://schemas.openxmlformats.org/officeDocument/2006/relationships/presProps" Target="/ppt/presProps.xml" Id="R017d011ba66c4125" /><Relationship Type="http://schemas.openxmlformats.org/officeDocument/2006/relationships/tableStyles" Target="/ppt/tableStyles.xml" Id="R6acb350ee611472f" /><Relationship Type="http://schemas.openxmlformats.org/officeDocument/2006/relationships/slide" Target="/ppt/slides/slide1.xml" Id="R45018f4f37fe41c5" /><Relationship Type="http://schemas.openxmlformats.org/officeDocument/2006/relationships/slide" Target="/ppt/slides/slide2.xml" Id="R14d22cda7be04fbe" /><Relationship Type="http://schemas.openxmlformats.org/officeDocument/2006/relationships/slide" Target="/ppt/slides/slide3.xml" Id="Rec2efc5b995b4e94" /><Relationship Type="http://schemas.openxmlformats.org/officeDocument/2006/relationships/slide" Target="/ppt/slides/slide4.xml" Id="Rc9ef09df4bac4aec" /><Relationship Type="http://schemas.openxmlformats.org/officeDocument/2006/relationships/slide" Target="/ppt/slides/slide5.xml" Id="Rd57bd74e58bf4ff5" /><Relationship Type="http://schemas.openxmlformats.org/officeDocument/2006/relationships/slide" Target="/ppt/slides/slide6.xml" Id="Rc73c75ba640d4871" /><Relationship Type="http://schemas.openxmlformats.org/officeDocument/2006/relationships/slide" Target="/ppt/slides/slide7.xml" Id="Re427c429bb044f29" /><Relationship Type="http://schemas.openxmlformats.org/officeDocument/2006/relationships/slide" Target="/ppt/slides/slide8.xml" Id="Re83d8614dd6541b6" /><Relationship Type="http://schemas.openxmlformats.org/officeDocument/2006/relationships/slide" Target="/ppt/slides/slide9.xml" Id="R12561a7b48fc4bd9" /><Relationship Type="http://schemas.openxmlformats.org/officeDocument/2006/relationships/slide" Target="/ppt/slides/slide10.xml" Id="R51754a41e162408b" /><Relationship Type="http://schemas.openxmlformats.org/officeDocument/2006/relationships/slide" Target="/ppt/slides/slide11.xml" Id="R907dc622ba9a40af" /><Relationship Type="http://schemas.openxmlformats.org/officeDocument/2006/relationships/slide" Target="/ppt/slides/slide12.xml" Id="R7eca23e8096543b1" /><Relationship Type="http://schemas.openxmlformats.org/officeDocument/2006/relationships/slide" Target="/ppt/slides/slide13.xml" Id="R827e8777a10e475b" /><Relationship Type="http://schemas.openxmlformats.org/officeDocument/2006/relationships/slide" Target="/ppt/slides/slide14.xml" Id="R850e7d2e6c784fd1" /><Relationship Type="http://schemas.openxmlformats.org/officeDocument/2006/relationships/slide" Target="/ppt/slides/slide15.xml" Id="Rdabdfc0323c84441" /><Relationship Type="http://schemas.openxmlformats.org/officeDocument/2006/relationships/slide" Target="/ppt/slides/slide16.xml" Id="Rb8ae9f4789bd4555" /><Relationship Type="http://schemas.openxmlformats.org/officeDocument/2006/relationships/slide" Target="/ppt/slides/slide17.xml" Id="R11f9976fb0e54e56" /><Relationship Type="http://schemas.openxmlformats.org/officeDocument/2006/relationships/slide" Target="/ppt/slides/slide18.xml" Id="R70ccbf078ef244ae" /><Relationship Type="http://schemas.openxmlformats.org/officeDocument/2006/relationships/slide" Target="/ppt/slides/slide19.xml" Id="Rc380085f79424cdc" /><Relationship Type="http://schemas.openxmlformats.org/officeDocument/2006/relationships/slide" Target="/ppt/slides/slide20.xml" Id="Rb828dff41f1c495a" /><Relationship Type="http://schemas.openxmlformats.org/officeDocument/2006/relationships/slide" Target="/ppt/slides/slide21.xml" Id="R7bf5308aec704965" /><Relationship Type="http://schemas.openxmlformats.org/officeDocument/2006/relationships/slide" Target="/ppt/slides/slide22.xml" Id="R88371017191e4042" /><Relationship Type="http://schemas.openxmlformats.org/officeDocument/2006/relationships/slide" Target="/ppt/slides/slide23.xml" Id="Rc031a6a9cae84218" /><Relationship Type="http://schemas.openxmlformats.org/officeDocument/2006/relationships/slide" Target="/ppt/slides/slide24.xml" Id="Rfc05b19461284b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bbc2aa051946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af9b0f27f3430b" /><Relationship Type="http://schemas.openxmlformats.org/officeDocument/2006/relationships/notesMaster" Target="/ppt/notesMasters/notesMaster1.xml" Id="R37602db4cc104f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9358ff4fa14298" /><Relationship Type="http://schemas.openxmlformats.org/officeDocument/2006/relationships/notesMaster" Target="/ppt/notesMasters/notesMaster1.xml" Id="Rd095f84f9e794b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bf6927c07b4a5f" /><Relationship Type="http://schemas.openxmlformats.org/officeDocument/2006/relationships/notesMaster" Target="/ppt/notesMasters/notesMaster1.xml" Id="Rbe7ffbc5df704a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d101abf8604580" /><Relationship Type="http://schemas.openxmlformats.org/officeDocument/2006/relationships/notesMaster" Target="/ppt/notesMasters/notesMaster1.xml" Id="R7a3fc2fbc0e442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02c253f0d6487a" /><Relationship Type="http://schemas.openxmlformats.org/officeDocument/2006/relationships/notesMaster" Target="/ppt/notesMasters/notesMaster1.xml" Id="R5db0c54de93842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e3191df2394dcf" /><Relationship Type="http://schemas.openxmlformats.org/officeDocument/2006/relationships/notesMaster" Target="/ppt/notesMasters/notesMaster1.xml" Id="Re2ff209007744e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1bec5894c44f4c" /><Relationship Type="http://schemas.openxmlformats.org/officeDocument/2006/relationships/notesMaster" Target="/ppt/notesMasters/notesMaster1.xml" Id="Rcf67cb1765594c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264709871f4c37" /><Relationship Type="http://schemas.openxmlformats.org/officeDocument/2006/relationships/notesMaster" Target="/ppt/notesMasters/notesMaster1.xml" Id="R38098639c5c94a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4462094a1c4d66" /><Relationship Type="http://schemas.openxmlformats.org/officeDocument/2006/relationships/notesMaster" Target="/ppt/notesMasters/notesMaster1.xml" Id="Rb10bcda44fdf40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f93ada0ace4e14" /><Relationship Type="http://schemas.openxmlformats.org/officeDocument/2006/relationships/notesMaster" Target="/ppt/notesMasters/notesMaster1.xml" Id="Rbb9b785ba2a64b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6fee7b68534c53" /><Relationship Type="http://schemas.openxmlformats.org/officeDocument/2006/relationships/notesMaster" Target="/ppt/notesMasters/notesMaster1.xml" Id="R9f56ca4e945f49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2b2c9c23394446" /><Relationship Type="http://schemas.openxmlformats.org/officeDocument/2006/relationships/notesMaster" Target="/ppt/notesMasters/notesMaster1.xml" Id="R424e37a3277445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22a04472784bf4" /><Relationship Type="http://schemas.openxmlformats.org/officeDocument/2006/relationships/notesMaster" Target="/ppt/notesMasters/notesMaster1.xml" Id="R894906d24e474c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8b35e1260048e6" /><Relationship Type="http://schemas.openxmlformats.org/officeDocument/2006/relationships/notesMaster" Target="/ppt/notesMasters/notesMaster1.xml" Id="R02262f29b11a41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4d143e9cb34a78" /><Relationship Type="http://schemas.openxmlformats.org/officeDocument/2006/relationships/notesMaster" Target="/ppt/notesMasters/notesMaster1.xml" Id="R19009048b4f447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cf283b47b34843" /><Relationship Type="http://schemas.openxmlformats.org/officeDocument/2006/relationships/notesMaster" Target="/ppt/notesMasters/notesMaster1.xml" Id="R1b45d98d36854b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5bc80803994de8" /><Relationship Type="http://schemas.openxmlformats.org/officeDocument/2006/relationships/notesMaster" Target="/ppt/notesMasters/notesMaster1.xml" Id="R193025aa00f542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cc225feab24e21" /><Relationship Type="http://schemas.openxmlformats.org/officeDocument/2006/relationships/notesMaster" Target="/ppt/notesMasters/notesMaster1.xml" Id="R6e1bcc5b8ec44e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0740e29d39d41b3" /><Relationship Type="http://schemas.openxmlformats.org/officeDocument/2006/relationships/notesMaster" Target="/ppt/notesMasters/notesMaster1.xml" Id="R0874fd1669cb4f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c145fcc9d24c75" /><Relationship Type="http://schemas.openxmlformats.org/officeDocument/2006/relationships/notesMaster" Target="/ppt/notesMasters/notesMaster1.xml" Id="R3c997202ac86484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527b3060f84c75" /><Relationship Type="http://schemas.openxmlformats.org/officeDocument/2006/relationships/notesMaster" Target="/ppt/notesMasters/notesMaster1.xml" Id="R110d2da31007458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ef93e2cfdb4761" /><Relationship Type="http://schemas.openxmlformats.org/officeDocument/2006/relationships/notesMaster" Target="/ppt/notesMasters/notesMaster1.xml" Id="R72416000252c4f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0de101914b4987" /><Relationship Type="http://schemas.openxmlformats.org/officeDocument/2006/relationships/notesMaster" Target="/ppt/notesMasters/notesMaster1.xml" Id="R5d640dac2644428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6366b76e8746a6" /><Relationship Type="http://schemas.openxmlformats.org/officeDocument/2006/relationships/notesMaster" Target="/ppt/notesMasters/notesMaster1.xml" Id="R470e1ab7d8b147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32947418746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128c20837e4f78" /><Relationship Type="http://schemas.openxmlformats.org/officeDocument/2006/relationships/slideLayout" Target="/ppt/slideLayouts/slideLayout1.xml" Id="R294512b8db7c42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4512b8db7c42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362c237a941ce" /><Relationship Type="http://schemas.openxmlformats.org/officeDocument/2006/relationships/image" Target="/ppt/media/image.png" Id="R806291d0d5e54b33" /><Relationship Type="http://schemas.openxmlformats.org/officeDocument/2006/relationships/notesSlide" Target="/ppt/notesSlides/notesSlide1.xml" Id="R50b30f8c86b340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4cb13ab6841d1" /><Relationship Type="http://schemas.openxmlformats.org/officeDocument/2006/relationships/notesSlide" Target="/ppt/notesSlides/notesSlide2.xml" Id="R40acd6b5f8b14f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013f2a8a1416f" /><Relationship Type="http://schemas.openxmlformats.org/officeDocument/2006/relationships/notesSlide" Target="/ppt/notesSlides/notesSlide3.xml" Id="R8caf9edf5df64c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bfc48d0984e98" /><Relationship Type="http://schemas.openxmlformats.org/officeDocument/2006/relationships/notesSlide" Target="/ppt/notesSlides/notesSlide4.xml" Id="Rc60ef49ca77141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820e45f954690" /><Relationship Type="http://schemas.openxmlformats.org/officeDocument/2006/relationships/notesSlide" Target="/ppt/notesSlides/notesSlide5.xml" Id="R08a9d7b624614d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32a0baf2a4a9c" /><Relationship Type="http://schemas.openxmlformats.org/officeDocument/2006/relationships/notesSlide" Target="/ppt/notesSlides/notesSlide6.xml" Id="Rfbb8d829969b4e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8c9741f584f91" /><Relationship Type="http://schemas.openxmlformats.org/officeDocument/2006/relationships/notesSlide" Target="/ppt/notesSlides/notesSlide7.xml" Id="Rd1e4cd2ce9a74f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abd23dfd94421" /><Relationship Type="http://schemas.openxmlformats.org/officeDocument/2006/relationships/notesSlide" Target="/ppt/notesSlides/notesSlide8.xml" Id="R0b47aedb19924e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b9f76c8d04ce6" /><Relationship Type="http://schemas.openxmlformats.org/officeDocument/2006/relationships/notesSlide" Target="/ppt/notesSlides/notesSlide9.xml" Id="R803d3a28b3bd4d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245f5ccb44a1c" /><Relationship Type="http://schemas.openxmlformats.org/officeDocument/2006/relationships/notesSlide" Target="/ppt/notesSlides/notesSlide10.xml" Id="R0053ba66c4d24e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7e57a9f2c450b" /><Relationship Type="http://schemas.openxmlformats.org/officeDocument/2006/relationships/notesSlide" Target="/ppt/notesSlides/notesSlide11.xml" Id="R0f7d65f429784e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46b7c49ea4505" /><Relationship Type="http://schemas.openxmlformats.org/officeDocument/2006/relationships/notesSlide" Target="/ppt/notesSlides/notesSlide12.xml" Id="R02c5cd9f641f49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12ffe45364b19" /><Relationship Type="http://schemas.openxmlformats.org/officeDocument/2006/relationships/notesSlide" Target="/ppt/notesSlides/notesSlide13.xml" Id="Rae63bdddb6eb4f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d6b273b114d68" /><Relationship Type="http://schemas.openxmlformats.org/officeDocument/2006/relationships/notesSlide" Target="/ppt/notesSlides/notesSlide14.xml" Id="R3f98e1d57c5049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f3c3323e74221" /><Relationship Type="http://schemas.openxmlformats.org/officeDocument/2006/relationships/notesSlide" Target="/ppt/notesSlides/notesSlide15.xml" Id="Ref28cda23cc147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6a003d721408e" /><Relationship Type="http://schemas.openxmlformats.org/officeDocument/2006/relationships/notesSlide" Target="/ppt/notesSlides/notesSlide16.xml" Id="R6f516c54714941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3119938484a5f" /><Relationship Type="http://schemas.openxmlformats.org/officeDocument/2006/relationships/notesSlide" Target="/ppt/notesSlides/notesSlide17.xml" Id="Rf1443d05705149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f89ed978d4339" /><Relationship Type="http://schemas.openxmlformats.org/officeDocument/2006/relationships/notesSlide" Target="/ppt/notesSlides/notesSlide18.xml" Id="R52bfab9fdc9949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a5e59f3504ca1" /><Relationship Type="http://schemas.openxmlformats.org/officeDocument/2006/relationships/notesSlide" Target="/ppt/notesSlides/notesSlide19.xml" Id="Rd8c74f66372044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8c6646c8c4762" /><Relationship Type="http://schemas.openxmlformats.org/officeDocument/2006/relationships/notesSlide" Target="/ppt/notesSlides/notesSlide20.xml" Id="R7078071ea8544a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f515964254d2d" /><Relationship Type="http://schemas.openxmlformats.org/officeDocument/2006/relationships/notesSlide" Target="/ppt/notesSlides/notesSlide21.xml" Id="Rf69edd6ccbf944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d477a7f5f4ec0" /><Relationship Type="http://schemas.openxmlformats.org/officeDocument/2006/relationships/notesSlide" Target="/ppt/notesSlides/notesSlide22.xml" Id="Rf9a931a1e8ea47c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301cb97644abe" /><Relationship Type="http://schemas.openxmlformats.org/officeDocument/2006/relationships/notesSlide" Target="/ppt/notesSlides/notesSlide23.xml" Id="Rc03021eb0c0b4b8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4438292e24744" /><Relationship Type="http://schemas.openxmlformats.org/officeDocument/2006/relationships/notesSlide" Target="/ppt/notesSlides/notesSlide24.xml" Id="Rb4ef9d87e3884f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6AD79-F9F1-49ED-9BD0-CF75A762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1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046FA-00D7-4228-A17C-8CE4881B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57300"/>
            <a:ext cx="47148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A0A0A"/>
                </a:solidFill>
              </a:defRPr>
            </a:pPr>
            <a:r>
              <a:rPr sz="3450" b="0">
                <a:solidFill>
                  <a:srgbClr val="0A0A0A"/>
                </a:solidFill>
              </a:rPr>
              <a:t>Your company wants to use AI.</a:t>
            </a:r>
          </a:p>
          <a:p xmlns:a="http://schemas.openxmlformats.org/drawingml/2006/main">
            <a:pPr algn="l">
              <a:defRPr sz="3450" b="0">
                <a:solidFill>
                  <a:srgbClr val="0A0A0A"/>
                </a:solidFill>
              </a:defRPr>
            </a:pPr>
            <a:r>
              <a:rPr sz="3450" b="0">
                <a:solidFill>
                  <a:srgbClr val="0A0A0A"/>
                </a:solidFill>
              </a:rPr>
              <a:t>Where should it start?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291d0d5e54b33"/>
          <a:srcRect xmlns:a="http://schemas.openxmlformats.org/drawingml/2006/main" l="0" t="2273" r="0" b="2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3886200"/>
            <a:ext cx="4714875" cy="3000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A63AE-54BF-4E94-9A3F-3D97A6B8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067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064"/>
                </a:solidFill>
              </a:defRPr>
            </a:pPr>
            <a:r>
              <a:rPr sz="713" b="0">
                <a:solidFill>
                  <a:srgbClr val="5F6064"/>
                </a:solidFill>
              </a:rPr>
              <a:t>10 companies per 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07B16-759A-408C-9561-B8F4874B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70675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064"/>
                </a:solidFill>
              </a:defRPr>
            </a:pPr>
            <a:r>
              <a:rPr sz="675" b="0">
                <a:solidFill>
                  <a:srgbClr val="5F6064"/>
                </a:solidFill>
              </a:rPr>
              <a:t>Event offer: complimentary enterprise AI assessment</a:t>
            </a:r>
          </a:p>
        </p:txBody>
      </p:sp>
    </p:spTree>
    <p:extLst>
      <p:ext uri="{BB962C8B-B14F-4D97-AF65-F5344CB8AC3E}">
        <p14:creationId xmlns:p14="http://schemas.microsoft.com/office/powerpoint/2010/main" val="2069679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E4477-2DF9-4A32-B453-5E50CDBD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8625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</a:defRPr>
            </a:pPr>
            <a:r>
              <a:rPr sz="1350" b="0">
                <a:solidFill>
                  <a:srgbClr val="0A0A0A"/>
                </a:solidFill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698B4-B510-4899-AA65-5F7BEBD0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572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The change already underway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F26E2-3F70-4567-AF5D-784F1B4B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0572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E0431-A094-489E-B644-60BABF1F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09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Why companies get stuck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E72C3-2307-4065-B3B4-D5874728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4097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B3303-087D-4186-A088-D651BE18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62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How an FDE 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C93E5-FBC1-45B1-9E19-E020B385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62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9F242-A50B-425C-B30A-BC04C57C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14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What we deliver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9F568-7D05-4E40-8386-E9AFC58C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145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CA0D4-6931-45AD-9161-126D551D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669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Agent Boss and 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2B278-EF62-4854-962F-F2A41CAD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669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7C50D-83EA-4B8D-8F86-09D8307F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14900"/>
            <a:ext cx="471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then turns it into a system people use and results can prove.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FF0B6-B52E-4002-80F1-D174C601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838825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Business assessment | Workflow redesign | Skills | Custom SaaS | Databases | Agents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B9B1E-E6C7-4AA1-BCCD-1F26D8AD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9130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5BFF"/>
                </a:solidFill>
              </a:defRPr>
            </a:pPr>
            <a:r>
              <a:rPr sz="863" b="0">
                <a:solidFill>
                  <a:srgbClr val="145BFF"/>
                </a:solidFill>
              </a:rPr>
              <a:t>Event offer: complimentary enterprise AI assessment</a:t>
            </a:r>
          </a:p>
          <a:p xmlns:a="http://schemas.openxmlformats.org/drawingml/2006/main">
            <a:pPr algn="l">
              <a:defRPr sz="863" b="0">
                <a:solidFill>
                  <a:srgbClr val="145BFF"/>
                </a:solidFill>
              </a:defRPr>
            </a:pPr>
            <a:r>
              <a:rPr sz="863" b="0">
                <a:solidFill>
                  <a:srgbClr val="145BFF"/>
                </a:solidFill>
              </a:rPr>
              <a:t>10 companies per 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73EE6-A484-4C0D-B094-03F43453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03148-54F1-4F66-8256-E99EB644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107776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D5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D4FA5-432E-44FA-A8B3-9196583B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8625"/>
            <a:ext cx="4714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</a:defRPr>
            </a:pPr>
            <a:r>
              <a:rPr sz="3600" b="0">
                <a:solidFill>
                  <a:srgbClr val="0A0A0A"/>
                </a:solidFill>
              </a:rPr>
              <a:t>THE CHANGE IS ALREADY UNDERWAY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4120C-44EF-4DCD-8AEB-E05E0D93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24550"/>
            <a:ext cx="4714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6497B-E35D-4731-B0FD-BCC9E10F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35EF8-02D1-413E-8980-44574FEA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762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CA2DB-9B88-464A-8C90-772D8005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0A0A0A"/>
                </a:solidFill>
              </a:defRPr>
            </a:pPr>
            <a:r>
              <a:rPr sz="3375" b="0">
                <a:solidFill>
                  <a:srgbClr val="0A0A0A"/>
                </a:solidFill>
              </a:rPr>
              <a:t>AI can now</a:t>
            </a:r>
          </a:p>
          <a:p xmlns:a="http://schemas.openxmlformats.org/drawingml/2006/main">
            <a:pPr algn="l">
              <a:defRPr sz="3375" b="0">
                <a:solidFill>
                  <a:srgbClr val="0A0A0A"/>
                </a:solidFill>
              </a:defRPr>
            </a:pPr>
            <a:r>
              <a:rPr sz="3375" b="0">
                <a:solidFill>
                  <a:srgbClr val="0A0A0A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EF5BD-7E73-4E4D-8584-BA22757C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0025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C9527-20AD-491D-952B-5BC25B80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28875"/>
            <a:ext cx="4714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356DD-FA9A-45F3-B43E-C25E6019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004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623B2-20C9-498E-AE55-D23F05FC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4086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Agents handle repetitive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19471-E510-4F0D-921E-45C0BC41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6A8B8-F20B-4E70-8D24-943B8426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19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8D75B-FBE2-458D-80E3-7B812A32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91025"/>
            <a:ext cx="4086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People own goals, judgment, and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6A358-6B89-4081-AB5E-00D57BDD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5B8F4-52B4-44A4-BC8B-236C0747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387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FFB0F-6F1E-448B-B390-377A2294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086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One owner can direct several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9AE69-1CD0-4AD8-A1B7-002BA650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530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89263-7D96-4577-ABED-A309C38E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57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0BD28-73D7-4D64-981F-E41E6B72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4086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Workflows and Skills become reusable assets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CF7CA-801A-497E-9CD3-25B8419F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6997D-0054-48EF-A846-33AC7895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01013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50F76-C5E0-438F-97EB-50E51A87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A0A0A"/>
                </a:solidFill>
              </a:defRPr>
            </a:pPr>
            <a:r>
              <a:rPr sz="2700" b="0">
                <a:solidFill>
                  <a:srgbClr val="0A0A0A"/>
                </a:solidFill>
              </a:rPr>
              <a:t>Major technology companies</a:t>
            </a:r>
          </a:p>
          <a:p xmlns:a="http://schemas.openxmlformats.org/drawingml/2006/main">
            <a:pPr algn="l">
              <a:defRPr sz="2700" b="0">
                <a:solidFill>
                  <a:srgbClr val="0A0A0A"/>
                </a:solidFill>
              </a:defRPr>
            </a:pPr>
            <a:r>
              <a:rPr sz="2700" b="0">
                <a:solidFill>
                  <a:srgbClr val="0A0A0A"/>
                </a:solidFill>
              </a:rPr>
              <a:t>are reaching the same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579AE-2138-474A-853F-14DAB1B2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098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A6D94-D2B5-46F0-8DD2-F371AE15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0862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0A0A0A"/>
                </a:solidFill>
              </a:defRPr>
            </a:pPr>
            <a:r>
              <a:rPr sz="960" b="0">
                <a:solidFill>
                  <a:srgbClr val="0A0A0A"/>
                </a:solidFill>
              </a:rPr>
              <a:t>Microsoft: employees will build, delegate to, and manage agents.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74339-0E74-48CA-BE49-53907BB3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47863-D3F6-4110-B868-E023F3B7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76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B964D-02DD-4782-9588-A20462E3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40862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0A0A0A"/>
                </a:solidFill>
              </a:defRPr>
            </a:pPr>
            <a:r>
              <a:rPr sz="960" b="0">
                <a:solidFill>
                  <a:srgbClr val="0A0A0A"/>
                </a:solidFill>
              </a:rPr>
              <a:t>OpenAI: agents complete workflows on a user’s behalf.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4580C-5C34-4BA0-B56A-E59EF4CE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D8381-293D-4E33-AA3F-744DBA32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43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F8FA5-609F-4B2F-9024-CE09633F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0862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0A0A0A"/>
                </a:solidFill>
              </a:defRPr>
            </a:pPr>
            <a:r>
              <a:rPr sz="960" b="0">
                <a:solidFill>
                  <a:srgbClr val="0A0A0A"/>
                </a:solidFill>
              </a:rPr>
              <a:t>Google: enterprise agents connect data, tools, memory, and runtime.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AAA4F-CD14-439B-A24D-0CC6C7F0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A0A7A-DF33-4C90-9894-D95ED7A5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E20FA-9F43-4B7F-A266-FC56A3DC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81575"/>
            <a:ext cx="40862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0A0A0A"/>
                </a:solidFill>
              </a:defRPr>
            </a:pPr>
            <a:r>
              <a:rPr sz="960" b="0">
                <a:solidFill>
                  <a:srgbClr val="0A0A0A"/>
                </a:solidFill>
              </a:rPr>
              <a:t>Anthropic: people decide what; agents increasingly decide how.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5F78F-FE56-4205-BDE8-D7E58DCA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ECCF5-3355-401E-B299-EC4171A2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48557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E8F3C-DAF1-4103-B3A9-140F8D12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0A0A0A"/>
                </a:solidFill>
              </a:defRPr>
            </a:pPr>
            <a:r>
              <a:rPr sz="3075" b="0">
                <a:solidFill>
                  <a:srgbClr val="0A0A0A"/>
                </a:solidFill>
              </a:rPr>
              <a:t>AI has entered</a:t>
            </a:r>
          </a:p>
          <a:p xmlns:a="http://schemas.openxmlformats.org/drawingml/2006/main">
            <a:pPr algn="l">
              <a:defRPr sz="3075" b="0">
                <a:solidFill>
                  <a:srgbClr val="0A0A0A"/>
                </a:solidFill>
              </a:defRPr>
            </a:pPr>
            <a:r>
              <a:rPr sz="3075" b="0">
                <a:solidFill>
                  <a:srgbClr val="0A0A0A"/>
                </a:solidFill>
              </a:rPr>
              <a:t>real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058EE-EC34-4A4D-9BC1-FCE8CA45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24075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0A0A0A"/>
                </a:solidFill>
              </a:defRPr>
            </a:pPr>
            <a:r>
              <a:rPr sz="3675" b="0">
                <a:solidFill>
                  <a:srgbClr val="0A0A0A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2B10E-4FD6-4065-9DC7-A382BEB9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62175"/>
            <a:ext cx="2924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of surveyed leaders expect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7DCD5-ABA4-4E9F-B97C-020E873D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00350"/>
            <a:ext cx="2924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064"/>
                </a:solidFill>
              </a:defRPr>
            </a:pPr>
            <a:r>
              <a:rPr sz="675" b="0">
                <a:solidFill>
                  <a:srgbClr val="5F6064"/>
                </a:solidFill>
              </a:rPr>
              <a:t>Microsoft · 31 countries / 31,000 workers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04811-F737-4179-9C81-A64D5E45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3850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FE0E4-3A9C-417C-8678-BE211B12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90925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0A0A0A"/>
                </a:solidFill>
              </a:defRPr>
            </a:pPr>
            <a:r>
              <a:rPr sz="3675" b="0">
                <a:solidFill>
                  <a:srgbClr val="0A0A0A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A4C0C-45D7-44B5-BF4B-3D1BD3AB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29025"/>
            <a:ext cx="2924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business customers use OpenAI products.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B2ABC-5586-4DB4-A369-2AE4895F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2924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064"/>
                </a:solidFill>
              </a:defRPr>
            </a:pPr>
            <a:r>
              <a:rPr sz="675" b="0">
                <a:solidFill>
                  <a:srgbClr val="5F6064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4579D-609E-4E1B-A599-244E90DE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0535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8BE69-D020-4635-AF05-355D1056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57775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0A0A0A"/>
                </a:solidFill>
              </a:defRPr>
            </a:pPr>
            <a:r>
              <a:rPr sz="3675" b="0">
                <a:solidFill>
                  <a:srgbClr val="0A0A0A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6751E-DEAF-4917-A2BE-4BEEFBF5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2924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growth in weekly active Codex users in legal since February.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22FD0-A4E0-4587-80DD-730F38BE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34050"/>
            <a:ext cx="2924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064"/>
                </a:solidFill>
              </a:defRPr>
            </a:pPr>
            <a:r>
              <a:rPr sz="675" b="0">
                <a:solidFill>
                  <a:srgbClr val="5F6064"/>
                </a:solidFill>
              </a:rPr>
              <a:t>Sales 41× · Recruiting 41× · Marketing 26×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E2251-CE2C-46EB-A094-C2834C31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CAFE5-4F0E-46C4-9340-E9B882D0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89319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5BD66-CEC1-4296-9C7F-C6DF02A4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</a:defRPr>
            </a:pPr>
            <a:r>
              <a:rPr sz="3150" b="0">
                <a:solidFill>
                  <a:srgbClr val="0A0A0A"/>
                </a:solidFill>
              </a:rPr>
              <a:t>Public examples</a:t>
            </a:r>
          </a:p>
          <a:p xmlns:a="http://schemas.openxmlformats.org/drawingml/2006/main">
            <a:pPr algn="l">
              <a:defRPr sz="3150" b="0">
                <a:solidFill>
                  <a:srgbClr val="0A0A0A"/>
                </a:solidFill>
              </a:defRPr>
            </a:pPr>
            <a:r>
              <a:rPr sz="3150" b="0">
                <a:solidFill>
                  <a:srgbClr val="0A0A0A"/>
                </a:solidFill>
              </a:rPr>
              <a:t>already in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E57EB-742E-4798-817F-41539A4C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907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8D675-D34C-4AF7-B3F9-085C397D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238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Cisco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70C36-1D57-424F-977F-D2BFC7D3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36220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064"/>
                </a:solidFill>
              </a:defRPr>
            </a:pPr>
            <a:r>
              <a:rPr sz="900" b="0">
                <a:solidFill>
                  <a:srgbClr val="5F6064"/>
                </a:solidFill>
              </a:rPr>
              <a:t>50% faster code review; some projects moved from weeks to days.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3911B-A098-4B86-AECA-CBDF6A39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A84CA-4E6C-4942-B498-EE4CBFC6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390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91AD7-D595-4B46-B129-07A37AE3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2325"/>
            <a:ext cx="1238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Carlyle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57D9B-3C55-480E-B91D-7072046B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62325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064"/>
                </a:solidFill>
              </a:defRPr>
            </a:pPr>
            <a:r>
              <a:rPr sz="900" b="0">
                <a:solidFill>
                  <a:srgbClr val="5F6064"/>
                </a:solidFill>
              </a:rPr>
              <a:t>Multi-agent due diligence cut development time by 50%+ and raised accuracy 30%.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0123E-77E1-4173-844A-9DA935D1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49EFC-A311-4338-B21D-F92110FF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91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51BC1-4922-48C9-B736-C66E7595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TELUS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3FA0B-B37F-4CE3-81D6-4548D965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624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064"/>
                </a:solidFill>
              </a:defRPr>
            </a:pPr>
            <a:r>
              <a:rPr sz="900" b="0">
                <a:solidFill>
                  <a:srgbClr val="5F6064"/>
                </a:solidFill>
              </a:rPr>
              <a:t>$53.9M annual savings; customer issues resolved 87% faster.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29A5D-0EBB-4B80-B6F4-FD0FC0FF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DACFD-5590-4637-B85F-5263112B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91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2B242-13CF-4E75-80DA-79CDF71F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1238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Lowe’s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44DE7-03E1-4AC6-8C34-3D65BFC3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62575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064"/>
                </a:solidFill>
              </a:defRPr>
            </a:pPr>
            <a:r>
              <a:rPr sz="900" b="0">
                <a:solidFill>
                  <a:srgbClr val="5F6064"/>
                </a:solidFill>
              </a:rPr>
              <a:t>AI project guidance available to associates across 1,700+ stores.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1B8A4-139F-4CB5-B4CF-6F5D8F68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96E46-9919-40F4-84DA-3295145A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18501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CE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8A1A2-5E4A-487C-A64E-0D7425FC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8625"/>
            <a:ext cx="4714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</a:defRPr>
            </a:pPr>
            <a:r>
              <a:rPr sz="3600" b="0">
                <a:solidFill>
                  <a:srgbClr val="0A0A0A"/>
                </a:solidFill>
              </a:rPr>
              <a:t>Leaders want higher efficiency,</a:t>
            </a:r>
          </a:p>
          <a:p xmlns:a="http://schemas.openxmlformats.org/drawingml/2006/main">
            <a:pPr algn="l">
              <a:defRPr sz="3600" b="0">
                <a:solidFill>
                  <a:srgbClr val="0A0A0A"/>
                </a:solidFill>
              </a:defRPr>
            </a:pPr>
            <a:r>
              <a:rPr sz="3600" b="0">
                <a:solidFill>
                  <a:srgbClr val="0A0A0A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8E54A-630C-4495-8173-23C9CDD5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24550"/>
            <a:ext cx="4714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79405-B911-41A2-8EF8-8CA2B38F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A8484-DA87-47D9-B6A1-C1AB0AA6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38187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486E1-F95B-4B27-A136-16740015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A0A0A"/>
                </a:solidFill>
              </a:defRPr>
            </a:pPr>
            <a:r>
              <a:rPr sz="3300" b="0">
                <a:solidFill>
                  <a:srgbClr val="0A0A0A"/>
                </a:solidFill>
              </a:rPr>
              <a:t>Many companies</a:t>
            </a:r>
          </a:p>
          <a:p xmlns:a="http://schemas.openxmlformats.org/drawingml/2006/main">
            <a:pPr algn="l">
              <a:defRPr sz="3300" b="0">
                <a:solidFill>
                  <a:srgbClr val="0A0A0A"/>
                </a:solidFill>
              </a:defRPr>
            </a:pPr>
            <a:r>
              <a:rPr sz="3300" b="0">
                <a:solidFill>
                  <a:srgbClr val="0A0A0A"/>
                </a:solidFill>
              </a:rPr>
              <a:t>have already tried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2C940-BF74-4E7A-A0EB-5DA00C4F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52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620D2-A445-42F5-B59B-805CB7FB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Employees have subscriptions but use them only occasionally.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951EC-7145-42D3-B61D-89B060D6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328D1-02DC-4F6C-A3D8-7D09E05E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33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A7B3E-5A85-476E-A633-93E372C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58E2C-0B99-4598-AC5B-DB2989CD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99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E5B6F-BE37-4557-A170-0E45BB69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14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BFB66-2D4C-462A-A0C1-95324833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Other companies’ cases do not fit the way this company works.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ACEE8-F401-43B2-94C6-44D356AB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910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AE024-1600-4E20-8E48-F37635DB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95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90629-EF90-4A09-B7AB-BA2C76F1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6722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Every department has ideas, but nobody can set priorities.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37014-52DE-4BFF-B9C7-9A8C4EBF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720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B3E9C-18F7-455D-8AD4-0769E29E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76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45DCD-0C1D-4584-A30D-B883F5B6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4827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9D098-2B54-4902-B106-0EFA87D6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531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DF99A-AE20-4CDE-BF7B-FA2824C4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57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9809B-F0CB-408F-A7B6-6B20E1CE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2932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F23A5-7AE5-4DB6-9A0D-CC96CDD9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E62B2-7921-44EA-ABBC-FB94FC4E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195369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B0C79-E851-45F0-82A4-1F672418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A0A0A"/>
                </a:solidFill>
              </a:defRPr>
            </a:pPr>
            <a:r>
              <a:rPr sz="3000" b="0">
                <a:solidFill>
                  <a:srgbClr val="0A0A0A"/>
                </a:solidFill>
              </a:rPr>
              <a:t>AI transformation crosses four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4B643-73EC-4706-9C9D-4EFB0DB2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7640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Miss one layer and the project often stalls.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79642-B188-4711-BE54-FA5F4B13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669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BC9C2-574C-456A-A999-3C45BB0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The outcome leadership wants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91181-616C-4349-82C5-DD0005FF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D10FC-4C8E-40DE-9731-B7E3A233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19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153EC-9FF1-4077-9AD2-816C4C36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How frontline work actually happens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4A3B1-030E-4D14-917E-1F29636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909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5BF96-06E5-4350-8B34-B6D1A215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719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A90C5-CEC6-4DDE-9CA8-E86008D6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Where the data and systems live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7D22C-690A-4E2B-9146-14A3F07F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4C5F1-2A47-4024-AAA8-452BBE5C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24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770ED-EF86-4A66-917E-A05629E1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How the solution gets built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74E7C-CBBC-4419-ACAC-92E47A03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C500D-2A9F-4EF7-B311-44C6A1C5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783992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33D27-7BEE-4056-A77E-1B7B9C21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A0A0A"/>
                </a:solidFill>
              </a:defRPr>
            </a:pPr>
            <a:r>
              <a:rPr sz="3225" b="0">
                <a:solidFill>
                  <a:srgbClr val="0A0A0A"/>
                </a:solidFill>
              </a:rPr>
              <a:t>Why internal AI projects</a:t>
            </a:r>
          </a:p>
          <a:p xmlns:a="http://schemas.openxmlformats.org/drawingml/2006/main">
            <a:pPr algn="l">
              <a:defRPr sz="3225" b="0">
                <a:solidFill>
                  <a:srgbClr val="0A0A0A"/>
                </a:solidFill>
              </a:defRPr>
            </a:pPr>
            <a:r>
              <a:rPr sz="3225" b="0">
                <a:solidFill>
                  <a:srgbClr val="0A0A0A"/>
                </a:solidFill>
              </a:rPr>
              <a:t>get stuck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034FA-A5BD-40ED-9A3D-2A99EAA6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71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98721-6B6E-4577-A53F-99D3E714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Listen only to leadership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E2ADC-557A-41F8-8F0B-13D66D62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143125"/>
            <a:ext cx="260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064"/>
                </a:solidFill>
              </a:defRPr>
            </a:pPr>
            <a:r>
              <a:rPr sz="863" b="0">
                <a:solidFill>
                  <a:srgbClr val="5F6064"/>
                </a:solidFill>
              </a:rPr>
              <a:t>The ambition is broad, but the first practical job remains unclear.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DD6F2-4B73-47F0-8AB4-C9CD2EB9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DF934-8553-4C1C-A44D-AE038296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05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23376-486A-4828-A6F6-0A50BDEA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76575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Listen only to frontline teams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CF546-C9D6-4D21-815B-7B6EBA62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76575"/>
            <a:ext cx="260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064"/>
                </a:solidFill>
              </a:defRPr>
            </a:pPr>
            <a:r>
              <a:rPr sz="863" b="0">
                <a:solidFill>
                  <a:srgbClr val="5F6064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66867-E72C-4ECE-A524-CDC9D484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26BA7-884D-4AEB-8F9B-694575A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CEB32-E98B-48DC-B5D6-1A3FF940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Start with a software vendor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E088C-CADE-477B-AE5F-DF6844FB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010025"/>
            <a:ext cx="260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064"/>
                </a:solidFill>
              </a:defRPr>
            </a:pPr>
            <a:r>
              <a:rPr sz="863" b="0">
                <a:solidFill>
                  <a:srgbClr val="5F6064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6C5F4-1AA5-4782-A1F1-4AFB3437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3D509-5A26-4E0D-B955-7497613E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72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9B167-A80E-4BEC-AE28-2849AAF0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Buy a standard 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0FAEE-4937-4503-80EF-585B8A9F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43475"/>
            <a:ext cx="260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064"/>
                </a:solidFill>
              </a:defRPr>
            </a:pPr>
            <a:r>
              <a:rPr sz="863" b="0">
                <a:solidFill>
                  <a:srgbClr val="5F6064"/>
                </a:solidFill>
              </a:rPr>
              <a:t>Deployment is fast, but the workflow may not fit.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4DF9C-57EA-43A5-9501-5EFB8FFC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007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27199-627D-4444-847E-613C2677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05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C4517-DE46-4720-8E26-678272D8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76925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Build a large platform 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10902-C2CF-4F3F-9E81-F26BD45F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876925"/>
            <a:ext cx="260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064"/>
                </a:solidFill>
              </a:defRPr>
            </a:pPr>
            <a:r>
              <a:rPr sz="863" b="0">
                <a:solidFill>
                  <a:srgbClr val="5F6064"/>
                </a:solidFill>
              </a:rPr>
              <a:t>Time and money are committed before business value is tested.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954CB-55E0-4D15-BE6E-F094BDD5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72941-D104-42AE-868B-CFC71100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104858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C1FA6-40A7-49AC-8661-225074EA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A0A0A"/>
                </a:solidFill>
              </a:defRPr>
            </a:pPr>
            <a:r>
              <a:rPr sz="2700" b="0">
                <a:solidFill>
                  <a:srgbClr val="0A0A0A"/>
                </a:solidFill>
              </a:rPr>
              <a:t>An FDE starts with ambiguity</a:t>
            </a:r>
          </a:p>
          <a:p xmlns:a="http://schemas.openxmlformats.org/drawingml/2006/main">
            <a:pPr algn="l">
              <a:defRPr sz="2700" b="0">
                <a:solidFill>
                  <a:srgbClr val="0A0A0A"/>
                </a:solidFill>
              </a:defRPr>
            </a:pPr>
            <a:r>
              <a:rPr sz="2700" b="0">
                <a:solidFill>
                  <a:srgbClr val="0A0A0A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0BAB8-6831-44FB-944F-BDEC7379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47875"/>
            <a:ext cx="4714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8F27E-5EB4-444A-91F2-BF49F24D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147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Once the problem is clear, the FDE chooses how to solve it: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13C87-DA93-45BF-81F3-0DFDF06A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148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0CF3D-CDDE-48E7-975F-F8D243FA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4086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Use an existing product when it already solves the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71E07-A012-4B8F-B1E5-6A510521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AE681-BE0D-43E8-BAA0-DADE8C44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482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8491B-7711-4213-82C3-D1C3F02C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4086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Build a Skill when a Skill is enough.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73108-C4E3-4445-8C91-B2179636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0F204-BEFD-419D-B867-FD54B312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816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86902-5881-498D-81B6-518E039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4086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Integrate with existing systems when the workflow crosses tools.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598F0-6DCC-4D6D-9722-6D66D653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02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847AD-9239-4D90-86D0-27B8EA4A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15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2408C-7D4C-44A6-BA8D-D8423ECF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86450"/>
            <a:ext cx="4086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381B5-4C56-40BF-B07E-797830AD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436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D8F78-2B17-4850-BA5C-9930D15F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484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4B446-ECBB-4CA7-A30A-50125B9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19850"/>
            <a:ext cx="4086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ADBBE-5154-4E87-A6E5-F7C17536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57AA5-A02F-425A-BBE3-3838C420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939896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D5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022CB-EFD5-430E-8E76-5C934E99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8625"/>
            <a:ext cx="4714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</a:defRPr>
            </a:pPr>
            <a:r>
              <a:rPr sz="3600" b="0">
                <a:solidFill>
                  <a:srgbClr val="0A0A0A"/>
                </a:solidFill>
              </a:rPr>
              <a:t>WHAT WE DELIVER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94544-1E72-471F-8BE0-AAA20904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24550"/>
            <a:ext cx="4714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From one small tool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to a company-wide AI upgrade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B20EA-689E-4DE3-B014-AA90EF92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96B0D-17B9-4D64-AEE8-927CE0A1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08002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38AB1-A295-4FDD-96D8-79604444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A0A0A"/>
                </a:solidFill>
              </a:defRPr>
            </a:pPr>
            <a:r>
              <a:rPr sz="2550" b="0">
                <a:solidFill>
                  <a:srgbClr val="0A0A0A"/>
                </a:solidFill>
              </a:rPr>
              <a:t>Start with a problem or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1FDA8-7FD8-40A6-8D98-77932E67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05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4506C-3AF5-4058-BA74-7A8656DF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086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26F6B-AF20-40E1-8027-B021A4C8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FF6EF-4859-4D4A-BC7A-C171CCB1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0862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Company-specific Skills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Document, spreadsheet, and image processing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Quotation, entry, reconciliation, and reporting automation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Small custom SaaS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3CC5F-3E65-46DB-90A4-4738B2CB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064"/>
                </a:solidFill>
              </a:defRPr>
            </a:pPr>
            <a:r>
              <a:rPr sz="788" b="0">
                <a:solidFill>
                  <a:srgbClr val="5F6064"/>
                </a:solidFill>
              </a:rPr>
              <a:t>Best for：Best when the problem is clear and results are needed quickly.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BCB12-BFAB-49B6-A98D-E464D836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81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7368C-A414-4953-A7BD-5661DD83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4086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One business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AE75A-B51F-4FAD-9ED7-03E03CF5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75621-3135-49B2-B28B-90AC313F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40862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Interviews and workflow mapping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Role-specific agents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ERP, CRM, collaboration, and messaging integrations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Exception handling and human approval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Progress, result, and activity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457BB-DD9B-4376-B964-3CF64695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627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064"/>
                </a:solidFill>
              </a:defRPr>
            </a:pPr>
            <a:r>
              <a:rPr sz="788" b="0">
                <a:solidFill>
                  <a:srgbClr val="5F6064"/>
                </a:solidFill>
              </a:rPr>
              <a:t>Best for：Best when work crosses people and systems through manual handoffs.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9231B-5A5B-441C-AF77-BCED27FF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9240C-A362-4265-ACA4-14DF5384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57178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0A091-5615-4769-AB87-F1DB0711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A0A0A"/>
                </a:solidFill>
              </a:defRPr>
            </a:pPr>
            <a:r>
              <a:rPr sz="2550" b="0">
                <a:solidFill>
                  <a:srgbClr val="0A0A0A"/>
                </a:solidFill>
              </a:rPr>
              <a:t>Then build the data and company-wide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CEB2C-5EE9-40F3-B779-127AF552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05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B7547-7E7F-4465-9E09-25C83BCE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086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A data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842D1-1CF7-4382-915A-C9ACA408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98A07-5A2F-426C-B31E-D7A670B0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0862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Operational databases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Enterprise knowledge bases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Data cleanup and consistent naming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Permissions and usage boundaries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Trusted data for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66822-240B-4717-9106-F18A2195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064"/>
                </a:solidFill>
              </a:defRPr>
            </a:pPr>
            <a:r>
              <a:rPr sz="788" b="0">
                <a:solidFill>
                  <a:srgbClr val="5F6064"/>
                </a:solidFill>
              </a:rPr>
              <a:t>Best for：Best when information is hard to find, share, or trust.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FEBC5-5CD7-41FF-B91C-E7980C3A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81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05487-C96C-4997-82C0-ABCDFD79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4086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A company-wide upgrade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605CC-A6F5-4E1D-940F-540D6D31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DE83D-4B6D-4EF6-95CC-80C47638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40862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Identify work suitable for AI across departments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Redesign how people and agents divide the work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Set permissions, approvals, and accountability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Define the pilot sequence and expansion plan</a:t>
            </a:r>
          </a:p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Train the company’s own Agent Bosses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D98B9-3F80-4B57-B281-B12BA829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627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064"/>
                </a:solidFill>
              </a:defRPr>
            </a:pPr>
            <a:r>
              <a:rPr sz="788" b="0">
                <a:solidFill>
                  <a:srgbClr val="5F6064"/>
                </a:solidFill>
              </a:rPr>
              <a:t>Best for：Best when leadership wants one coordinated program.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F300A-B9D9-4529-833A-2C21E7F0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D3A4E-1990-4EBD-8ED6-AA2CD9E9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758826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692A5-ADE8-45D6-ABD9-CB3AF858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A0A0A"/>
                </a:solidFill>
              </a:defRPr>
            </a:pPr>
            <a:r>
              <a:rPr sz="2850" b="0">
                <a:solidFill>
                  <a:srgbClr val="0A0A0A"/>
                </a:solidFill>
              </a:rPr>
              <a:t>Assess first.</a:t>
            </a:r>
          </a:p>
          <a:p xmlns:a="http://schemas.openxmlformats.org/drawingml/2006/main">
            <a:pPr algn="l">
              <a:defRPr sz="2850" b="0">
                <a:solidFill>
                  <a:srgbClr val="0A0A0A"/>
                </a:solidFill>
              </a:defRPr>
            </a:pPr>
            <a:r>
              <a:rPr sz="2850" b="0">
                <a:solidFill>
                  <a:srgbClr val="0A0A0A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4A9D3-2367-4300-9242-038488B3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19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174CB-9103-443D-931D-86FFBD50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90725"/>
            <a:ext cx="4086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0A0A0A"/>
                </a:solidFill>
              </a:defRPr>
            </a:pPr>
            <a:r>
              <a:rPr sz="923" b="0">
                <a:solidFill>
                  <a:srgbClr val="0A0A0A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6F5B4-F795-4283-980E-3BFE4AFD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6CB8E-0ED0-4129-A455-827ECE1F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81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EDDE3-BDC7-40C7-B584-9AA4F9E3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086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0A0A0A"/>
                </a:solidFill>
              </a:defRPr>
            </a:pPr>
            <a:r>
              <a:rPr sz="923" b="0">
                <a:solidFill>
                  <a:srgbClr val="0A0A0A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6DB0D-9B87-45D9-9E1F-F6AB2D43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82680-0780-4EED-B031-1013211B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43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1109E-37E4-49B2-8EBF-42DAF8A1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14775"/>
            <a:ext cx="4086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0A0A0A"/>
                </a:solidFill>
              </a:defRPr>
            </a:pPr>
            <a:r>
              <a:rPr sz="923" b="0">
                <a:solidFill>
                  <a:srgbClr val="0A0A0A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B3343-A6A0-4BFD-B234-D7B46AEF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92AE6-8959-4E33-8771-4F8C93F3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5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74B63-6FEE-48A9-9FAD-2173EA8A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4086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0A0A0A"/>
                </a:solidFill>
              </a:defRPr>
            </a:pPr>
            <a:r>
              <a:rPr sz="923" b="0">
                <a:solidFill>
                  <a:srgbClr val="0A0A0A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B5309-DAA1-4693-A9C0-26D02B37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6BD5C-B547-4BC5-B995-D95678CD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867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591CE-628D-4CA2-BB1A-7951C0CA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38825"/>
            <a:ext cx="4086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0A0A0A"/>
                </a:solidFill>
              </a:defRPr>
            </a:pPr>
            <a:r>
              <a:rPr sz="923" b="0">
                <a:solidFill>
                  <a:srgbClr val="0A0A0A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92661-EAE7-4A50-A23F-CC019B8A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A0132-831C-496C-B5E7-B45BE2B4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63345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6B3C5-7A93-46DB-93E4-111EF334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A0A0A"/>
                </a:solidFill>
              </a:defRPr>
            </a:pPr>
            <a:r>
              <a:rPr sz="2850" b="0">
                <a:solidFill>
                  <a:srgbClr val="0A0A0A"/>
                </a:solidFill>
              </a:rPr>
              <a:t>Not a demo.</a:t>
            </a:r>
          </a:p>
          <a:p xmlns:a="http://schemas.openxmlformats.org/drawingml/2006/main">
            <a:pPr algn="l">
              <a:defRPr sz="2850" b="0">
                <a:solidFill>
                  <a:srgbClr val="0A0A0A"/>
                </a:solidFill>
              </a:defRPr>
            </a:pPr>
            <a:r>
              <a:rPr sz="2850" b="0">
                <a:solidFill>
                  <a:srgbClr val="0A0A0A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ADFFC-0CD8-4634-912E-BAA48E37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33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22F45-2BC9-44A8-8B36-7530345A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33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A0A0A"/>
                </a:solidFill>
              </a:defRPr>
            </a:pPr>
            <a:r>
              <a:rPr sz="915" b="1">
                <a:solidFill>
                  <a:srgbClr val="0A0A0A"/>
                </a:solidFill>
              </a:rPr>
              <a:t>A map of the current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940ED-0F3B-435C-8650-46EF756D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33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967A6-1F0B-44A3-8B96-3324FE6E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33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A0A0A"/>
                </a:solidFill>
              </a:defRPr>
            </a:pPr>
            <a:r>
              <a:rPr sz="915" b="1">
                <a:solidFill>
                  <a:srgbClr val="0A0A0A"/>
                </a:solidFill>
              </a:rPr>
              <a:t>The problem and pilot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F78DD-792B-4633-A1E3-3DC8E43F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718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C28EF-8272-4B68-BDF9-4B246AE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718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A0A0A"/>
                </a:solidFill>
              </a:defRPr>
            </a:pPr>
            <a:r>
              <a:rPr sz="915" b="1">
                <a:solidFill>
                  <a:srgbClr val="0A0A0A"/>
                </a:solidFill>
              </a:rPr>
              <a:t>A working prototype or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F1FD8-8617-4FD4-9C75-70051434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718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90F80-1B3A-4EE1-B133-6601B10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718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A0A0A"/>
                </a:solidFill>
              </a:defRPr>
            </a:pPr>
            <a:r>
              <a:rPr sz="915" b="1">
                <a:solidFill>
                  <a:srgbClr val="0A0A0A"/>
                </a:solidFill>
              </a:rPr>
              <a:t>The data and permissions 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0BC85-29B9-48FE-9D76-880B513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10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E6BC4-2B6B-4771-B4C4-CCA1DB32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100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A0A0A"/>
                </a:solidFill>
              </a:defRPr>
            </a:pPr>
            <a:r>
              <a:rPr sz="915" b="1">
                <a:solidFill>
                  <a:srgbClr val="0A0A0A"/>
                </a:solidFill>
              </a:rPr>
              <a:t>Responsibilities for people and agents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769CF-6676-4485-B8F5-DA8DE9BC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10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229B8-9672-450A-8108-FBBFBBFA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2100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A0A0A"/>
                </a:solidFill>
              </a:defRPr>
            </a:pPr>
            <a:r>
              <a:rPr sz="915" b="1">
                <a:solidFill>
                  <a:srgbClr val="0A0A0A"/>
                </a:solidFill>
              </a:rPr>
              <a:t>Human approval 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D5D27-2099-45EF-8E17-C67950C6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482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3703D-FCE5-419E-82FC-AB9D54C8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482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A0A0A"/>
                </a:solidFill>
              </a:defRPr>
            </a:pPr>
            <a:r>
              <a:rPr sz="915" b="1">
                <a:solidFill>
                  <a:srgbClr val="0A0A0A"/>
                </a:solidFill>
              </a:rPr>
              <a:t>A before-and-after comparison 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3BDA7-C98E-40B1-947D-E24DF00F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482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033E4-5D40-4FE2-A21F-1ABAC0AA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2482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0A0A0A"/>
                </a:solidFill>
              </a:defRPr>
            </a:pPr>
            <a:r>
              <a:rPr sz="915" b="1">
                <a:solidFill>
                  <a:srgbClr val="0A0A0A"/>
                </a:solidFill>
              </a:rPr>
              <a:t>A recommendation to continue, adjust, or stop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34182-0AD2-46BE-894D-04D34A33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62700"/>
            <a:ext cx="471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A0A0A"/>
                </a:solidFill>
              </a:defRPr>
            </a:pPr>
            <a:r>
              <a:rPr sz="788" b="1">
                <a:solidFill>
                  <a:srgbClr val="0A0A0A"/>
                </a:solidFill>
              </a:rPr>
              <a:t>BEFORE WORK BEGINS, WE AGREE 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6533B-8C3F-44E8-812A-81E36D97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667500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064"/>
                </a:solidFill>
              </a:defRPr>
            </a:pPr>
            <a:r>
              <a:rPr sz="788" b="0">
                <a:solidFill>
                  <a:srgbClr val="5F6064"/>
                </a:solidFill>
              </a:rPr>
              <a:t>Who owns the outcome · What completion means · What is outside this pilot · How the result will be judged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58933-5116-479B-881E-E2A8B6A4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50C98-8537-42CA-B82C-481882F3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1531723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851F4-FBAC-4406-AB26-76B1B4DB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0A0A0A"/>
                </a:solidFill>
              </a:defRPr>
            </a:pPr>
            <a:r>
              <a:rPr sz="2475" b="0">
                <a:solidFill>
                  <a:srgbClr val="0A0A0A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defRPr sz="2475" b="0">
                <a:solidFill>
                  <a:srgbClr val="0A0A0A"/>
                </a:solidFill>
              </a:defRPr>
            </a:pPr>
            <a:r>
              <a:rPr sz="2475" b="0">
                <a:solidFill>
                  <a:srgbClr val="0A0A0A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509AC-E628-4DBB-985C-F05FB39F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885950"/>
            <a:ext cx="4714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064"/>
                </a:solidFill>
              </a:defRPr>
            </a:pPr>
            <a:r>
              <a:rPr sz="788" b="0">
                <a:solidFill>
                  <a:srgbClr val="5F6064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FCC04-92FF-43E3-B8D5-5401B91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14625"/>
            <a:ext cx="471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0A0A"/>
                </a:solidFill>
              </a:defRPr>
            </a:pPr>
            <a:r>
              <a:rPr sz="825" b="1">
                <a:solidFill>
                  <a:srgbClr val="0A0A0A"/>
                </a:solidFill>
              </a:rPr>
              <a:t>COMPANIES WE HAVE SERVED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19482-71FC-49F7-9F44-96533E17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57525"/>
            <a:ext cx="10382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9B9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EBE38-764D-4256-9C5A-69EA5F83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57525"/>
            <a:ext cx="10382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9B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11A4F-C0C4-4DA3-AA83-C3F9AB54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57525"/>
            <a:ext cx="10382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9B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69F85-E925-4286-A291-1038D979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57525"/>
            <a:ext cx="10382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9B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20488-5432-47BC-9DB1-7C0C4FD3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48125"/>
            <a:ext cx="200025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4"/>
          </a:solidFill>
          <a:ln xmlns:a="http://schemas.openxmlformats.org/drawingml/2006/main" w="9525">
            <a:solidFill>
              <a:srgbClr val="9A9B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AAF1C-AEF7-4AFC-AC49-25A507C3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53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6064"/>
                </a:solidFill>
              </a:defRPr>
            </a:pPr>
            <a:r>
              <a:rPr sz="750" b="0">
                <a:solidFill>
                  <a:srgbClr val="5F6064"/>
                </a:solidFill>
              </a:rPr>
              <a:t>CASE IMAGE / SYSTEM SCREEN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37711-0776-4374-B17D-B4B29BB3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4812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428C9-CF8E-4972-851C-E0CB29AC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43400"/>
            <a:ext cx="2390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0FB44-CD59-4782-90B2-B32BE835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624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What we found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1E44D-C028-4196-BC71-EF690D81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57750"/>
            <a:ext cx="2390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1F9CA-115F-42F2-B3A8-402DBC2B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7682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What we delivered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1C022-817D-401C-BD07-5B6FC970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72100"/>
            <a:ext cx="2390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E9606-06B7-4DDE-9B09-82E0C3D3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911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What changed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C75FC-283F-4EF2-849F-82C7F7B1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86450"/>
            <a:ext cx="2390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B3F2D-18F2-41CC-A459-728A614E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63164-6A23-4525-A63B-2C679051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9469679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DCE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BBAC5-CBC8-47F9-8934-5BC735F8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8625"/>
            <a:ext cx="4714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</a:defRPr>
            </a:pPr>
            <a:r>
              <a:rPr sz="3600" b="0">
                <a:solidFill>
                  <a:srgbClr val="0A0A0A"/>
                </a:solidFill>
              </a:rPr>
              <a:t>Agent Boss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7317C-8FD9-432D-BE20-B8B42420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24550"/>
            <a:ext cx="4714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We call this training Agent Boss.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EC6F3-5FF0-495F-A4F2-64C491AC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91EE5-379C-4D80-B6CF-10F9D501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69581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2C043-788A-4191-BE17-6F7CC23C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A0A0A"/>
                </a:solidFill>
              </a:defRPr>
            </a:pPr>
            <a:r>
              <a:rPr sz="2700" b="0">
                <a:solidFill>
                  <a:srgbClr val="0A0A0A"/>
                </a:solidFill>
              </a:rPr>
              <a:t>A working agent still needs</a:t>
            </a:r>
          </a:p>
          <a:p xmlns:a="http://schemas.openxmlformats.org/drawingml/2006/main">
            <a:pPr algn="l">
              <a:defRPr sz="2700" b="0">
                <a:solidFill>
                  <a:srgbClr val="0A0A0A"/>
                </a:solidFill>
              </a:defRPr>
            </a:pPr>
            <a:r>
              <a:rPr sz="2700" b="0">
                <a:solidFill>
                  <a:srgbClr val="0A0A0A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0C230-135B-40F0-A11A-1D897DDE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52625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8ECE8-16FD-40F5-9ED2-225C7B4D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57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C1746-ED3B-480B-AF06-6E182EE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Give agents clear goals and completion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6BF97-73C0-4A58-A8F9-8F0697ED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956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29442-98A6-47B8-9EDC-11236D15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004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96750-7269-434A-896E-1554BEDE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Decide which work can be delegated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219EE-8215-424B-B83F-5F7973AA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218CF-9626-424B-9BB9-3EA459A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43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CA2B3-6F7E-4643-B0E8-86B73D6C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Review the process and the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8DFE6-3A35-42BA-AB7A-9C9AF578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F807B-F1D8-41DA-A08D-98980D7F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686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0A202-3125-4BA4-B72F-EFED49DA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Handle exceptions, request changes, or stop a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F4FD1-9994-46DC-929B-89D29DEE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5B270-9FAE-4D9D-9BD7-18190B63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292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10217-1C7E-43CB-8F8D-C7DCFD47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Manage data, tools, and 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11C08-A283-4D36-A094-F98CAD3B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673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5E5B9-0BF3-459A-9524-CB2D74B1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772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53E55-4EFC-4362-B2C3-EF0AE973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43575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Turn good practices into shared Skills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31820-5B9A-4E5B-9BA0-F19DD997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103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36628-235F-4DDB-AB74-8F2DF502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150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96D84-2663-49C1-B823-40AE6178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8650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Remain accountable for the business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B783B-AFFB-4D39-9DDF-F1C40404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6675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064"/>
                </a:solidFill>
              </a:defRPr>
            </a:pPr>
            <a:r>
              <a:rPr sz="750" b="0">
                <a:solidFill>
                  <a:srgbClr val="5F6064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94E704-C069-40B8-A6A2-E9771EAC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B9715-3F4C-4B07-9450-B72AAC37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858740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8C6BC3-C638-4E89-9822-0559FE80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A0A0A"/>
                </a:solidFill>
              </a:defRPr>
            </a:pPr>
            <a:r>
              <a:rPr sz="3300" b="0">
                <a:solidFill>
                  <a:srgbClr val="0A0A0A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E2DFC-490A-4A2A-AEAB-E3F4489A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43075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9FD1E-FCE5-4D89-97FC-291C539B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7450"/>
            <a:ext cx="471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0A0A"/>
                </a:solidFill>
              </a:defRPr>
            </a:pPr>
            <a:r>
              <a:rPr sz="825" b="1">
                <a:solidFill>
                  <a:srgbClr val="0A0A0A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CD289-1C98-4CCE-9502-1F7155AC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81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0CA58-A898-40FB-AAD8-377BBD16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086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A0A0A"/>
                </a:solidFill>
              </a:defRPr>
            </a:pPr>
            <a:r>
              <a:rPr sz="953" b="0">
                <a:solidFill>
                  <a:srgbClr val="0A0A0A"/>
                </a:solidFill>
              </a:rPr>
              <a:t>One to three areas worth examining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3A10B-E574-42DC-949F-F3C0E5CD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C16AA-9305-4359-8854-5E7CFAFB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43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51E73-BA1D-411D-A8A5-55A52ED6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086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A0A0A"/>
                </a:solidFill>
              </a:defRPr>
            </a:pPr>
            <a:r>
              <a:rPr sz="953" b="0">
                <a:solidFill>
                  <a:srgbClr val="0A0A0A"/>
                </a:solidFill>
              </a:rPr>
              <a:t>An initial judgment on whether AI fits the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1C80E-E9F9-46E6-956D-EAE917C0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552F8-5059-4D7C-85F0-10339FE0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05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EA49E-C1AC-45DE-BBA1-BE41C64A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4086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A0A0A"/>
                </a:solidFill>
              </a:defRPr>
            </a:pPr>
            <a:r>
              <a:rPr sz="953" b="0">
                <a:solidFill>
                  <a:srgbClr val="0A0A0A"/>
                </a:solidFill>
              </a:rPr>
              <a:t>The data, systems, and people required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C8C63-B01A-4DCA-9132-1931EA86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8C65B-302D-455C-B9B0-B1DFE38B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67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88489-B0F2-405B-9788-829F2F6F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4086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A0A0A"/>
                </a:solidFill>
              </a:defRPr>
            </a:pPr>
            <a:r>
              <a:rPr sz="953" b="0">
                <a:solidFill>
                  <a:srgbClr val="0A0A0A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60979-33AD-4055-83FE-A94BE561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245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E1E34-46B2-439E-9B84-CBBD9770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29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7A6BD-3989-4921-894E-8778477D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00750"/>
            <a:ext cx="4086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0A0A0A"/>
                </a:solidFill>
              </a:defRPr>
            </a:pPr>
            <a:r>
              <a:rPr sz="953" b="0">
                <a:solidFill>
                  <a:srgbClr val="0A0A0A"/>
                </a:solidFill>
              </a:rPr>
              <a:t>An honest view on whether a pilot is worthwhile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9D308-6F33-4313-921C-7C4EAAFB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EA41B-C410-4DD1-8E53-2F830080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391501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75CD4-B0E8-482B-8CA8-5B3E22CA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A0A0A"/>
                </a:solidFill>
              </a:defRPr>
            </a:pPr>
            <a:r>
              <a:rPr sz="3000" b="0">
                <a:solidFill>
                  <a:srgbClr val="0A0A0A"/>
                </a:solidFill>
              </a:rPr>
              <a:t>WE MAY ALSO TELL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FB2D0-E0B3-41A3-A606-A824A992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621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93292-E8E9-4BA8-BAED-4FAE74DC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A0A0A"/>
                </a:solidFill>
              </a:defRPr>
            </a:pPr>
            <a:r>
              <a:rPr sz="1088" b="1">
                <a:solidFill>
                  <a:srgbClr val="0A0A0A"/>
                </a:solidFill>
              </a:rPr>
              <a:t>The problem does not need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1A9DD-C3F2-4AE4-9C0C-BEFA74BD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0EFA1-E708-4E58-A9FF-BFA502A0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80368-3863-4839-AC67-87863D8F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A0A0A"/>
                </a:solidFill>
              </a:defRPr>
            </a:pPr>
            <a:r>
              <a:rPr sz="1088" b="1">
                <a:solidFill>
                  <a:srgbClr val="0A0A0A"/>
                </a:solidFill>
              </a:rPr>
              <a:t>The data is not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A37F5-EAB0-43EE-970E-BBB99408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59386-2849-41FD-B960-7E1F0868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719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C0575-130D-42AD-ADE2-B4C84862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A0A0A"/>
                </a:solidFill>
              </a:defRPr>
            </a:pPr>
            <a:r>
              <a:rPr sz="1088" b="1">
                <a:solidFill>
                  <a:srgbClr val="0A0A0A"/>
                </a:solidFill>
              </a:rPr>
              <a:t>Fix the workflow before building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3A00F-D5E2-4688-BC7A-3057F986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110C7-2F7C-4A7B-895E-805AA93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76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15407-CB83-46CD-BAC9-4409D22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A0A0A"/>
                </a:solidFill>
              </a:defRPr>
            </a:pPr>
            <a:r>
              <a:rPr sz="1088" b="1">
                <a:solidFill>
                  <a:srgbClr val="0A0A0A"/>
                </a:solidFill>
              </a:rPr>
              <a:t>An existing product is better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9E417-BF18-40DA-B0FB-CADA31B9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15025"/>
            <a:ext cx="471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FEA7E-BCF9-42DA-9DDC-93A783BD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53150"/>
            <a:ext cx="4371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A0A0A"/>
                </a:solidFill>
              </a:defRPr>
            </a:pPr>
            <a:r>
              <a:rPr sz="863" b="0">
                <a:solidFill>
                  <a:srgbClr val="0A0A0A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22B94-B28D-40CB-9488-6FBFC17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49CAB-2FDF-413C-AA0D-C6578885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462303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67467-B012-41DB-AE17-EAA837CE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A0A0A"/>
                </a:solidFill>
              </a:defRPr>
            </a:pPr>
            <a:r>
              <a:rPr sz="2925" b="0">
                <a:solidFill>
                  <a:srgbClr val="0A0A0A"/>
                </a:solidFill>
              </a:rPr>
              <a:t>Which part of your business</a:t>
            </a:r>
          </a:p>
          <a:p xmlns:a="http://schemas.openxmlformats.org/drawingml/2006/main">
            <a:pPr algn="l">
              <a:defRPr sz="2925" b="0">
                <a:solidFill>
                  <a:srgbClr val="0A0A0A"/>
                </a:solidFill>
              </a:defRPr>
            </a:pPr>
            <a:r>
              <a:rPr sz="2925" b="0">
                <a:solidFill>
                  <a:srgbClr val="0A0A0A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7780A-7C3A-44AF-B620-99D60B2F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38350"/>
            <a:ext cx="2476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BFF"/>
                </a:solidFill>
              </a:defRPr>
            </a:pPr>
            <a:r>
              <a:rPr sz="1050" b="1">
                <a:solidFill>
                  <a:srgbClr val="145BFF"/>
                </a:solidFill>
              </a:rPr>
              <a:t>10 companies per day</a:t>
            </a:r>
          </a:p>
          <a:p xmlns:a="http://schemas.openxmlformats.org/drawingml/2006/main">
            <a:pPr algn="l">
              <a:defRPr sz="1050" b="1">
                <a:solidFill>
                  <a:srgbClr val="145BFF"/>
                </a:solidFill>
              </a:defRPr>
            </a:pPr>
            <a:r>
              <a:rPr sz="1050" b="1">
                <a:solidFill>
                  <a:srgbClr val="145B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8EFF7-D97C-4253-A380-02E76D40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9775"/>
            <a:ext cx="14573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AC517-7628-4F57-AB74-FF040C0F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19375"/>
            <a:ext cx="1457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1E496-E91E-40AF-88FF-C1C6C1E9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99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A0A0A"/>
                </a:solidFill>
              </a:defRPr>
            </a:pPr>
            <a:r>
              <a:rPr sz="825" b="1">
                <a:solidFill>
                  <a:srgbClr val="0A0A0A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E9F62-7305-40E1-92A0-12707C34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861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960F7-2D1A-44AB-A85C-30931658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A0A0A"/>
                </a:solidFill>
              </a:defRPr>
            </a:pPr>
            <a:r>
              <a:rPr sz="885" b="0">
                <a:solidFill>
                  <a:srgbClr val="0A0A0A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24F55-C0B6-4B18-B2D6-0E7EC8E7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00B60-27E5-4FBE-831F-2274EDEA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386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70A9F-711C-457F-8414-268333BC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A0A0A"/>
                </a:solidFill>
              </a:defRPr>
            </a:pPr>
            <a:r>
              <a:rPr sz="885" b="0">
                <a:solidFill>
                  <a:srgbClr val="0A0A0A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E1D96-1F02-4DA7-863C-172C79EB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A5D89-0CDF-4D7D-AEC3-47EF6C2D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910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F0517-5519-4C7F-AF49-31B7D5FF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A0A0A"/>
                </a:solidFill>
              </a:defRPr>
            </a:pPr>
            <a:r>
              <a:rPr sz="885" b="0">
                <a:solidFill>
                  <a:srgbClr val="0A0A0A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386E0-3F7B-4BAE-B237-41CF2D6D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741F1-5434-4C71-9AEA-2BDA4FB1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84479-490E-4774-96EA-C2460330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A0A0A"/>
                </a:solidFill>
              </a:defRPr>
            </a:pPr>
            <a:r>
              <a:rPr sz="885" b="0">
                <a:solidFill>
                  <a:srgbClr val="0A0A0A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A92A3-0EFF-4EE5-AFC8-F0465F1D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912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64D83-631A-444B-9FA0-61869F04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8959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83900-6BBC-4EE7-8277-377BD04B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674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A0A0A"/>
                </a:solidFill>
              </a:defRPr>
            </a:pPr>
            <a:r>
              <a:rPr sz="885" b="0">
                <a:solidFill>
                  <a:srgbClr val="0A0A0A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059EC-514B-490B-8026-4F3C778D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81775"/>
            <a:ext cx="471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A1573-101A-4C34-AAA1-4768F27E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89610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064"/>
                </a:solidFill>
              </a:defRPr>
            </a:pPr>
            <a:r>
              <a:rPr sz="713" b="0">
                <a:solidFill>
                  <a:srgbClr val="5F6064"/>
                </a:solidFill>
              </a:rPr>
              <a:t>[Brand name]</a:t>
            </a:r>
          </a:p>
          <a:p xmlns:a="http://schemas.openxmlformats.org/drawingml/2006/main">
            <a:pPr algn="l">
              <a:defRPr sz="713" b="0">
                <a:solidFill>
                  <a:srgbClr val="5F6064"/>
                </a:solidFill>
              </a:defRPr>
            </a:pPr>
            <a:r>
              <a:rPr sz="713" b="0">
                <a:solidFill>
                  <a:srgbClr val="5F6064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6D381-9E98-4320-8622-A5BEBFB0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23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0D696-8540-4ECC-B663-D1C67288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6273247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ED520-6259-46F9-B3A6-43CC8D3B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4714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A0A"/>
                </a:solidFill>
              </a:defRPr>
            </a:pPr>
            <a:r>
              <a:rPr sz="1725" b="0">
                <a:solidFill>
                  <a:srgbClr val="0A0A0A"/>
                </a:solidFill>
              </a:rPr>
              <a:t>Start with one problem you can understand, complete, and measure.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FA9C9-4CC4-4E62-B608-98AEAC5C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66484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FDE</a:t>
            </a:r>
          </a:p>
        </p:txBody>
      </p:sp>
    </p:spTree>
    <p:extLst>
      <p:ext uri="{BB962C8B-B14F-4D97-AF65-F5344CB8AC3E}">
        <p14:creationId xmlns:p14="http://schemas.microsoft.com/office/powerpoint/2010/main" val="1102170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2026-08-24T04:03:59.4660000Z</dcterms:created>
  <dcterms:modified xsi:type="dcterms:W3CDTF">2026-08-24T04:03:59.4660000Z</dcterms:modified>
</coreProperties>
</file>