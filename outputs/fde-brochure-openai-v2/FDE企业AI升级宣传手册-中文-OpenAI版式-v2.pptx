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0d027291f14757" /><Relationship Type="http://schemas.openxmlformats.org/officeDocument/2006/relationships/extended-properties" Target="/docProps/app.xml" Id="R355dd50c2b944d7b" /><Relationship Type="http://schemas.openxmlformats.org/officeDocument/2006/relationships/officeDocument" Target="/ppt/presentation.xml" Id="R4c381291c3bb44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0d5004c37b4bce"/>
  </p:sldMasterIdLst>
  <p:notesMasterIdLst>
    <p:notesMasterId xmlns:r="http://schemas.openxmlformats.org/officeDocument/2006/relationships" r:id="R42c00c69f94d4ce5"/>
  </p:notesMasterIdLst>
  <p:sldIdLst>
    <p:sldId xmlns:r="http://schemas.openxmlformats.org/officeDocument/2006/relationships" id="256" r:id="R4e223d31a3974ef9"/>
    <p:sldId xmlns:r="http://schemas.openxmlformats.org/officeDocument/2006/relationships" id="257" r:id="Re18056a0b7184a1d"/>
    <p:sldId xmlns:r="http://schemas.openxmlformats.org/officeDocument/2006/relationships" id="258" r:id="Rd3e9977099b44517"/>
    <p:sldId xmlns:r="http://schemas.openxmlformats.org/officeDocument/2006/relationships" id="259" r:id="R54ac7a9946df4e26"/>
    <p:sldId xmlns:r="http://schemas.openxmlformats.org/officeDocument/2006/relationships" id="260" r:id="R59891878a0074dd5"/>
    <p:sldId xmlns:r="http://schemas.openxmlformats.org/officeDocument/2006/relationships" id="261" r:id="Rd635ca9fa3f547da"/>
    <p:sldId xmlns:r="http://schemas.openxmlformats.org/officeDocument/2006/relationships" id="262" r:id="Rede8f6528ba34233"/>
    <p:sldId xmlns:r="http://schemas.openxmlformats.org/officeDocument/2006/relationships" id="263" r:id="R0593b53a870e4fe1"/>
    <p:sldId xmlns:r="http://schemas.openxmlformats.org/officeDocument/2006/relationships" id="264" r:id="R5d6b8f7ef1714518"/>
    <p:sldId xmlns:r="http://schemas.openxmlformats.org/officeDocument/2006/relationships" id="265" r:id="Rc349bc9194c541f2"/>
    <p:sldId xmlns:r="http://schemas.openxmlformats.org/officeDocument/2006/relationships" id="266" r:id="Rdf56f8c10e10443c"/>
    <p:sldId xmlns:r="http://schemas.openxmlformats.org/officeDocument/2006/relationships" id="267" r:id="R1b9baba4e98e4001"/>
    <p:sldId xmlns:r="http://schemas.openxmlformats.org/officeDocument/2006/relationships" id="268" r:id="Rab66c45ff72b4729"/>
    <p:sldId xmlns:r="http://schemas.openxmlformats.org/officeDocument/2006/relationships" id="269" r:id="Rd9c4a0473bec47ee"/>
    <p:sldId xmlns:r="http://schemas.openxmlformats.org/officeDocument/2006/relationships" id="270" r:id="R37bd4aa448fe4760"/>
    <p:sldId xmlns:r="http://schemas.openxmlformats.org/officeDocument/2006/relationships" id="271" r:id="R930b4a326b3f4951"/>
    <p:sldId xmlns:r="http://schemas.openxmlformats.org/officeDocument/2006/relationships" id="272" r:id="R9cec3bcdfdac4e20"/>
    <p:sldId xmlns:r="http://schemas.openxmlformats.org/officeDocument/2006/relationships" id="273" r:id="R80301c0d4a584e0f"/>
    <p:sldId xmlns:r="http://schemas.openxmlformats.org/officeDocument/2006/relationships" id="274" r:id="R5b9faa741df04a05"/>
    <p:sldId xmlns:r="http://schemas.openxmlformats.org/officeDocument/2006/relationships" id="275" r:id="R94f0d0d35d134878"/>
    <p:sldId xmlns:r="http://schemas.openxmlformats.org/officeDocument/2006/relationships" id="276" r:id="R4eb11f91d2d947f8"/>
    <p:sldId xmlns:r="http://schemas.openxmlformats.org/officeDocument/2006/relationships" id="277" r:id="R201fa7476af44850"/>
    <p:sldId xmlns:r="http://schemas.openxmlformats.org/officeDocument/2006/relationships" id="278" r:id="Rba5f6e044a6a4cda"/>
    <p:sldId xmlns:r="http://schemas.openxmlformats.org/officeDocument/2006/relationships" id="279" r:id="Ra5820c121d7744d6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63b554db1435e" /><Relationship Type="http://schemas.openxmlformats.org/officeDocument/2006/relationships/slideMaster" Target="/ppt/slideMasters/slideMaster1.xml" Id="Rb00d5004c37b4bce" /><Relationship Type="http://schemas.openxmlformats.org/officeDocument/2006/relationships/notesMaster" Target="/ppt/notesMasters/notesMaster1.xml" Id="R42c00c69f94d4ce5" /><Relationship Type="http://schemas.openxmlformats.org/officeDocument/2006/relationships/presProps" Target="/ppt/presProps.xml" Id="R61b78be3c5a84ab8" /><Relationship Type="http://schemas.openxmlformats.org/officeDocument/2006/relationships/tableStyles" Target="/ppt/tableStyles.xml" Id="Rba7b6e6cdd59404a" /><Relationship Type="http://schemas.openxmlformats.org/officeDocument/2006/relationships/slide" Target="/ppt/slides/slide1.xml" Id="R4e223d31a3974ef9" /><Relationship Type="http://schemas.openxmlformats.org/officeDocument/2006/relationships/slide" Target="/ppt/slides/slide2.xml" Id="Re18056a0b7184a1d" /><Relationship Type="http://schemas.openxmlformats.org/officeDocument/2006/relationships/slide" Target="/ppt/slides/slide3.xml" Id="Rd3e9977099b44517" /><Relationship Type="http://schemas.openxmlformats.org/officeDocument/2006/relationships/slide" Target="/ppt/slides/slide4.xml" Id="R54ac7a9946df4e26" /><Relationship Type="http://schemas.openxmlformats.org/officeDocument/2006/relationships/slide" Target="/ppt/slides/slide5.xml" Id="R59891878a0074dd5" /><Relationship Type="http://schemas.openxmlformats.org/officeDocument/2006/relationships/slide" Target="/ppt/slides/slide6.xml" Id="Rd635ca9fa3f547da" /><Relationship Type="http://schemas.openxmlformats.org/officeDocument/2006/relationships/slide" Target="/ppt/slides/slide7.xml" Id="Rede8f6528ba34233" /><Relationship Type="http://schemas.openxmlformats.org/officeDocument/2006/relationships/slide" Target="/ppt/slides/slide8.xml" Id="R0593b53a870e4fe1" /><Relationship Type="http://schemas.openxmlformats.org/officeDocument/2006/relationships/slide" Target="/ppt/slides/slide9.xml" Id="R5d6b8f7ef1714518" /><Relationship Type="http://schemas.openxmlformats.org/officeDocument/2006/relationships/slide" Target="/ppt/slides/slide10.xml" Id="Rc349bc9194c541f2" /><Relationship Type="http://schemas.openxmlformats.org/officeDocument/2006/relationships/slide" Target="/ppt/slides/slide11.xml" Id="Rdf56f8c10e10443c" /><Relationship Type="http://schemas.openxmlformats.org/officeDocument/2006/relationships/slide" Target="/ppt/slides/slide12.xml" Id="R1b9baba4e98e4001" /><Relationship Type="http://schemas.openxmlformats.org/officeDocument/2006/relationships/slide" Target="/ppt/slides/slide13.xml" Id="Rab66c45ff72b4729" /><Relationship Type="http://schemas.openxmlformats.org/officeDocument/2006/relationships/slide" Target="/ppt/slides/slide14.xml" Id="Rd9c4a0473bec47ee" /><Relationship Type="http://schemas.openxmlformats.org/officeDocument/2006/relationships/slide" Target="/ppt/slides/slide15.xml" Id="R37bd4aa448fe4760" /><Relationship Type="http://schemas.openxmlformats.org/officeDocument/2006/relationships/slide" Target="/ppt/slides/slide16.xml" Id="R930b4a326b3f4951" /><Relationship Type="http://schemas.openxmlformats.org/officeDocument/2006/relationships/slide" Target="/ppt/slides/slide17.xml" Id="R9cec3bcdfdac4e20" /><Relationship Type="http://schemas.openxmlformats.org/officeDocument/2006/relationships/slide" Target="/ppt/slides/slide18.xml" Id="R80301c0d4a584e0f" /><Relationship Type="http://schemas.openxmlformats.org/officeDocument/2006/relationships/slide" Target="/ppt/slides/slide19.xml" Id="R5b9faa741df04a05" /><Relationship Type="http://schemas.openxmlformats.org/officeDocument/2006/relationships/slide" Target="/ppt/slides/slide20.xml" Id="R94f0d0d35d134878" /><Relationship Type="http://schemas.openxmlformats.org/officeDocument/2006/relationships/slide" Target="/ppt/slides/slide21.xml" Id="R4eb11f91d2d947f8" /><Relationship Type="http://schemas.openxmlformats.org/officeDocument/2006/relationships/slide" Target="/ppt/slides/slide22.xml" Id="R201fa7476af44850" /><Relationship Type="http://schemas.openxmlformats.org/officeDocument/2006/relationships/slide" Target="/ppt/slides/slide23.xml" Id="Rba5f6e044a6a4cda" /><Relationship Type="http://schemas.openxmlformats.org/officeDocument/2006/relationships/slide" Target="/ppt/slides/slide24.xml" Id="Ra5820c121d7744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3add61e66e4f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68aa4a2e7d462f" /><Relationship Type="http://schemas.openxmlformats.org/officeDocument/2006/relationships/notesMaster" Target="/ppt/notesMasters/notesMaster1.xml" Id="R2d05daa6838c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8c25a6bd374553" /><Relationship Type="http://schemas.openxmlformats.org/officeDocument/2006/relationships/notesMaster" Target="/ppt/notesMasters/notesMaster1.xml" Id="Rb6edc7ad07bf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e8612d281f4e8b" /><Relationship Type="http://schemas.openxmlformats.org/officeDocument/2006/relationships/notesMaster" Target="/ppt/notesMasters/notesMaster1.xml" Id="Rdab29f2ec7e342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a5e77a8b2c4887" /><Relationship Type="http://schemas.openxmlformats.org/officeDocument/2006/relationships/notesMaster" Target="/ppt/notesMasters/notesMaster1.xml" Id="R140675a6f94e4a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eb257d45da4219" /><Relationship Type="http://schemas.openxmlformats.org/officeDocument/2006/relationships/notesMaster" Target="/ppt/notesMasters/notesMaster1.xml" Id="R4aef5a7bcb0c40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52f27173104c04" /><Relationship Type="http://schemas.openxmlformats.org/officeDocument/2006/relationships/notesMaster" Target="/ppt/notesMasters/notesMaster1.xml" Id="R38adeb0927c340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9223a6ea254e05" /><Relationship Type="http://schemas.openxmlformats.org/officeDocument/2006/relationships/notesMaster" Target="/ppt/notesMasters/notesMaster1.xml" Id="Re67eb358b40c48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17566f74cc44d0" /><Relationship Type="http://schemas.openxmlformats.org/officeDocument/2006/relationships/notesMaster" Target="/ppt/notesMasters/notesMaster1.xml" Id="R8723db93520c47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0c3142a4014ce9" /><Relationship Type="http://schemas.openxmlformats.org/officeDocument/2006/relationships/notesMaster" Target="/ppt/notesMasters/notesMaster1.xml" Id="R8d29fd6487cc4b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cda23a3f77477b" /><Relationship Type="http://schemas.openxmlformats.org/officeDocument/2006/relationships/notesMaster" Target="/ppt/notesMasters/notesMaster1.xml" Id="R996cf1bf72f543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815c47952342e9" /><Relationship Type="http://schemas.openxmlformats.org/officeDocument/2006/relationships/notesMaster" Target="/ppt/notesMasters/notesMaster1.xml" Id="R1efba2a77e6146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d3b2987f6847e2" /><Relationship Type="http://schemas.openxmlformats.org/officeDocument/2006/relationships/notesMaster" Target="/ppt/notesMasters/notesMaster1.xml" Id="R85d7ab275d0545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cb956fc44745dc" /><Relationship Type="http://schemas.openxmlformats.org/officeDocument/2006/relationships/notesMaster" Target="/ppt/notesMasters/notesMaster1.xml" Id="R11e6260d63e647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ab06cfe6de4b3c" /><Relationship Type="http://schemas.openxmlformats.org/officeDocument/2006/relationships/notesMaster" Target="/ppt/notesMasters/notesMaster1.xml" Id="R1f0969f9fa6f46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43443e952a48d8" /><Relationship Type="http://schemas.openxmlformats.org/officeDocument/2006/relationships/notesMaster" Target="/ppt/notesMasters/notesMaster1.xml" Id="Rb24989d3e76a48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363401302144bd" /><Relationship Type="http://schemas.openxmlformats.org/officeDocument/2006/relationships/notesMaster" Target="/ppt/notesMasters/notesMaster1.xml" Id="R3ff0ecec338d47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0256ae54554ba9" /><Relationship Type="http://schemas.openxmlformats.org/officeDocument/2006/relationships/notesMaster" Target="/ppt/notesMasters/notesMaster1.xml" Id="Rd744d3ea5eb245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0e65557487489e" /><Relationship Type="http://schemas.openxmlformats.org/officeDocument/2006/relationships/notesMaster" Target="/ppt/notesMasters/notesMaster1.xml" Id="R75a19b96d09741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efc963788a4642" /><Relationship Type="http://schemas.openxmlformats.org/officeDocument/2006/relationships/notesMaster" Target="/ppt/notesMasters/notesMaster1.xml" Id="Raae05843494c4b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c1c7a4e86e4d8f" /><Relationship Type="http://schemas.openxmlformats.org/officeDocument/2006/relationships/notesMaster" Target="/ppt/notesMasters/notesMaster1.xml" Id="R7cafa33a6b9340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c33e2fd9924ff9" /><Relationship Type="http://schemas.openxmlformats.org/officeDocument/2006/relationships/notesMaster" Target="/ppt/notesMasters/notesMaster1.xml" Id="Re3211e70b3e14e8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bc52ae150c4abf" /><Relationship Type="http://schemas.openxmlformats.org/officeDocument/2006/relationships/notesMaster" Target="/ppt/notesMasters/notesMaster1.xml" Id="Rc2d16ffb039148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ecb5f11e1942d5" /><Relationship Type="http://schemas.openxmlformats.org/officeDocument/2006/relationships/notesMaster" Target="/ppt/notesMasters/notesMaster1.xml" Id="R6ee1b825d1b9434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5733e59803419d" /><Relationship Type="http://schemas.openxmlformats.org/officeDocument/2006/relationships/notesMaster" Target="/ppt/notesMasters/notesMaster1.xml" Id="R7441af0b5b09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6099751f34a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bd7fb48744e53" /><Relationship Type="http://schemas.openxmlformats.org/officeDocument/2006/relationships/slideLayout" Target="/ppt/slideLayouts/slideLayout1.xml" Id="R15ed73ac232f4b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d73ac232f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a624cf0504904" /><Relationship Type="http://schemas.openxmlformats.org/officeDocument/2006/relationships/image" Target="/ppt/media/image.png" Id="R52c082e331114d7a" /><Relationship Type="http://schemas.openxmlformats.org/officeDocument/2006/relationships/notesSlide" Target="/ppt/notesSlides/notesSlide1.xml" Id="R72b721ac22b34a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0ef316c37432c" /><Relationship Type="http://schemas.openxmlformats.org/officeDocument/2006/relationships/notesSlide" Target="/ppt/notesSlides/notesSlide2.xml" Id="R36f12c21a1174c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617ca848c4418" /><Relationship Type="http://schemas.openxmlformats.org/officeDocument/2006/relationships/notesSlide" Target="/ppt/notesSlides/notesSlide3.xml" Id="R11786afb858345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e1af495f94e2d" /><Relationship Type="http://schemas.openxmlformats.org/officeDocument/2006/relationships/notesSlide" Target="/ppt/notesSlides/notesSlide4.xml" Id="R12bc7e1f44ed4a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9f75e472a4d68" /><Relationship Type="http://schemas.openxmlformats.org/officeDocument/2006/relationships/notesSlide" Target="/ppt/notesSlides/notesSlide5.xml" Id="Racda1534cb224a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48758263a4c2d" /><Relationship Type="http://schemas.openxmlformats.org/officeDocument/2006/relationships/notesSlide" Target="/ppt/notesSlides/notesSlide6.xml" Id="R4887be7425f24a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a670e17724fbc" /><Relationship Type="http://schemas.openxmlformats.org/officeDocument/2006/relationships/notesSlide" Target="/ppt/notesSlides/notesSlide7.xml" Id="Rb043f8e61b9f4a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b6de74a334a2b" /><Relationship Type="http://schemas.openxmlformats.org/officeDocument/2006/relationships/notesSlide" Target="/ppt/notesSlides/notesSlide8.xml" Id="R8d280ae744cc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99a813eb84932" /><Relationship Type="http://schemas.openxmlformats.org/officeDocument/2006/relationships/notesSlide" Target="/ppt/notesSlides/notesSlide9.xml" Id="R45448ab9a7a44b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eddefd56b4ef9" /><Relationship Type="http://schemas.openxmlformats.org/officeDocument/2006/relationships/notesSlide" Target="/ppt/notesSlides/notesSlide10.xml" Id="Rf060c901c9ed49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25d1537d045b9" /><Relationship Type="http://schemas.openxmlformats.org/officeDocument/2006/relationships/notesSlide" Target="/ppt/notesSlides/notesSlide11.xml" Id="Rd9c9b4c0870a4c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60f5656414237" /><Relationship Type="http://schemas.openxmlformats.org/officeDocument/2006/relationships/notesSlide" Target="/ppt/notesSlides/notesSlide12.xml" Id="R754a0a1b0b6243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437bdc33241a9" /><Relationship Type="http://schemas.openxmlformats.org/officeDocument/2006/relationships/notesSlide" Target="/ppt/notesSlides/notesSlide13.xml" Id="R575287193b0442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63ba4ecd94da7" /><Relationship Type="http://schemas.openxmlformats.org/officeDocument/2006/relationships/notesSlide" Target="/ppt/notesSlides/notesSlide14.xml" Id="R20b0d842472d49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0ba13a5ae4413" /><Relationship Type="http://schemas.openxmlformats.org/officeDocument/2006/relationships/notesSlide" Target="/ppt/notesSlides/notesSlide15.xml" Id="R5ef84932520a44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a0367935b4f4d" /><Relationship Type="http://schemas.openxmlformats.org/officeDocument/2006/relationships/notesSlide" Target="/ppt/notesSlides/notesSlide16.xml" Id="R3876e830a6a14e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7d455d99844a8" /><Relationship Type="http://schemas.openxmlformats.org/officeDocument/2006/relationships/notesSlide" Target="/ppt/notesSlides/notesSlide17.xml" Id="Rc4d6e39e76d74a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b78d42693438e" /><Relationship Type="http://schemas.openxmlformats.org/officeDocument/2006/relationships/notesSlide" Target="/ppt/notesSlides/notesSlide18.xml" Id="Recdb171c57c14e9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affa138c34655" /><Relationship Type="http://schemas.openxmlformats.org/officeDocument/2006/relationships/notesSlide" Target="/ppt/notesSlides/notesSlide19.xml" Id="R4ea3e446be1449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5d3e780d64563" /><Relationship Type="http://schemas.openxmlformats.org/officeDocument/2006/relationships/notesSlide" Target="/ppt/notesSlides/notesSlide20.xml" Id="R865725dd061442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de3b71e754436" /><Relationship Type="http://schemas.openxmlformats.org/officeDocument/2006/relationships/notesSlide" Target="/ppt/notesSlides/notesSlide21.xml" Id="Rc23b399c1cbc42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5f24182cc4aee" /><Relationship Type="http://schemas.openxmlformats.org/officeDocument/2006/relationships/notesSlide" Target="/ppt/notesSlides/notesSlide22.xml" Id="Rd1f09dfafccd4e5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469fce7d742cc" /><Relationship Type="http://schemas.openxmlformats.org/officeDocument/2006/relationships/notesSlide" Target="/ppt/notesSlides/notesSlide23.xml" Id="R7026fbcfeb55412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ac228aa704df2" /><Relationship Type="http://schemas.openxmlformats.org/officeDocument/2006/relationships/notesSlide" Target="/ppt/notesSlides/notesSlide24.xml" Id="Rd02c38af399c44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D9E91-22B9-4277-BB66-928059AA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1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3C93B-F855-48AD-90F7-97F04E05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57300"/>
            <a:ext cx="47148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第一步从哪里开始？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082e331114d7a"/>
          <a:srcRect xmlns:a="http://schemas.openxmlformats.org/drawingml/2006/main" l="0" t="2273" r="0" b="2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3886200"/>
            <a:ext cx="4714875" cy="3000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130FC-B9F9-4696-A7EA-53012C88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067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每天 10 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6B1A6-EC38-4134-9CCE-4D150EBD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0675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展会限定：免费企业 AI 诊断</a:t>
            </a:r>
          </a:p>
        </p:txBody>
      </p:sp>
    </p:spTree>
    <p:extLst>
      <p:ext uri="{BB962C8B-B14F-4D97-AF65-F5344CB8AC3E}">
        <p14:creationId xmlns:p14="http://schemas.microsoft.com/office/powerpoint/2010/main" val="686271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0726A-1759-4C36-A737-F6ACC382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0A0A"/>
                </a:solidFill>
              </a:defRPr>
            </a:pPr>
            <a:r>
              <a:rPr sz="1500" b="0">
                <a:solidFill>
                  <a:srgbClr val="0A0A0A"/>
                </a:solidFill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61504-3D7F-4C06-B338-5DC6F473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72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未来正在发生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26753-D7AA-49BD-9ED8-F7A40DDD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0572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BB000-F3AD-4828-9838-4A0D1991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09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企业为什么容易卡住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76C7E-38F1-434F-8AAC-6728B11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409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3CB12-22DA-428D-9F1E-589AF64A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62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FDE 怎么做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1EA8B-97AB-4408-8501-C777808F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62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E31A4-EE89-4CBA-BA34-A99227CC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14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我们能做什么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96659-5C4B-47C1-B2C4-28B5A0A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145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C2849-A216-4E8B-B870-C2338553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669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Agent Boss 与免费诊断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A7C2E-AFBB-4BF1-805F-7F61671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669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0574E-CFB9-4133-95E1-84284DDB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14900"/>
            <a:ext cx="471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</a:defRPr>
            </a:pPr>
            <a:r>
              <a:rPr sz="1125" b="0">
                <a:solidFill>
                  <a:srgbClr val="0A0A0A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defRPr sz="1125" b="0">
                <a:solidFill>
                  <a:srgbClr val="0A0A0A"/>
                </a:solidFill>
              </a:defRPr>
            </a:pPr>
            <a:r>
              <a:rPr sz="1125" b="0">
                <a:solidFill>
                  <a:srgbClr val="0A0A0A"/>
                </a:solidFill>
              </a:rPr>
              <a:t>再把它做成有人用、看得到结果的系统。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988A3-1616-4E27-8A10-82EA56E9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38825"/>
            <a:ext cx="471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业务诊断｜流程改造｜Skill｜定制 SaaS｜数据库｜Agent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ED5CB-DFBC-4689-BBB7-BB5001A6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913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5BFF"/>
                </a:solidFill>
              </a:defRPr>
            </a:pPr>
            <a:r>
              <a:rPr sz="938" b="0">
                <a:solidFill>
                  <a:srgbClr val="145BFF"/>
                </a:solidFill>
              </a:rPr>
              <a:t>展会限定：免费企业 AI 诊断</a:t>
            </a:r>
          </a:p>
          <a:p xmlns:a="http://schemas.openxmlformats.org/drawingml/2006/main">
            <a:pPr algn="l">
              <a:defRPr sz="938" b="0">
                <a:solidFill>
                  <a:srgbClr val="145BFF"/>
                </a:solidFill>
              </a:defRPr>
            </a:pPr>
            <a:r>
              <a:rPr sz="938" b="0">
                <a:solidFill>
                  <a:srgbClr val="145BFF"/>
                </a:solidFill>
              </a:rPr>
              <a:t>每天 10 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B1F17-A53B-49F9-A4CB-ABB4F67A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DA561-7226-4886-9265-E4668DE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23166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D5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554F2-EE6F-4B61-93FD-7D7085E4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A0A0A"/>
                </a:solidFill>
              </a:defRPr>
            </a:pPr>
            <a:r>
              <a:rPr sz="3825" b="0">
                <a:solidFill>
                  <a:srgbClr val="0A0A0A"/>
                </a:solidFill>
              </a:rPr>
              <a:t>未来正在发生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FA63A-876B-4596-A362-35527758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公司的运作效率，会随着 AI Native 程度拉开差距。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B4D1E-004B-478F-B146-E1E11B5F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337B0-E48F-4B1B-8067-4121B6EF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53021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CDE53D-008C-4D5D-AD18-4119E6A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AI 已经可以</a:t>
            </a:r>
          </a:p>
          <a:p xmlns:a="http://schemas.openxmlformats.org/drawingml/2006/main">
            <a:pPr algn="l">
              <a:defRPr sz="3600" b="0">
                <a:solidFill>
                  <a:srgbClr val="0A0A0A"/>
                </a:solidFill>
              </a:defRPr>
            </a:pPr>
            <a:r>
              <a:rPr sz="3600" b="0">
                <a:solidFill>
                  <a:srgbClr val="0A0A0A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C759B-1D8E-42E8-9B3E-0BDDF616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0025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A0A"/>
                </a:solidFill>
              </a:defRPr>
            </a:pPr>
            <a:r>
              <a:rPr sz="1125" b="1">
                <a:solidFill>
                  <a:srgbClr val="0A0A0A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0742B-B2EB-4713-8817-FDD209AF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28875"/>
            <a:ext cx="4714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2BCDD-FFDC-42FB-AA88-8A0D5E14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004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7F52D-0426-436C-AA17-0AE704D5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</a:defRPr>
            </a:pPr>
            <a:r>
              <a:rPr sz="1125" b="0">
                <a:solidFill>
                  <a:srgbClr val="0A0A0A"/>
                </a:solidFill>
              </a:rPr>
              <a:t>重复工作交给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B50BF-7ECF-4ACB-BC94-2796D263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0A5A4-C365-4F73-B62F-8A652D9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19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728D4-E4AA-4A28-B2D0-4FABA9B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</a:defRPr>
            </a:pPr>
            <a:r>
              <a:rPr sz="1125" b="0">
                <a:solidFill>
                  <a:srgbClr val="0A0A0A"/>
                </a:solidFill>
              </a:rPr>
              <a:t>人负责目标、判断和审核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D3BC6-681B-4CAF-BE09-19F0E64B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29F3B-1B1B-412B-B569-F261781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387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8598F-4023-43AC-9189-ED27F3F1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</a:defRPr>
            </a:pPr>
            <a:r>
              <a:rPr sz="1125" b="0">
                <a:solidFill>
                  <a:srgbClr val="0A0A0A"/>
                </a:solidFill>
              </a:rPr>
              <a:t>一个负责人可以带多个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D5FD9-FF3A-48FB-A949-A93B655D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530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077E1-51F4-449A-81CE-58F9AE3C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5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589CC-137B-4313-868B-393F2AB5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29275"/>
            <a:ext cx="4086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</a:defRPr>
            </a:pPr>
            <a:r>
              <a:rPr sz="1125" b="0">
                <a:solidFill>
                  <a:srgbClr val="0A0A0A"/>
                </a:solidFill>
              </a:rPr>
              <a:t>公司积累能反复使用的流程和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58F64-86D9-4D2D-B21B-54AA6C67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CDB91-5D18-4983-8547-4065EBF8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131899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1CD1A-18DB-4B67-95CC-8E4D7DB7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A0A0A"/>
                </a:solidFill>
              </a:defRPr>
            </a:pPr>
            <a:r>
              <a:rPr sz="3225" b="0">
                <a:solidFill>
                  <a:srgbClr val="0A0A0A"/>
                </a:solidFill>
              </a:rPr>
              <a:t>大公司正在形成</a:t>
            </a:r>
          </a:p>
          <a:p xmlns:a="http://schemas.openxmlformats.org/drawingml/2006/main">
            <a:pPr algn="l">
              <a:defRPr sz="3225" b="0">
                <a:solidFill>
                  <a:srgbClr val="0A0A0A"/>
                </a:solidFill>
              </a:defRPr>
            </a:pPr>
            <a:r>
              <a:rPr sz="3225" b="0">
                <a:solidFill>
                  <a:srgbClr val="0A0A0A"/>
                </a:solidFill>
              </a:rPr>
              <a:t>相同的判断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F8169-7FAC-4233-90E4-85DE2105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09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A1AD-FE34-4DEF-BC19-71A3CF58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Microsoft：员工将开始构建、分配和管理 Agent。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BFCD4-54F8-492B-83FA-A4E0E08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54CE1-5C83-4575-AE89-D801A30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76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EE931-CA8C-4EB6-A359-8A9A6068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OpenAI：Agent 能代表用户完成工作流。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1382E-46E1-4A46-B6EC-F29CAF54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B6613-6F7E-42D8-AAFF-41D797ED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43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D5D84-EF50-446F-9152-09789CC0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Google：企业 Agent 要连接数据、工具、记忆和运行环境。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78E41-36D4-4170-AC1E-F03B1CC1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134E3-5959-4BD4-B293-E7F22288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C9AF1-2084-4E94-BFE0-37DFFD8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4086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Anthropic：人更多决定做什么，Agent 更多负责怎么做。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7D816-B7ED-45C4-B51B-17D95729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3A601-46D8-4C55-98C6-1C37D445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923225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44314-34E6-493B-A0D9-477BDD8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AI 已经进入</a:t>
            </a:r>
          </a:p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真实业务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05DC1-18AF-4549-B72B-24C8D716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24075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A0A0A"/>
                </a:solidFill>
              </a:defRPr>
            </a:pPr>
            <a:r>
              <a:rPr sz="3675" b="0">
                <a:solidFill>
                  <a:srgbClr val="0A0A0A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40294-D46E-4558-B99D-E2DFE81F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62175"/>
            <a:ext cx="2924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9632-1244-416A-BC96-05113E9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0350"/>
            <a:ext cx="2924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064"/>
                </a:solidFill>
              </a:defRPr>
            </a:pPr>
            <a:r>
              <a:rPr sz="675" b="0">
                <a:solidFill>
                  <a:srgbClr val="5F6064"/>
                </a:solidFill>
              </a:rPr>
              <a:t>Microsoft · 31 个国家 / 31,000 名员工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4E2D7-D5DA-4A92-B785-ACBC306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385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10FA8-20AF-4BE9-AAE6-3978343D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90925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A0A0A"/>
                </a:solidFill>
              </a:defRPr>
            </a:pPr>
            <a:r>
              <a:rPr sz="3675" b="0">
                <a:solidFill>
                  <a:srgbClr val="0A0A0A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FD569-CF9B-4732-A938-20B09BDD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29025"/>
            <a:ext cx="2924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家企业客户在使用 OpenAI 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944D7-8AAB-4083-8B34-0493900B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2924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064"/>
                </a:solidFill>
              </a:defRPr>
            </a:pPr>
            <a:r>
              <a:rPr sz="675" b="0">
                <a:solidFill>
                  <a:srgbClr val="5F6064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AF024-DDD8-4C1F-9E4A-4DF035AD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053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0AB19-446E-498E-9679-71363EA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57775"/>
            <a:ext cx="1600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75" b="0">
                <a:solidFill>
                  <a:srgbClr val="0A0A0A"/>
                </a:solidFill>
              </a:defRPr>
            </a:pPr>
            <a:r>
              <a:rPr sz="3675" b="0">
                <a:solidFill>
                  <a:srgbClr val="0A0A0A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D056B-3BD8-4FDD-AED9-CBA5E5E9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2924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自 2 月以来，Codex 在法务部门的周活跃用户增长。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1C10E-9FE5-4DFF-A173-113D50F7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2924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6064"/>
                </a:solidFill>
              </a:defRPr>
            </a:pPr>
            <a:r>
              <a:rPr sz="675" b="0">
                <a:solidFill>
                  <a:srgbClr val="5F6064"/>
                </a:solidFill>
              </a:rPr>
              <a:t>销售 41× · 招聘 41× · 市场 26×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85464-813F-499D-9A25-2C5DC4B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4BDE7-3EFE-4BD9-A770-6E08A6DE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516650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5D3EF-CB68-449B-8DD2-EA5FC88B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已经进入生产的</a:t>
            </a:r>
          </a:p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公开案例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1FF04-D888-4D4D-B30B-0963223C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907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30619-3454-49D9-8FE7-24DDC7F9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Cisco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F8D10-19DD-4983-826E-81E509D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6220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064"/>
                </a:solidFill>
              </a:defRPr>
            </a:pPr>
            <a:r>
              <a:rPr sz="975" b="0">
                <a:solidFill>
                  <a:srgbClr val="5F6064"/>
                </a:solidFill>
              </a:rPr>
              <a:t>代码评审时间缩短 50%；部分项目从数周缩短到数天。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5C0EE-3A39-4628-B3D8-0D6C5E5F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231A-B7B7-4504-A903-98127E7D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390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FD286-90F2-43EF-BDBF-323A9C25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Carlyle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6381EE-F62A-4656-81EB-8E9A81B6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6232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064"/>
                </a:solidFill>
              </a:defRPr>
            </a:pPr>
            <a:r>
              <a:rPr sz="975" b="0">
                <a:solidFill>
                  <a:srgbClr val="5F6064"/>
                </a:solidFill>
              </a:rPr>
              <a:t>多 Agent 尽调系统开发时间减少超过 50%，准确率提高 30%。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A7466-25E5-45F1-B897-4737F85B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BD820-501B-4BB9-9C35-0D3C69F8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91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946ED-40A1-437B-AA45-CE7450E3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TELUS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C7E7F-D75F-448C-B714-87DBBC9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624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064"/>
                </a:solidFill>
              </a:defRPr>
            </a:pPr>
            <a:r>
              <a:rPr sz="975" b="0">
                <a:solidFill>
                  <a:srgbClr val="5F6064"/>
                </a:solidFill>
              </a:rPr>
              <a:t>每年节省 5,390 万美元；问题解决速度提高 87%。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205F2-AC82-4613-A2D9-7DCE6BD9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E61BE-D695-4152-8EB1-3DD3EBD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91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B30D2-8AE7-4E09-905A-4776821D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1238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Lowe’s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77B79-CC8F-4239-8BD2-57361AF3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62575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064"/>
                </a:solidFill>
              </a:defRPr>
            </a:pPr>
            <a:r>
              <a:rPr sz="975" b="0">
                <a:solidFill>
                  <a:srgbClr val="5F6064"/>
                </a:solidFill>
              </a:rPr>
              <a:t>在 1,700 多家门店为员工提供 AI 项目指导工具。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01D17-6CDD-4767-BF6B-BD19AD79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AC2B1-11F6-40A4-AB45-B9871395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110512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CE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47783-0958-4597-BEEC-25A410C0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A0A0A"/>
                </a:solidFill>
              </a:defRPr>
            </a:pPr>
            <a:r>
              <a:rPr sz="3825" b="0">
                <a:solidFill>
                  <a:srgbClr val="0A0A0A"/>
                </a:solidFill>
              </a:rPr>
              <a:t>想要升级提效，</a:t>
            </a:r>
          </a:p>
          <a:p xmlns:a="http://schemas.openxmlformats.org/drawingml/2006/main">
            <a:pPr algn="l">
              <a:defRPr sz="3825" b="0">
                <a:solidFill>
                  <a:srgbClr val="0A0A0A"/>
                </a:solidFill>
              </a:defRPr>
            </a:pPr>
            <a:r>
              <a:rPr sz="3825" b="0">
                <a:solidFill>
                  <a:srgbClr val="0A0A0A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58C08-803E-42BC-A851-0B6051BE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9E705-D541-40A9-A46B-1B6C2CDA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7AC13-FE60-4078-BB49-B6A7D339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618627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8A0F5F-9172-4255-A9B5-A386DD3D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0A0A0A"/>
                </a:solidFill>
              </a:defRPr>
            </a:pPr>
            <a:r>
              <a:rPr sz="3525" b="0">
                <a:solidFill>
                  <a:srgbClr val="0A0A0A"/>
                </a:solidFill>
              </a:rPr>
              <a:t>很多企业</a:t>
            </a:r>
          </a:p>
          <a:p xmlns:a="http://schemas.openxmlformats.org/drawingml/2006/main">
            <a:pPr algn="l">
              <a:defRPr sz="3525" b="0">
                <a:solidFill>
                  <a:srgbClr val="0A0A0A"/>
                </a:solidFill>
              </a:defRPr>
            </a:pPr>
            <a:r>
              <a:rPr sz="3525" b="0">
                <a:solidFill>
                  <a:srgbClr val="0A0A0A"/>
                </a:solidFill>
              </a:rPr>
              <a:t>已经试过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FDD2A-D7C3-4F44-8E73-DD5F3DEF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52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06F4D-2A41-4841-B046-A1DE47C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买过会员，员工偶尔问几个问题；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DD883-D124-4001-854A-A96C4D3E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D23D2-C4A9-43A1-A86C-170599D5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33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1EFB7-4539-456C-A3F3-FDC57924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86468-8180-4C1D-9FE9-677A612A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99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20A81-9D64-4DB4-91BC-AE26F7EB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14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0C7B5-8C33-4565-9EE5-43183B88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看了很多案例，回到自己公司却套不上；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83A8F-F1D6-4C9F-B5FE-93260438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E51CF-A38C-4E25-AF20-76A13939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95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4894C-457E-4EFB-B520-00A8191E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每个部门都说有需求，但排不出先后；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33BBD-72BA-42F4-BD07-5B184E73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720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8BF76-6309-459E-A41E-AFF3B279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76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A5D7F-2872-471D-9378-81B4B8AB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资料散在微信、Excel、PDF、网盘和员工电脑里；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9DAF9-CA1F-4EB7-8297-0075778E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531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62B4E-68F9-4577-B79C-54EF146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57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AAAA9-9728-46AA-8136-86F5545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29325"/>
            <a:ext cx="4086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担心数据安全，也不知道 Agent 能开放多大权限。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7763F-96DD-4FA9-A88E-75B8A9C6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0C150-5C04-4941-9140-D97ED5D6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95997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40193-BB78-4588-89B9-446716A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A0A0A"/>
                </a:solidFill>
              </a:defRPr>
            </a:pPr>
            <a:r>
              <a:rPr sz="3225" b="0">
                <a:solidFill>
                  <a:srgbClr val="0A0A0A"/>
                </a:solidFill>
              </a:rPr>
              <a:t>AI 升级横跨了四件事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1C267-A6DE-428A-B46E-AA7A89CD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764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少一层，项目就容易停住。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A0D96-742E-4AEF-BDBB-3DEAF381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669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C59E2-3F93-4078-8FFF-44B8B4DC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老板想要的结果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03BF8-623E-44D0-8390-64F7EA76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E0749-4ABA-4F8E-90CB-CEBDB960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19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18078-3D62-4AC9-8A60-A44F9621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一线员工的工作流程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AC7AF-EEFE-4B30-A871-D4334442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909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1E404-92F0-4F34-B2AE-161309B0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719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DE145-217B-4CE6-B378-7A29150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数据和系统在哪里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16A91-0D3E-4749-93B2-1D975175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0AE9A-47A2-4221-AD70-C9BF6E40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24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0973F-87C0-402F-A1A4-97DB65CF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技术怎么做出来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61FF2-4BEF-41E0-A934-E1E73BEA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DBCDA-E056-41EC-84B7-B0F84F09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63672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AB217-603F-47A4-B815-EEAB99CD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为什么自己做</a:t>
            </a:r>
          </a:p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容易卡住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61DA3-64C8-48A4-80B2-5C30D593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71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5A95A-A61B-446B-BFF2-0E2F1D8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只听老板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534A7-3FE6-4AE4-B9C0-C572D89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4312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064"/>
                </a:solidFill>
              </a:defRPr>
            </a:pPr>
            <a:r>
              <a:rPr sz="938" b="0">
                <a:solidFill>
                  <a:srgbClr val="5F6064"/>
                </a:solidFill>
              </a:rPr>
              <a:t>方向很大，但找不到具体从哪项工作开始。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F3AD1-AD09-41DA-86A7-2706FFA0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D60EA-8402-46FC-B0C8-55BD73B1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05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74C8A-399B-4CE4-B130-F9FF6507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7657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只听一线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9F479-5905-4FD6-9444-31E31D1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7657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064"/>
                </a:solidFill>
              </a:defRPr>
            </a:pPr>
            <a:r>
              <a:rPr sz="938" b="0">
                <a:solidFill>
                  <a:srgbClr val="5F6064"/>
                </a:solidFill>
              </a:rPr>
              <a:t>会得到很多零散需求，却不知道哪个最值得投入。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BFFE8-E710-4A42-BFB6-2E61B637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5CC98-4D65-49C7-8EDC-A3C74773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0002A-4755-4AFB-AE7D-D6A11A01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只找软件公司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04AFE-1715-48EB-9E2A-2A30B74A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01002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064"/>
                </a:solidFill>
              </a:defRPr>
            </a:pPr>
            <a:r>
              <a:rPr sz="938" b="0">
                <a:solidFill>
                  <a:srgbClr val="5F6064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71854-30F5-47E7-9C54-25A2C5E3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617EE-4CFA-45F1-822A-5241D7AA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72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2FDA5-45B2-47B7-8ED6-7C086519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直接买标准产品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C9C9F-75E4-4AF5-BA37-5A58062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4347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064"/>
                </a:solidFill>
              </a:defRPr>
            </a:pPr>
            <a:r>
              <a:rPr sz="938" b="0">
                <a:solidFill>
                  <a:srgbClr val="5F6064"/>
                </a:solidFill>
              </a:rPr>
              <a:t>上线很快，但公司的流程不一定适合它。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67DBF-EC9C-486F-831A-79D2CCC0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007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746B9-9612-4999-A681-201509F4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05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39BCC-C974-4184-99CF-D7266FFC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7692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A0A0A"/>
                </a:solidFill>
              </a:defRPr>
            </a:pPr>
            <a:r>
              <a:rPr sz="1088" b="1">
                <a:solidFill>
                  <a:srgbClr val="0A0A0A"/>
                </a:solidFill>
              </a:rPr>
              <a:t>一开始就建大平台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E3E04-195B-4C7D-90F5-FD01B3C3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876925"/>
            <a:ext cx="2609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064"/>
                </a:solidFill>
              </a:defRPr>
            </a:pPr>
            <a:r>
              <a:rPr sz="938" b="0">
                <a:solidFill>
                  <a:srgbClr val="5F6064"/>
                </a:solidFill>
              </a:rPr>
              <a:t>钱和时间先花出去了，业务价值还没有验证。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78F16F-4184-456B-87A1-A152BD01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5FFA1-AC67-4CE6-B1BA-BB0A733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376901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955B7-585C-41F8-B61E-FEBC308D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FDE 从模糊问题开始，</a:t>
            </a:r>
          </a:p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BDFBA-31F9-44F2-94CA-C233D064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47875"/>
            <a:ext cx="47148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5E86B-A738-45C8-8138-E445E86C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147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0A0A"/>
                </a:solidFill>
              </a:defRPr>
            </a:pPr>
            <a:r>
              <a:rPr sz="1050" b="1">
                <a:solidFill>
                  <a:srgbClr val="0A0A0A"/>
                </a:solidFill>
              </a:rPr>
              <a:t>问题看清后，再决定怎么做：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88501-C9D3-49F9-B387-696DDEE7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148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10FD1-38D3-4834-93DB-6B788BB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现成软件能解决，就直接用现成软件；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EF2DE-A256-43D7-BED9-CC151584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930E9-20A2-4677-8F07-3322934D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48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D5E96-AC75-49C1-A627-4F51C8A8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一个 Skill 能解决，就不做大系统；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7F83C-EFE5-473A-8434-E0DDA7F0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45AC8-0EFB-4B3A-8E2A-D51A892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816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10EA1-3F1C-4843-89F7-641882F7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需要连接原有系统，就做集成；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CE64A-0C8B-4AA1-84F4-2A87C63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0FBD0-22B3-4220-8618-8A732ADE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15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B9B7F-28E6-4D34-B017-605E606B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864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需要整理数据，就先建数据库或知识库；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F4936-C813-4397-B3A2-5AC7685D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436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B0917-7494-441F-B977-9908F1B1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4484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F9648-FA2C-4BAD-94E2-D90F752C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19850"/>
            <a:ext cx="4086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57DA5-234B-442C-9F82-16BA5279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0A238-32E8-484D-B511-23B36C9F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523945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D5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6D096-90D6-41A8-AF0D-C2F23E7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A0A0A"/>
                </a:solidFill>
              </a:defRPr>
            </a:pPr>
            <a:r>
              <a:rPr sz="3825" b="0">
                <a:solidFill>
                  <a:srgbClr val="0A0A0A"/>
                </a:solidFill>
              </a:rPr>
              <a:t>我们能做什么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398F0-DA03-465B-B769-22C5969B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从一个小工具，</a:t>
            </a:r>
          </a:p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到一次公司级 AI 升级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21967-EC54-4920-8EEA-3DC2E7E7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246A8-893C-4A09-A00B-69CC9E0A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928848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1A47A-FAAF-4700-ACBE-E5C1203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A0A0A"/>
                </a:solidFill>
              </a:defRPr>
            </a:pPr>
            <a:r>
              <a:rPr sz="2925" b="0">
                <a:solidFill>
                  <a:srgbClr val="0A0A0A"/>
                </a:solidFill>
              </a:rPr>
              <a:t>从具体问题和流程开始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D0982-951C-48FD-8553-324F319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05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D6C77-4AA0-4318-BA01-6678B4F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E7A40-FE50-4DE3-A110-FFEBF39E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F24B2-FE69-4276-9BA5-0067FA5F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企业专属 Skill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文档、表格和图片处理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报价、录单、对账、报告自动化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小型定制 SaaS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0394F-7608-4909-BDAE-58E21F18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适合：问题明确，希望尽快看到效果。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C115B-02B6-4633-9AE3-09B0F43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81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827FA-B6AA-4939-A220-5237261C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一条业务流程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803CF-CD3C-4696-B688-0F7FDC6A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EC9E3-4AAF-4FD8-898A-041BBAA2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访谈和流程整理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多角色 Agent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ERP、CRM、飞书、钉钉、企微等系统连接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异常处理和人工确认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进度、结果和操作记录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9B9AB-495D-4177-9915-F7A9283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627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适合：工作跨多人、跨系统，靠人工反复传递。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ACFF0-8167-4E8F-B6C9-A9476F0E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0E9DC-C2A7-4220-BC2E-BB9EAEED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6612337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D9575-805A-47E1-A9C0-B33A92E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A0A0A"/>
                </a:solidFill>
              </a:defRPr>
            </a:pPr>
            <a:r>
              <a:rPr sz="2925" b="0">
                <a:solidFill>
                  <a:srgbClr val="0A0A0A"/>
                </a:solidFill>
              </a:rPr>
              <a:t>再到数据和公司级升级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F60F5-A326-409F-B7F2-CC5EB141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050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25E94-8128-4CEE-A95F-5880D26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一套数据基础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794EF-6013-4F14-9922-EFC28D5C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4F63F-23B4-4184-8FF1-23105C6C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业务数据库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企业知识库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数据整理和统一命名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权限和使用范围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为 Agent 提供可信的数据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6B630-FE11-437A-A935-54AF694E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适合：资料很多，但找不到、用不准、无法共享。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CFDB0-EAFB-430B-B0D2-B8EA0D2A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81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68B58-D1A7-4BCC-84C9-ACE8F056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4086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A0A"/>
                </a:solidFill>
              </a:defRPr>
            </a:pPr>
            <a:r>
              <a:rPr sz="1350" b="1">
                <a:solidFill>
                  <a:srgbClr val="0A0A0A"/>
                </a:solidFill>
              </a:rPr>
              <a:t>一次公司级升级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17AB8-2009-4D91-A957-DC9B31C4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AE118-D9E5-42BD-80FF-B7428931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找出各部门适合 AI 的工作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重新设计人和 Agent 的分工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建立权限、审批和责任记录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制定试点顺序和后续计划</a:t>
            </a:r>
          </a:p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培训企业自己的 Agent Boss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8B952-315E-4DEA-AA23-025EB743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627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适合：老板希望系统推进，不想让各部门各自尝试。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0A8CE-63FD-4B06-BF9E-ACAA6AE4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71365-CA8B-4348-B5C8-B0EE8FC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772287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10212-8F41-4C49-8AF3-3541B1C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先做一次诊断，</a:t>
            </a:r>
          </a:p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7A331-B9C3-41DD-97C3-BAC513F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19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96352-CEBA-41C8-8A77-E6827F1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90725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8F030-6C3F-4DDD-91E2-60740A2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0E1D0-231F-4A8A-B4A4-B32139F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81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6831B-8963-439D-A54E-3EDCADD9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61B66-93AA-40B5-AC43-F967D14E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ABFF4-561D-4F85-9EA9-74FECE52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43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B5580-ACA9-4097-BF6C-F50154C1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14775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BDC3A-AC4E-463B-BE7A-B5F959CE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03294-7730-4907-9E4D-0DF41635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5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D5FC9-A755-4827-9C35-7B60E30D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D86FD-F966-4CCA-8CB1-75AD64FE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0D24A-CB3B-40E5-B7C2-8FC76E4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674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D73DB-846B-4134-883C-EDF51287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38825"/>
            <a:ext cx="4086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811B6-C112-4E05-9A03-9F61F631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7D3A3-A077-4FD7-BD03-77FE5CC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430187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52272-C548-42E5-8AC9-42B8CFA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不交一个演示，</a:t>
            </a:r>
          </a:p>
          <a:p xmlns:a="http://schemas.openxmlformats.org/drawingml/2006/main">
            <a:pPr algn="l">
              <a:defRPr sz="3150" b="0">
                <a:solidFill>
                  <a:srgbClr val="0A0A0A"/>
                </a:solidFill>
              </a:defRPr>
            </a:pPr>
            <a:r>
              <a:rPr sz="3150" b="0">
                <a:solidFill>
                  <a:srgbClr val="0A0A0A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8B89D-FB34-4E01-8CB8-40E0992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33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E1DD2-EA6F-4934-92DB-C916E5F1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33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原来的工作流程图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B2C4E-B241-44E5-9C12-6896FEDA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3360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368C3-1FC8-431F-903E-5982FE0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336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找到的问题和改造范围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89579-7B16-43B8-AC27-A8DE0C9E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1718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4C8C5-2494-409F-AA08-ED3FE98B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718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可以运行的原型或系统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0D7C4-73AB-405A-945F-867786F2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7182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9AD1A-45FA-4D9F-B1E8-636B992C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718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使用的数据和权限说明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87E95-F1B1-40BC-8E7F-7E8D2C96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10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2F015-4D0A-4F65-AB50-9C8E6F00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100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人和 Agent 各自负责什么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91D7D-B20A-49B3-A792-043E6AC1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10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7FA44-C02A-442F-9ACF-67338D9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2100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哪些动作需要人工确认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06675-A2FE-4227-9960-EA55D84B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482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883A2-1D4E-46E1-8834-CD4168C6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482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上线前后的对比方法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C1360-A129-407D-B467-D455359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482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A0A0A"/>
                </a:solidFill>
              </a:defRPr>
            </a:pPr>
            <a:r>
              <a:rPr sz="750" b="0">
                <a:solidFill>
                  <a:srgbClr val="0A0A0A"/>
                </a:solidFill>
              </a:rPr>
              <a:t>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41A22-4CD6-485F-A646-9DA794D2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2482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A0A0A"/>
                </a:solidFill>
              </a:defRPr>
            </a:pPr>
            <a:r>
              <a:rPr sz="1013" b="1">
                <a:solidFill>
                  <a:srgbClr val="0A0A0A"/>
                </a:solidFill>
              </a:rPr>
              <a:t>继续做、调整或停止的建议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028FE-263F-45C4-BD68-76E938F0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62700"/>
            <a:ext cx="471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A0A0A"/>
                </a:solidFill>
              </a:defRPr>
            </a:pPr>
            <a:r>
              <a:rPr sz="863" b="1">
                <a:solidFill>
                  <a:srgbClr val="0A0A0A"/>
                </a:solidFill>
              </a:rPr>
              <a:t>我们会提前写清楚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53B11C-5087-4906-9156-5C74542B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67500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谁负责 · 做到哪里算完成 · 什么不在这次范围内 · 怎么判断有没有效果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93287-A2AE-4C67-998D-C4C18A16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64517-36D3-4786-B7B7-8D6123DD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352319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863DC-4044-45F6-BCB7-0BF4D01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A0A0A"/>
                </a:solidFill>
              </a:defRPr>
            </a:pPr>
            <a:r>
              <a:rPr sz="2850" b="0">
                <a:solidFill>
                  <a:srgbClr val="0A0A0A"/>
                </a:solidFill>
              </a:rPr>
              <a:t>我们不只展示系统，</a:t>
            </a:r>
          </a:p>
          <a:p xmlns:a="http://schemas.openxmlformats.org/drawingml/2006/main">
            <a:pPr algn="l">
              <a:defRPr sz="2850" b="0">
                <a:solidFill>
                  <a:srgbClr val="0A0A0A"/>
                </a:solidFill>
              </a:defRPr>
            </a:pPr>
            <a:r>
              <a:rPr sz="2850" b="0">
                <a:solidFill>
                  <a:srgbClr val="0A0A0A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3D058-ED32-4EAA-9325-50C3AE3C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85950"/>
            <a:ext cx="4714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064"/>
                </a:solidFill>
              </a:defRPr>
            </a:pPr>
            <a:r>
              <a:rPr sz="863" b="0">
                <a:solidFill>
                  <a:srgbClr val="5F6064"/>
                </a:solidFill>
              </a:rPr>
              <a:t>具体案例等待客户确认。未获授权不放企业名称和 Logo；没有数据，不写百分比。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0717F-6519-46FD-90F3-4BD53A3E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14625"/>
            <a:ext cx="471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0A0A"/>
                </a:solidFill>
              </a:defRPr>
            </a:pPr>
            <a:r>
              <a:rPr sz="900" b="1">
                <a:solidFill>
                  <a:srgbClr val="0A0A0A"/>
                </a:solidFill>
              </a:rPr>
              <a:t>我们服务过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577C5-15FD-4140-9BCA-1E012BFB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C4534-19BB-476F-BC23-361AED3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F3810-F3EB-4BA2-9CCC-4B474113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5EE41-B580-42AD-A6D0-64D6B25C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57525"/>
            <a:ext cx="10382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7C2FF-559C-4E17-B42F-C6AC05C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48125"/>
            <a:ext cx="200025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4"/>
          </a:solidFill>
          <a:ln xmlns:a="http://schemas.openxmlformats.org/drawingml/2006/main" w="9525">
            <a:solidFill>
              <a:srgbClr val="9A9B9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75B38-F808-4B1A-8328-A099786E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53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F6064"/>
                </a:solidFill>
              </a:defRPr>
            </a:pPr>
            <a:r>
              <a:rPr sz="750" b="0">
                <a:solidFill>
                  <a:srgbClr val="5F6064"/>
                </a:solidFill>
              </a:rPr>
              <a:t>案例图片 / 系统截图位置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BB007-8BED-4776-8D44-22F8E8D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481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原来怎么做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25DC9-3736-42D1-A180-A8C2BAF1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4340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3D1B1-FC1A-44AC-9049-94F6DC88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624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我们发现的问题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BE4D5-4EFC-48E8-95A2-58751603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5775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AF80B-9107-4F9E-A17A-915E63E7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768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我们做了什么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2B813-0CBC-4274-B7A9-53124879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7210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84405-8519-412C-BA47-FD4E40F4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911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A0A0A"/>
                </a:solidFill>
              </a:defRPr>
            </a:pPr>
            <a:r>
              <a:rPr sz="938" b="1">
                <a:solidFill>
                  <a:srgbClr val="0A0A0A"/>
                </a:solidFill>
              </a:rPr>
              <a:t>上线后的变化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78072-A359-4580-A7CF-B4E16EC2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86450"/>
            <a:ext cx="23907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7A16B-037B-4BE3-B683-B6EABB2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35AB6-1B68-49DF-BA70-1898BE0B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144236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DCE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1F810-064E-4F7F-BD5C-B0DE9599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8625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A0A0A"/>
                </a:solidFill>
              </a:defRPr>
            </a:pPr>
            <a:r>
              <a:rPr sz="3825" b="0">
                <a:solidFill>
                  <a:srgbClr val="0A0A0A"/>
                </a:solidFill>
              </a:rPr>
              <a:t>Agent Boss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481A2-6469-4C8A-B2D8-4ABAB787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24550"/>
            <a:ext cx="4714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我们把这套培训叫做 Agent Boss。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CB5A0-B045-49B4-9F02-4BA5BC44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9E02F-88DD-49DD-AC67-1A821463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229985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2372E-058B-4B85-BDFE-38BF2F76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0A0A0A"/>
                </a:solidFill>
              </a:defRPr>
            </a:pPr>
            <a:r>
              <a:rPr sz="3075" b="0">
                <a:solidFill>
                  <a:srgbClr val="0A0A0A"/>
                </a:solidFill>
              </a:rPr>
              <a:t>系统上线了，</a:t>
            </a:r>
          </a:p>
          <a:p xmlns:a="http://schemas.openxmlformats.org/drawingml/2006/main">
            <a:pPr algn="l">
              <a:defRPr sz="3075" b="0">
                <a:solidFill>
                  <a:srgbClr val="0A0A0A"/>
                </a:solidFill>
              </a:defRPr>
            </a:pPr>
            <a:r>
              <a:rPr sz="3075" b="0">
                <a:solidFill>
                  <a:srgbClr val="0A0A0A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50160-5503-428D-A1CD-0119B4A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52625"/>
            <a:ext cx="471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A0A0A"/>
                </a:solidFill>
              </a:defRPr>
            </a:pPr>
            <a:r>
              <a:rPr sz="1013" b="0">
                <a:solidFill>
                  <a:srgbClr val="0A0A0A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B8692-CCF7-46BD-BA9D-9907EDBF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57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F0630-CCBE-4B42-A606-20EC388D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给 Agent 说清目标和完成标准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B567-D59D-4858-8415-4CF54037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51C88-0844-4788-9523-76C9573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04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A1EB9-35B5-45AE-B82A-AE742294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71875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判断哪些工作可以交出去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69944-F036-4345-8744-B3F9FE65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B7B30-02E6-40B8-96EE-97706481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43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7B0CF-8EB0-4708-823C-3CF105FC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检查 Agent 的过程和结果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59128-BBD6-409D-B480-02A9377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5697B-6B72-4763-9B3C-5C8C318F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86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E6F43-70B5-44CB-84C7-F3E26229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处理异常、退回修改或暂停任务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04A9F-CF26-4DA9-824D-A5EDF463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244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D077B-8478-4A88-825B-CE3635A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292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C786D-2739-43A6-8436-92E4BE8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管好数据、工具和权限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1EDD9-AD17-4815-943E-3B92782F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73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34196-A2A8-4B02-89C0-2A40293C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7721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2350B-F789-44DE-A7AB-D5F5065B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43575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把好用的方法做成团队共同使用的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D6EEC-358E-4B1F-B2C2-A8AD2958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103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3FF0D-4846-4833-B5D2-4A4C43C7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150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23BEA-27B2-4410-B13A-5670AF8E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86500"/>
            <a:ext cx="4086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对最后的业务结果负责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686B0-2DE7-44DC-9286-0D1DA70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675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064"/>
                </a:solidFill>
              </a:defRPr>
            </a:pPr>
            <a:r>
              <a:rPr sz="825" b="0">
                <a:solidFill>
                  <a:srgbClr val="5F6064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C5997-391C-4528-AE64-B86BD2D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AF82A-076E-496F-B773-3593A92B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0944974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0766A-B1B2-4D70-84CF-EBA39AC3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0A0A0A"/>
                </a:solidFill>
              </a:defRPr>
            </a:pPr>
            <a:r>
              <a:rPr sz="3525" b="0">
                <a:solidFill>
                  <a:srgbClr val="0A0A0A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5829D-3B40-4CCA-A4CA-574A5012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43075"/>
            <a:ext cx="471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099CB-5EB7-4A54-ABE4-73911731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7450"/>
            <a:ext cx="471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0A0A"/>
                </a:solidFill>
              </a:defRPr>
            </a:pPr>
            <a:r>
              <a:rPr sz="900" b="1">
                <a:solidFill>
                  <a:srgbClr val="0A0A0A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29E23-A021-4F7C-BD93-7B1643B4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81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F5ED2-9E69-4453-B2EE-17D0391D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目前最值得先看的 1—3 项工作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D9385-A940-4F0D-9A35-D98D0460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20ECC-98FF-4066-A893-62FA07F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43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B6CB3-F978-4D28-9BF9-02BED78A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这些工作适不适合用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01CDB-2D63-4071-BED3-8DEA5FB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D041B-0F5F-4C89-A1B9-43AB2D49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05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DB681-6F12-4349-98D3-9D094EC4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需要哪些数据、系统和人员参与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233F9-B6AD-4298-9427-22E5A799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AD4D7-0BCF-4559-9DA7-6DF416E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67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CA2A4-FD42-49A7-B913-48116335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更适合买现成软件、做 Skill、定制 SaaS、建数据库，还是先改流程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595C7-71CB-4BFA-9780-F11F670D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245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79784-7FAC-4FCA-A607-04838A02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029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75ACE-7FB4-4F67-B648-8FFD667B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00750"/>
            <a:ext cx="40862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</a:defRPr>
            </a:pPr>
            <a:r>
              <a:rPr sz="1050" b="0">
                <a:solidFill>
                  <a:srgbClr val="0A0A0A"/>
                </a:solidFill>
              </a:rPr>
              <a:t>是否值得做一个小试点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E4B29-4496-42CB-A2CC-BCABF975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DD198-5E6B-48FB-B796-97932976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156283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16858-72A3-4701-8D23-45737C56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A0A0A"/>
                </a:solidFill>
              </a:defRPr>
            </a:pPr>
            <a:r>
              <a:rPr sz="3375" b="0">
                <a:solidFill>
                  <a:srgbClr val="0A0A0A"/>
                </a:solidFill>
              </a:rPr>
              <a:t>我们也可能直接告诉你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A0C55-60D2-4F03-914F-70B9C3C0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1621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FD633-22FA-4163-A6BA-68935E24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这个问题不需要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53FE1-340A-4968-BF2D-0D5E99F8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296E-F572-461B-9143-CE41597D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D2B91-E32F-454D-A120-6C13737C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现在的数据条件还做不了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03C32-D343-4847-8E51-2AF520D1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5FDA0-BFB1-4E2E-8439-FC9AC052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9719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28698-1127-4078-942B-42A3E283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先把流程理顺，再考虑开发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F3476-1D68-44FB-9EFC-4698F73B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72025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F03B8-3C44-4239-A669-01D2B90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76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FAD23-2562-442D-B273-D351563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0A0A"/>
                </a:solidFill>
              </a:defRPr>
            </a:pPr>
            <a:r>
              <a:rPr sz="1200" b="1">
                <a:solidFill>
                  <a:srgbClr val="0A0A0A"/>
                </a:solidFill>
              </a:rPr>
              <a:t>买现成产品更划算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2FA4E-C3DC-453F-95AF-EBF74764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15025"/>
            <a:ext cx="471487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4DA1D-1E8A-46F3-979F-EE7D966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53150"/>
            <a:ext cx="4371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A0A0A"/>
                </a:solidFill>
              </a:defRPr>
            </a:pPr>
            <a:r>
              <a:rPr sz="938" b="0">
                <a:solidFill>
                  <a:srgbClr val="0A0A0A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0A6C6-170C-472B-A1EA-6D17E9FB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2C71F-AFFF-4DE4-9991-E81453B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6248413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8BF2D-1D6F-4641-AEC3-4EC6AA3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9575"/>
            <a:ext cx="4714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0A0A0A"/>
                </a:solidFill>
              </a:defRPr>
            </a:pPr>
            <a:r>
              <a:rPr sz="3300" b="0">
                <a:solidFill>
                  <a:srgbClr val="0A0A0A"/>
                </a:solidFill>
              </a:rPr>
              <a:t>你的企业，</a:t>
            </a:r>
          </a:p>
          <a:p xmlns:a="http://schemas.openxmlformats.org/drawingml/2006/main">
            <a:pPr algn="l">
              <a:defRPr sz="3300" b="0">
                <a:solidFill>
                  <a:srgbClr val="0A0A0A"/>
                </a:solidFill>
              </a:defRPr>
            </a:pPr>
            <a:r>
              <a:rPr sz="3300" b="0">
                <a:solidFill>
                  <a:srgbClr val="0A0A0A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A0EC5-0845-4915-AE7B-D8CC09A8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38350"/>
            <a:ext cx="2476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BFF"/>
                </a:solidFill>
              </a:defRPr>
            </a:pPr>
            <a:r>
              <a:rPr sz="1200" b="1">
                <a:solidFill>
                  <a:srgbClr val="145BFF"/>
                </a:solidFill>
              </a:rPr>
              <a:t>每天限 10 家</a:t>
            </a:r>
          </a:p>
          <a:p xmlns:a="http://schemas.openxmlformats.org/drawingml/2006/main">
            <a:pPr algn="l">
              <a:defRPr sz="1200" b="1">
                <a:solidFill>
                  <a:srgbClr val="145BFF"/>
                </a:solidFill>
              </a:defRPr>
            </a:pPr>
            <a:r>
              <a:rPr sz="1200" b="1">
                <a:solidFill>
                  <a:srgbClr val="145B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81FF7-1A53-4AEC-A630-2C5A5EEC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9775"/>
            <a:ext cx="1457325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A0A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67436-6D04-40A4-A443-D0E6D0DB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19375"/>
            <a:ext cx="1457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二维码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C1927-83A6-40C5-A26F-7837FC37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099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0A0A"/>
                </a:solidFill>
              </a:defRPr>
            </a:pPr>
            <a:r>
              <a:rPr sz="900" b="1">
                <a:solidFill>
                  <a:srgbClr val="0A0A0A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0A948-43A5-4D8F-92EF-CE21A92B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861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5E7AE-153E-4FB9-ACC7-FCCB15D9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企业和行业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5BF46-5AE4-490A-BBF5-D1EDF1A7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2A1D8-407B-4816-B365-A661A303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386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A4FEB-E773-4527-9C94-C65DA71B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最想改善的一项工作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B6CA6-F261-4B4B-B5A3-BD34D6A6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D25B8-1A86-4AD4-9FD7-260EAC71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910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97DD1-7D20-425A-B789-A8A538E4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现在怎么做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C36F5-53D0-4DCF-8A41-5222744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B16CF-394E-4D32-955E-C1A4BEB1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435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B6727-971A-4305-B4A0-3E884822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谁负责这项业务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59715-C214-4181-B85E-F72F51F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9B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51094-D2E4-4204-9BDC-948C15BD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959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A0A0A"/>
                </a:solidFill>
              </a:defRPr>
            </a:pPr>
            <a:r>
              <a:rPr sz="825" b="0">
                <a:solidFill>
                  <a:srgbClr val="0A0A0A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9FCDA-1EDA-4614-A2AD-F06ACCF3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4086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A0A0A"/>
                </a:solidFill>
              </a:defRPr>
            </a:pPr>
            <a:r>
              <a:rPr sz="975" b="0">
                <a:solidFill>
                  <a:srgbClr val="0A0A0A"/>
                </a:solidFill>
              </a:rPr>
              <a:t>联系方式和方便沟通的时间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7F877-C5E2-4738-9E77-69116291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81775"/>
            <a:ext cx="471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</a:defRPr>
            </a:pPr>
            <a:r>
              <a:rPr sz="975" b="1">
                <a:solidFill>
                  <a:srgbClr val="0A0A0A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D7A59-7276-4E5C-8C61-5002BAA3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896100"/>
            <a:ext cx="4714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[品牌名]</a:t>
            </a:r>
          </a:p>
          <a:p xmlns:a="http://schemas.openxmlformats.org/drawingml/2006/main">
            <a:pPr algn="l">
              <a:defRPr sz="788" b="0">
                <a:solidFill>
                  <a:srgbClr val="5F6064"/>
                </a:solidFill>
              </a:defRPr>
            </a:pPr>
            <a:r>
              <a:rPr sz="788" b="0">
                <a:solidFill>
                  <a:srgbClr val="5F6064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F6674-30A8-4FDC-9F7A-16E4ED5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2294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0A0A0A"/>
                </a:solidFill>
              </a:defRPr>
            </a:pPr>
            <a:r>
              <a:rPr sz="600" b="0">
                <a:solidFill>
                  <a:srgbClr val="0A0A0A"/>
                </a:solidFill>
              </a:rPr>
              <a:t>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5BCCC-C56C-4299-87ED-3D720337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722947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0A0A0A"/>
                </a:solidFill>
              </a:defRPr>
            </a:pPr>
            <a:r>
              <a:rPr sz="563" b="0">
                <a:solidFill>
                  <a:srgbClr val="0A0A0A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233470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08FFD-F2B7-486D-9F6E-80C07C78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42950"/>
            <a:ext cx="4714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A0A0A"/>
                </a:solidFill>
              </a:defRPr>
            </a:pPr>
            <a:r>
              <a:rPr sz="1950" b="0">
                <a:solidFill>
                  <a:srgbClr val="0A0A0A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3D2D4-3E9A-451A-8220-31D88C44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66484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0A0A"/>
                </a:solidFill>
              </a:defRPr>
            </a:pPr>
            <a:r>
              <a:rPr sz="1800" b="1">
                <a:solidFill>
                  <a:srgbClr val="0A0A0A"/>
                </a:solidFill>
              </a:rPr>
              <a:t>FDE</a:t>
            </a:r>
          </a:p>
        </p:txBody>
      </p:sp>
    </p:spTree>
    <p:extLst>
      <p:ext uri="{BB962C8B-B14F-4D97-AF65-F5344CB8AC3E}">
        <p14:creationId xmlns:p14="http://schemas.microsoft.com/office/powerpoint/2010/main" val="649473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2026-08-24T04:03:58.0660000Z</dcterms:created>
  <dcterms:modified xsi:type="dcterms:W3CDTF">2026-08-24T04:03:58.0660000Z</dcterms:modified>
</coreProperties>
</file>