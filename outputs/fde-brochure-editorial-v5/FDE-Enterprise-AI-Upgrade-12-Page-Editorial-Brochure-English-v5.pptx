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c218b8c19814484" /><Relationship Type="http://schemas.openxmlformats.org/officeDocument/2006/relationships/extended-properties" Target="/docProps/app.xml" Id="Rfd4b2ce8557248af" /><Relationship Type="http://schemas.openxmlformats.org/officeDocument/2006/relationships/officeDocument" Target="/ppt/presentation.xml" Id="R1ed4763203804ba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8eaa46ba2d94e2a"/>
  </p:sldMasterIdLst>
  <p:notesMasterIdLst>
    <p:notesMasterId xmlns:r="http://schemas.openxmlformats.org/officeDocument/2006/relationships" r:id="Re1b24660b213408e"/>
  </p:notesMasterIdLst>
  <p:sldIdLst>
    <p:sldId xmlns:r="http://schemas.openxmlformats.org/officeDocument/2006/relationships" id="256" r:id="R3a028b8e44e146b4"/>
    <p:sldId xmlns:r="http://schemas.openxmlformats.org/officeDocument/2006/relationships" id="257" r:id="R9ec4f855db2c4815"/>
    <p:sldId xmlns:r="http://schemas.openxmlformats.org/officeDocument/2006/relationships" id="258" r:id="R43843a80acee4dba"/>
    <p:sldId xmlns:r="http://schemas.openxmlformats.org/officeDocument/2006/relationships" id="259" r:id="Re43e6d19019b477a"/>
    <p:sldId xmlns:r="http://schemas.openxmlformats.org/officeDocument/2006/relationships" id="260" r:id="Rb91ffcddbbc8415c"/>
    <p:sldId xmlns:r="http://schemas.openxmlformats.org/officeDocument/2006/relationships" id="261" r:id="R85e326f3098f46d0"/>
    <p:sldId xmlns:r="http://schemas.openxmlformats.org/officeDocument/2006/relationships" id="262" r:id="R37b93d76db5248bf"/>
    <p:sldId xmlns:r="http://schemas.openxmlformats.org/officeDocument/2006/relationships" id="263" r:id="Rfc89046a3a034753"/>
    <p:sldId xmlns:r="http://schemas.openxmlformats.org/officeDocument/2006/relationships" id="264" r:id="R1d0df4476d634b04"/>
    <p:sldId xmlns:r="http://schemas.openxmlformats.org/officeDocument/2006/relationships" id="265" r:id="Raf144bd918af444e"/>
    <p:sldId xmlns:r="http://schemas.openxmlformats.org/officeDocument/2006/relationships" id="266" r:id="Rbd9b6d92b2ff4f16"/>
    <p:sldId xmlns:r="http://schemas.openxmlformats.org/officeDocument/2006/relationships" id="267" r:id="R03c2527296fd4e89"/>
  </p:sldIdLst>
  <p:sldSz cx="5829300" cy="75438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d54ae1021c345f6" /><Relationship Type="http://schemas.openxmlformats.org/officeDocument/2006/relationships/slideMaster" Target="/ppt/slideMasters/slideMaster1.xml" Id="R48eaa46ba2d94e2a" /><Relationship Type="http://schemas.openxmlformats.org/officeDocument/2006/relationships/notesMaster" Target="/ppt/notesMasters/notesMaster1.xml" Id="Re1b24660b213408e" /><Relationship Type="http://schemas.openxmlformats.org/officeDocument/2006/relationships/presProps" Target="/ppt/presProps.xml" Id="Rb964c9c35ced4365" /><Relationship Type="http://schemas.openxmlformats.org/officeDocument/2006/relationships/tableStyles" Target="/ppt/tableStyles.xml" Id="Reca7b7a3b3674b1c" /><Relationship Type="http://schemas.openxmlformats.org/officeDocument/2006/relationships/slide" Target="/ppt/slides/slide1.xml" Id="R3a028b8e44e146b4" /><Relationship Type="http://schemas.openxmlformats.org/officeDocument/2006/relationships/slide" Target="/ppt/slides/slide2.xml" Id="R9ec4f855db2c4815" /><Relationship Type="http://schemas.openxmlformats.org/officeDocument/2006/relationships/slide" Target="/ppt/slides/slide3.xml" Id="R43843a80acee4dba" /><Relationship Type="http://schemas.openxmlformats.org/officeDocument/2006/relationships/slide" Target="/ppt/slides/slide4.xml" Id="Re43e6d19019b477a" /><Relationship Type="http://schemas.openxmlformats.org/officeDocument/2006/relationships/slide" Target="/ppt/slides/slide5.xml" Id="Rb91ffcddbbc8415c" /><Relationship Type="http://schemas.openxmlformats.org/officeDocument/2006/relationships/slide" Target="/ppt/slides/slide6.xml" Id="R85e326f3098f46d0" /><Relationship Type="http://schemas.openxmlformats.org/officeDocument/2006/relationships/slide" Target="/ppt/slides/slide7.xml" Id="R37b93d76db5248bf" /><Relationship Type="http://schemas.openxmlformats.org/officeDocument/2006/relationships/slide" Target="/ppt/slides/slide8.xml" Id="Rfc89046a3a034753" /><Relationship Type="http://schemas.openxmlformats.org/officeDocument/2006/relationships/slide" Target="/ppt/slides/slide9.xml" Id="R1d0df4476d634b04" /><Relationship Type="http://schemas.openxmlformats.org/officeDocument/2006/relationships/slide" Target="/ppt/slides/slide10.xml" Id="Raf144bd918af444e" /><Relationship Type="http://schemas.openxmlformats.org/officeDocument/2006/relationships/slide" Target="/ppt/slides/slide11.xml" Id="Rbd9b6d92b2ff4f16" /><Relationship Type="http://schemas.openxmlformats.org/officeDocument/2006/relationships/slide" Target="/ppt/slides/slide12.xml" Id="R03c2527296fd4e8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83b975136684e7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2eecffc5ff24da2" /><Relationship Type="http://schemas.openxmlformats.org/officeDocument/2006/relationships/notesMaster" Target="/ppt/notesMasters/notesMaster1.xml" Id="R5698601c05cb4a1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abcb34c640f41d5" /><Relationship Type="http://schemas.openxmlformats.org/officeDocument/2006/relationships/notesMaster" Target="/ppt/notesMasters/notesMaster1.xml" Id="Rb4609394f080410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7bb48570dbc4b93" /><Relationship Type="http://schemas.openxmlformats.org/officeDocument/2006/relationships/notesMaster" Target="/ppt/notesMasters/notesMaster1.xml" Id="Rc3d9d2004f814ab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3fa13d84aa94739" /><Relationship Type="http://schemas.openxmlformats.org/officeDocument/2006/relationships/notesMaster" Target="/ppt/notesMasters/notesMaster1.xml" Id="R0d234cd69c9d481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fd4be767bc14e1f" /><Relationship Type="http://schemas.openxmlformats.org/officeDocument/2006/relationships/notesMaster" Target="/ppt/notesMasters/notesMaster1.xml" Id="R51935e12696f472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cf6d9842f544e59" /><Relationship Type="http://schemas.openxmlformats.org/officeDocument/2006/relationships/notesMaster" Target="/ppt/notesMasters/notesMaster1.xml" Id="R7136f5af2fcc4be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bdaa9aebb2e493a" /><Relationship Type="http://schemas.openxmlformats.org/officeDocument/2006/relationships/notesMaster" Target="/ppt/notesMasters/notesMaster1.xml" Id="Rce8ccafc4dad4c1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99999f9229a4580" /><Relationship Type="http://schemas.openxmlformats.org/officeDocument/2006/relationships/notesMaster" Target="/ppt/notesMasters/notesMaster1.xml" Id="Rc72444f86287419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64c9e11ca5b4cfd" /><Relationship Type="http://schemas.openxmlformats.org/officeDocument/2006/relationships/notesMaster" Target="/ppt/notesMasters/notesMaster1.xml" Id="Rcd02975df7cb4db9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ba66860b79574d76" /><Relationship Type="http://schemas.openxmlformats.org/officeDocument/2006/relationships/notesMaster" Target="/ppt/notesMasters/notesMaster1.xml" Id="R8e7a345f874b46c1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f4a18d3a5bbf4169" /><Relationship Type="http://schemas.openxmlformats.org/officeDocument/2006/relationships/notesMaster" Target="/ppt/notesMasters/notesMaster1.xml" Id="R337f926be4ed494e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dd7d91465b9e4e83" /><Relationship Type="http://schemas.openxmlformats.org/officeDocument/2006/relationships/notesMaster" Target="/ppt/notesMasters/notesMaster1.xml" Id="R3e88f4a6465d49b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https://www.microsoft.com/en-us/worklab/work-trend-index/2025-the-year-the-frontier-firm-is-born</a:t>
            </a:r>
          </a:p>
          <a:p xmlns:a="http://schemas.openxmlformats.org/drawingml/2006/main">
            <a:r>
              <a:t>- https://openai.com/business/guides-and-resources/a-practical-guide-to-building-ai-agents/</a:t>
            </a:r>
          </a:p>
          <a:p xmlns:a="http://schemas.openxmlformats.org/drawingml/2006/main">
            <a:r>
              <a:t>- https://cloud.google.com/resources/core-concepts-ai-agents</a:t>
            </a:r>
          </a:p>
          <a:p xmlns:a="http://schemas.openxmlformats.org/drawingml/2006/main">
            <a:r>
              <a:t>- https://www.anthropic.com/research/claude-code-expertise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https://www.microsoft.com/en-us/worklab/work-trend-index/2025-the-year-the-frontier-firm-is-born</a:t>
            </a:r>
          </a:p>
          <a:p xmlns:a="http://schemas.openxmlformats.org/drawingml/2006/main">
            <a:r>
              <a:t>- https://openai.com/index/1-million-businesses-putting-ai-to-work/</a:t>
            </a:r>
          </a:p>
          <a:p xmlns:a="http://schemas.openxmlformats.org/drawingml/2006/main">
            <a:r>
              <a:t>- https://openai.com/index/how-enterprises-put-ai-to-work/</a:t>
            </a:r>
          </a:p>
          <a:p xmlns:a="http://schemas.openxmlformats.org/drawingml/2006/main">
            <a:r>
              <a:t>- https://openai.com/index/introducing-openai-frontier/</a:t>
            </a:r>
          </a:p>
          <a:p xmlns:a="http://schemas.openxmlformats.org/drawingml/2006/main">
            <a:r>
              <a:t>- https://cloud.google.com/customers/telus-gemini-enterprise-cx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8c6c20df9ad429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3b1665954474e25" /><Relationship Type="http://schemas.openxmlformats.org/officeDocument/2006/relationships/slideLayout" Target="/ppt/slideLayouts/slideLayout1.xml" Id="Rb94fc0bdb8fb46a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94fc0bdb8fb46a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823100e56c4bec" /><Relationship Type="http://schemas.openxmlformats.org/officeDocument/2006/relationships/image" Target="/ppt/media/image.png" Id="Rdd93d0327f394860" /><Relationship Type="http://schemas.openxmlformats.org/officeDocument/2006/relationships/notesSlide" Target="/ppt/notesSlides/notesSlide1.xml" Id="Rf0b88eac38b84bd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0050ea95e248ff" /><Relationship Type="http://schemas.openxmlformats.org/officeDocument/2006/relationships/notesSlide" Target="/ppt/notesSlides/notesSlide2.xml" Id="Rfda1945d2b70438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62f5a37eb046b4" /><Relationship Type="http://schemas.openxmlformats.org/officeDocument/2006/relationships/notesSlide" Target="/ppt/notesSlides/notesSlide3.xml" Id="Re89cde0565e2465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63fc0690124189" /><Relationship Type="http://schemas.openxmlformats.org/officeDocument/2006/relationships/notesSlide" Target="/ppt/notesSlides/notesSlide4.xml" Id="Reaec8ba7ba594e8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fa7ce64fc94222" /><Relationship Type="http://schemas.openxmlformats.org/officeDocument/2006/relationships/notesSlide" Target="/ppt/notesSlides/notesSlide5.xml" Id="Rcb791db1685b45f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5654b7618140d8" /><Relationship Type="http://schemas.openxmlformats.org/officeDocument/2006/relationships/notesSlide" Target="/ppt/notesSlides/notesSlide6.xml" Id="R2125787cf713433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283387d1e44f69" /><Relationship Type="http://schemas.openxmlformats.org/officeDocument/2006/relationships/notesSlide" Target="/ppt/notesSlides/notesSlide7.xml" Id="Rbff9cb20b0504e1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25d175a3b54875" /><Relationship Type="http://schemas.openxmlformats.org/officeDocument/2006/relationships/notesSlide" Target="/ppt/notesSlides/notesSlide8.xml" Id="R7d9d981a6949400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29032614854b91" /><Relationship Type="http://schemas.openxmlformats.org/officeDocument/2006/relationships/notesSlide" Target="/ppt/notesSlides/notesSlide9.xml" Id="R806530bd7f9c419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bf9a73e286432b" /><Relationship Type="http://schemas.openxmlformats.org/officeDocument/2006/relationships/notesSlide" Target="/ppt/notesSlides/notesSlide10.xml" Id="Rc713f1e89a35421f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2462f3a8c84531" /><Relationship Type="http://schemas.openxmlformats.org/officeDocument/2006/relationships/notesSlide" Target="/ppt/notesSlides/notesSlide11.xml" Id="R225783434184452f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4beeeea9bd4e63" /><Relationship Type="http://schemas.openxmlformats.org/officeDocument/2006/relationships/notesSlide" Target="/ppt/notesSlides/notesSlide12.xml" Id="R9c5364c9fedc401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70DDEE3-4DF9-4938-BFAF-D06138A7D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95275"/>
            <a:ext cx="952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50505"/>
                </a:solidFill>
              </a:defRPr>
            </a:pPr>
            <a:r>
              <a:rPr sz="1350" b="1">
                <a:solidFill>
                  <a:srgbClr val="050505"/>
                </a:solidFill>
              </a:rPr>
              <a:t>FDE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9A3E2BE-A75E-4EFB-800A-1DFF572E8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66800"/>
            <a:ext cx="5029200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225" b="0">
                <a:solidFill>
                  <a:srgbClr val="050505"/>
                </a:solidFill>
              </a:defRPr>
            </a:pPr>
            <a:r>
              <a:rPr sz="3225" b="0">
                <a:solidFill>
                  <a:srgbClr val="050505"/>
                </a:solidFill>
              </a:rPr>
              <a:t>Your company wants to use AI.</a:t>
            </a:r>
          </a:p>
          <a:p xmlns:a="http://schemas.openxmlformats.org/drawingml/2006/main">
            <a:pPr algn="l">
              <a:defRPr sz="3225" b="0">
                <a:solidFill>
                  <a:srgbClr val="050505"/>
                </a:solidFill>
              </a:defRPr>
            </a:pPr>
            <a:r>
              <a:rPr sz="3225" b="0">
                <a:solidFill>
                  <a:srgbClr val="050505"/>
                </a:solidFill>
              </a:rPr>
              <a:t>Where should it start?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DB8D266-BF5E-4F8D-8B5C-C067CC5EB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781300"/>
            <a:ext cx="50292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70" b="0">
                <a:solidFill>
                  <a:srgbClr val="050505"/>
                </a:solidFill>
              </a:defRPr>
            </a:pPr>
            <a:r>
              <a:rPr sz="870" b="0">
                <a:solidFill>
                  <a:srgbClr val="050505"/>
                </a:solidFill>
              </a:rPr>
              <a:t>An FDE works inside the business to find the right first problem,</a:t>
            </a:r>
          </a:p>
          <a:p xmlns:a="http://schemas.openxmlformats.org/drawingml/2006/main">
            <a:pPr algn="l">
              <a:defRPr sz="870" b="0">
                <a:solidFill>
                  <a:srgbClr val="050505"/>
                </a:solidFill>
              </a:defRPr>
            </a:pPr>
            <a:r>
              <a:rPr sz="870" b="0">
                <a:solidFill>
                  <a:srgbClr val="050505"/>
                </a:solidFill>
              </a:rPr>
              <a:t>then turns it into a system people use and results can prove.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D1A8A0-8B9A-4655-869C-10239B7D1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19475"/>
            <a:ext cx="5029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53" b="1">
                <a:solidFill>
                  <a:srgbClr val="050505"/>
                </a:solidFill>
              </a:defRPr>
            </a:pPr>
            <a:r>
              <a:rPr sz="653" b="1">
                <a:solidFill>
                  <a:srgbClr val="050505"/>
                </a:solidFill>
              </a:rPr>
              <a:t>Business assessment | Workflow redesign | Skills | Custom SaaS | Databases | Agents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d93d0327f394860"/>
          <a:srcRect xmlns:a="http://schemas.openxmlformats.org/drawingml/2006/main" l="0" t="9801" r="0" b="980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00050" y="3829050"/>
            <a:ext cx="5029200" cy="2695575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AFE6E7F-F846-47CB-87FD-820CB68EE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762750"/>
            <a:ext cx="30480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4565A"/>
                </a:solidFill>
              </a:defRPr>
            </a:pPr>
            <a:r>
              <a:rPr sz="675" b="0">
                <a:solidFill>
                  <a:srgbClr val="54565A"/>
                </a:solidFill>
              </a:rPr>
              <a:t>Event offer: complimentary enterprise AI assessment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41E923A-9825-4E20-B03F-A35F11B1C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6762750"/>
            <a:ext cx="14287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675" b="1">
                <a:solidFill>
                  <a:srgbClr val="050505"/>
                </a:solidFill>
              </a:defRPr>
            </a:pPr>
            <a:r>
              <a:rPr sz="675" b="1">
                <a:solidFill>
                  <a:srgbClr val="050505"/>
                </a:solidFill>
              </a:rPr>
              <a:t>10 companies per day</a:t>
            </a:r>
          </a:p>
        </p:txBody>
      </p:sp>
    </p:spTree>
    <p:extLst>
      <p:ext uri="{BB962C8B-B14F-4D97-AF65-F5344CB8AC3E}">
        <p14:creationId xmlns:p14="http://schemas.microsoft.com/office/powerpoint/2010/main" val="158183753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D9D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0F422EF-3028-4E68-AB2D-441F62554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38150"/>
            <a:ext cx="50292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750" b="0">
                <a:solidFill>
                  <a:srgbClr val="050505"/>
                </a:solidFill>
              </a:defRPr>
            </a:pPr>
            <a:r>
              <a:rPr sz="3750" b="0">
                <a:solidFill>
                  <a:srgbClr val="050505"/>
                </a:solidFill>
              </a:rPr>
              <a:t>AI can now</a:t>
            </a:r>
          </a:p>
          <a:p xmlns:a="http://schemas.openxmlformats.org/drawingml/2006/main">
            <a:pPr algn="l">
              <a:defRPr sz="3750" b="0">
                <a:solidFill>
                  <a:srgbClr val="050505"/>
                </a:solidFill>
              </a:defRPr>
            </a:pPr>
            <a:r>
              <a:rPr sz="3750" b="0">
                <a:solidFill>
                  <a:srgbClr val="050505"/>
                </a:solidFill>
              </a:rPr>
              <a:t>do the work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7253E9-1B3A-4E01-8F75-7C9D4345E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143250"/>
            <a:ext cx="50292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55" b="0">
                <a:solidFill>
                  <a:srgbClr val="050505"/>
                </a:solidFill>
              </a:defRPr>
            </a:pPr>
            <a:r>
              <a:rPr sz="855" b="0">
                <a:solidFill>
                  <a:srgbClr val="050505"/>
                </a:solidFill>
              </a:rPr>
              <a:t>We used to complete every step manually.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855" b="0">
                <a:solidFill>
                  <a:srgbClr val="050505"/>
                </a:solidFill>
              </a:defRPr>
            </a:pPr>
            <a:r>
              <a:rPr sz="855" b="0">
                <a:solidFill>
                  <a:srgbClr val="050505"/>
                </a:solidFill>
              </a:rPr>
              <a:t>Agents can now read documents, retrieve data, use tools, and complete a sequence of tasks. When review is required, they hand the decision back to a person.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70D4198-716E-4266-99A6-58501B32E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76700"/>
            <a:ext cx="5029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05" b="1">
                <a:solidFill>
                  <a:srgbClr val="050505"/>
                </a:solidFill>
              </a:defRPr>
            </a:pPr>
            <a:r>
              <a:rPr sz="705" b="1">
                <a:solidFill>
                  <a:srgbClr val="050505"/>
                </a:solidFill>
              </a:rPr>
              <a:t>HOW THE OPERATING MODEL CHANGES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328E297-887B-4BE8-8639-F0661CA3E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343400"/>
            <a:ext cx="2286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95" b="0">
                <a:solidFill>
                  <a:srgbClr val="050505"/>
                </a:solidFill>
              </a:defRPr>
            </a:pPr>
            <a:r>
              <a:rPr sz="795" b="0">
                <a:solidFill>
                  <a:srgbClr val="050505"/>
                </a:solidFill>
              </a:rPr>
              <a:t>• Agents take on repetitive execution.</a:t>
            </a:r>
          </a:p>
          <a:p xmlns:a="http://schemas.openxmlformats.org/drawingml/2006/main">
            <a:pPr algn="l">
              <a:defRPr sz="795" b="0">
                <a:solidFill>
                  <a:srgbClr val="050505"/>
                </a:solidFill>
              </a:defRPr>
            </a:pPr>
            <a:r>
              <a:rPr sz="795" b="0">
                <a:solidFill>
                  <a:srgbClr val="050505"/>
                </a:solidFill>
              </a:rPr>
              <a:t>• People remain responsible for goals, judgment, and review.</a:t>
            </a:r>
          </a:p>
          <a:p xmlns:a="http://schemas.openxmlformats.org/drawingml/2006/main">
            <a:pPr algn="l">
              <a:defRPr sz="795" b="0">
                <a:solidFill>
                  <a:srgbClr val="050505"/>
                </a:solidFill>
              </a:defRPr>
            </a:pPr>
            <a:r>
              <a:rPr sz="795" b="0">
                <a:solidFill>
                  <a:srgbClr val="050505"/>
                </a:solidFill>
              </a:rPr>
              <a:t>• One manager can direct several agents.</a:t>
            </a:r>
          </a:p>
          <a:p xmlns:a="http://schemas.openxmlformats.org/drawingml/2006/main">
            <a:pPr algn="l">
              <a:defRPr sz="795" b="0">
                <a:solidFill>
                  <a:srgbClr val="050505"/>
                </a:solidFill>
              </a:defRPr>
            </a:pPr>
            <a:r>
              <a:rPr sz="795" b="0">
                <a:solidFill>
                  <a:srgbClr val="050505"/>
                </a:solidFill>
              </a:rPr>
              <a:t>• Companies can turn working knowledge into reusable workflows and Skills.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95C1E64-A5D2-4195-93F5-AA89361F8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8475" y="4343400"/>
            <a:ext cx="2390775" cy="1438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82" b="0">
                <a:solidFill>
                  <a:srgbClr val="050505"/>
                </a:solidFill>
              </a:defRPr>
            </a:pPr>
            <a:r>
              <a:rPr sz="682" b="0">
                <a:solidFill>
                  <a:srgbClr val="050505"/>
                </a:solidFill>
              </a:rPr>
              <a:t>• In 2025, Microsoft introduced the idea of the Agent Boss: an employee who builds, delegates to, and manages agents.</a:t>
            </a:r>
          </a:p>
          <a:p xmlns:a="http://schemas.openxmlformats.org/drawingml/2006/main">
            <a:pPr algn="l">
              <a:defRPr sz="682" b="0">
                <a:solidFill>
                  <a:srgbClr val="050505"/>
                </a:solidFill>
              </a:defRPr>
            </a:pPr>
            <a:r>
              <a:rPr sz="682" b="0">
                <a:solidFill>
                  <a:srgbClr val="050505"/>
                </a:solidFill>
              </a:rPr>
              <a:t>• OpenAI defines agents as systems that can complete workflows on a user’s behalf, rather than simply answer questions.</a:t>
            </a:r>
          </a:p>
          <a:p xmlns:a="http://schemas.openxmlformats.org/drawingml/2006/main">
            <a:pPr algn="l">
              <a:defRPr sz="682" b="0">
                <a:solidFill>
                  <a:srgbClr val="050505"/>
                </a:solidFill>
              </a:defRPr>
            </a:pPr>
            <a:r>
              <a:rPr sz="682" b="0">
                <a:solidFill>
                  <a:srgbClr val="050505"/>
                </a:solidFill>
              </a:rPr>
              <a:t>• Google describes enterprise agents as systems that connect models with company data, tools, memory, orchestration, and runtime infrastructure.</a:t>
            </a:r>
          </a:p>
          <a:p xmlns:a="http://schemas.openxmlformats.org/drawingml/2006/main">
            <a:pPr algn="l">
              <a:defRPr sz="682" b="0">
                <a:solidFill>
                  <a:srgbClr val="050505"/>
                </a:solidFill>
              </a:defRPr>
            </a:pPr>
            <a:r>
              <a:rPr sz="682" b="0">
                <a:solidFill>
                  <a:srgbClr val="050505"/>
                </a:solidFill>
              </a:rPr>
              <a:t>• Anthropic’s research suggests that people tend to decide what should be done, while agents make more of the execution decisions about how to do it.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A07BD2C-0C7E-4C8E-870B-B143BDFE2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53125"/>
            <a:ext cx="50292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A6890AD-2716-4EAF-819D-707B3A73C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53150"/>
            <a:ext cx="50292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38" b="1">
                <a:solidFill>
                  <a:srgbClr val="050505"/>
                </a:solidFill>
              </a:defRPr>
            </a:pPr>
            <a:r>
              <a:rPr sz="1238" b="1">
                <a:solidFill>
                  <a:srgbClr val="050505"/>
                </a:solidFill>
              </a:rPr>
              <a:t>Operating efficiency will diverge with how AI-native a company becomes.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E9B3FE0-0254-4A32-95D5-77B710148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200900"/>
            <a:ext cx="381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15" b="0">
                <a:solidFill>
                  <a:srgbClr val="050505"/>
                </a:solidFill>
              </a:defRPr>
            </a:pPr>
            <a:r>
              <a:rPr sz="615" b="0">
                <a:solidFill>
                  <a:srgbClr val="050505"/>
                </a:solidFill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8D5DFA9-C379-4C37-B449-07CA136C1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7200900"/>
            <a:ext cx="2000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615" b="0">
                <a:solidFill>
                  <a:srgbClr val="050505"/>
                </a:solidFill>
              </a:defRPr>
            </a:pPr>
            <a:r>
              <a:rPr sz="615" b="0">
                <a:solidFill>
                  <a:srgbClr val="050505"/>
                </a:solidFill>
              </a:rPr>
              <a:t>FDE enterprise AI upgrade</a:t>
            </a:r>
          </a:p>
        </p:txBody>
      </p:sp>
    </p:spTree>
    <p:extLst>
      <p:ext uri="{BB962C8B-B14F-4D97-AF65-F5344CB8AC3E}">
        <p14:creationId xmlns:p14="http://schemas.microsoft.com/office/powerpoint/2010/main" val="27375454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0DDA29B-81A0-46B3-A0E6-038EA5E3D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38150"/>
            <a:ext cx="50292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0">
                <a:solidFill>
                  <a:srgbClr val="050505"/>
                </a:solidFill>
              </a:defRPr>
            </a:pPr>
            <a:r>
              <a:rPr sz="3150" b="0">
                <a:solidFill>
                  <a:srgbClr val="050505"/>
                </a:solidFill>
              </a:rPr>
              <a:t>The numbers are already moving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8321B3B-23C3-4629-8F22-3C0736249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52575"/>
            <a:ext cx="1143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0">
                <a:solidFill>
                  <a:srgbClr val="050505"/>
                </a:solidFill>
              </a:defRPr>
            </a:pPr>
            <a:r>
              <a:rPr sz="2550" b="0">
                <a:solidFill>
                  <a:srgbClr val="050505"/>
                </a:solidFill>
              </a:rPr>
              <a:t>81%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2648522-B20D-483D-8832-9B416952A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" y="1571625"/>
            <a:ext cx="2571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050505"/>
                </a:solidFill>
              </a:defRPr>
            </a:pPr>
            <a:r>
              <a:rPr sz="788" b="1">
                <a:solidFill>
                  <a:srgbClr val="050505"/>
                </a:solidFill>
              </a:rPr>
              <a:t>Microsoft’s 2025 Work Trend Index surveyed 31,000 workers across 31 countries. 81% of surveyed leaders expected agents to enter their company’s AI strategy within 12–18 months.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36B1428-208F-4D6C-BC08-D4033F660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1571625"/>
            <a:ext cx="9334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563" b="0">
                <a:solidFill>
                  <a:srgbClr val="54565A"/>
                </a:solidFill>
              </a:defRPr>
            </a:pPr>
            <a:r>
              <a:rPr sz="563" b="0">
                <a:solidFill>
                  <a:srgbClr val="54565A"/>
                </a:solidFill>
              </a:rPr>
              <a:t>Microsoft · 2025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83358A0-9FF9-4588-8827-167E8520B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" y="2114550"/>
            <a:ext cx="3648075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0B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DCF9062-3A75-439E-AB5B-1E8D547EF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362200"/>
            <a:ext cx="1143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0">
                <a:solidFill>
                  <a:srgbClr val="050505"/>
                </a:solidFill>
              </a:defRPr>
            </a:pPr>
            <a:r>
              <a:rPr sz="2550" b="0">
                <a:solidFill>
                  <a:srgbClr val="050505"/>
                </a:solidFill>
              </a:rPr>
              <a:t>1M+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6DE0FE8-252F-4130-84BD-1118B4C3F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" y="2381250"/>
            <a:ext cx="2571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050505"/>
                </a:solidFill>
              </a:defRPr>
            </a:pPr>
            <a:r>
              <a:rPr sz="788" b="1">
                <a:solidFill>
                  <a:srgbClr val="050505"/>
                </a:solidFill>
              </a:rPr>
              <a:t>In 2025, OpenAI reported more than one million business customers.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3576CA9-EE94-4BE6-BCBC-F4BBAA369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381250"/>
            <a:ext cx="9334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563" b="0">
                <a:solidFill>
                  <a:srgbClr val="54565A"/>
                </a:solidFill>
              </a:defRPr>
            </a:pPr>
            <a:r>
              <a:rPr sz="563" b="0">
                <a:solidFill>
                  <a:srgbClr val="54565A"/>
                </a:solidFill>
              </a:rPr>
              <a:t>OpenAI · 2025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92F19D3-833A-4CFF-8B7C-E56BDC4FA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" y="2924175"/>
            <a:ext cx="3648075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0B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3BFA6EF-205C-44C9-8FB2-B968BFD73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171825"/>
            <a:ext cx="1143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0">
                <a:solidFill>
                  <a:srgbClr val="050505"/>
                </a:solidFill>
              </a:defRPr>
            </a:pPr>
            <a:r>
              <a:rPr sz="2550" b="0">
                <a:solidFill>
                  <a:srgbClr val="050505"/>
                </a:solidFill>
              </a:rPr>
              <a:t>108×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C34B243-3A9E-442E-9186-54891A5AD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" y="3190875"/>
            <a:ext cx="2571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050505"/>
                </a:solidFill>
              </a:defRPr>
            </a:pPr>
            <a:r>
              <a:rPr sz="788" b="1">
                <a:solidFill>
                  <a:srgbClr val="050505"/>
                </a:solidFill>
              </a:rPr>
              <a:t>Since February, weekly active Codex users grew 108× in legal, 41× in sales, 41× in recruiting, and 26× in marketing.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37943F7-7830-4620-9938-AC0B48A1F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190875"/>
            <a:ext cx="9334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563" b="0">
                <a:solidFill>
                  <a:srgbClr val="54565A"/>
                </a:solidFill>
              </a:defRPr>
            </a:pPr>
            <a:r>
              <a:rPr sz="563" b="0">
                <a:solidFill>
                  <a:srgbClr val="54565A"/>
                </a:solidFill>
              </a:rPr>
              <a:t>OpenAI · 2026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FA5123F-4E82-43C5-BCD1-311E9A16A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" y="3733800"/>
            <a:ext cx="3648075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0B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19D14EC-D8EA-4494-B665-44496411E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105275"/>
            <a:ext cx="5029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05" b="1">
                <a:solidFill>
                  <a:srgbClr val="050505"/>
                </a:solidFill>
              </a:defRPr>
            </a:pPr>
            <a:r>
              <a:rPr sz="705" b="1">
                <a:solidFill>
                  <a:srgbClr val="050505"/>
                </a:solidFill>
              </a:rPr>
              <a:t>PUBLIC EXAMPLES ALREADY IN PRODUCTION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10C71D3-0D33-40B4-BCB4-7EE0531A2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457700"/>
            <a:ext cx="285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15" b="0">
                <a:solidFill>
                  <a:srgbClr val="050505"/>
                </a:solidFill>
              </a:defRPr>
            </a:pPr>
            <a:r>
              <a:rPr sz="615" b="0">
                <a:solidFill>
                  <a:srgbClr val="050505"/>
                </a:solidFill>
              </a:rPr>
              <a:t>01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8094B3A-3FBB-4245-B7D9-F94B4F4C6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4448175"/>
            <a:ext cx="7143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73" b="1">
                <a:solidFill>
                  <a:srgbClr val="050505"/>
                </a:solidFill>
              </a:defRPr>
            </a:pPr>
            <a:r>
              <a:rPr sz="773" b="1">
                <a:solidFill>
                  <a:srgbClr val="050505"/>
                </a:solidFill>
              </a:rPr>
              <a:t>Cisco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8963637-D9A0-43AA-A2D9-4F8E984F8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4975" y="4448175"/>
            <a:ext cx="37242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35" b="0">
                <a:solidFill>
                  <a:srgbClr val="050505"/>
                </a:solidFill>
              </a:defRPr>
            </a:pPr>
            <a:r>
              <a:rPr sz="735" b="0">
                <a:solidFill>
                  <a:srgbClr val="050505"/>
                </a:solidFill>
              </a:rPr>
              <a:t>OpenAI reports that Codex reduced code review time by 50% and shortened some projects from weeks to days.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A7247EB-744B-40D4-9ECC-DF1FB260A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4895850"/>
            <a:ext cx="4600575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0B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0915497-91C7-4680-9F6F-FDC65AD19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029200"/>
            <a:ext cx="285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15" b="0">
                <a:solidFill>
                  <a:srgbClr val="050505"/>
                </a:solidFill>
              </a:defRPr>
            </a:pPr>
            <a:r>
              <a:rPr sz="615" b="0">
                <a:solidFill>
                  <a:srgbClr val="050505"/>
                </a:solidFill>
              </a:rPr>
              <a:t>02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1607910-FC01-4C20-B372-51C5AE4F0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5019675"/>
            <a:ext cx="7143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73" b="1">
                <a:solidFill>
                  <a:srgbClr val="050505"/>
                </a:solidFill>
              </a:defRPr>
            </a:pPr>
            <a:r>
              <a:rPr sz="773" b="1">
                <a:solidFill>
                  <a:srgbClr val="050505"/>
                </a:solidFill>
              </a:rPr>
              <a:t>Carlyle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0D73541-4EC8-4F4F-B7C5-B614B3A73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4975" y="5019675"/>
            <a:ext cx="37242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35" b="0">
                <a:solidFill>
                  <a:srgbClr val="050505"/>
                </a:solidFill>
              </a:defRPr>
            </a:pPr>
            <a:r>
              <a:rPr sz="735" b="0">
                <a:solidFill>
                  <a:srgbClr val="050505"/>
                </a:solidFill>
              </a:rPr>
              <a:t>Its multi-agent due diligence framework reportedly cut development time by more than 50% and improved agent accuracy by 30%.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30FED00-9F8D-4746-B9AE-BE4090D99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5467350"/>
            <a:ext cx="4600575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0B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95BAA34-B3D4-451E-BA6A-57D750D7F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600700"/>
            <a:ext cx="285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15" b="0">
                <a:solidFill>
                  <a:srgbClr val="050505"/>
                </a:solidFill>
              </a:defRPr>
            </a:pPr>
            <a:r>
              <a:rPr sz="615" b="0">
                <a:solidFill>
                  <a:srgbClr val="050505"/>
                </a:solidFill>
              </a:rPr>
              <a:t>03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755AD07-8011-43B7-9220-698B87B23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5591175"/>
            <a:ext cx="7143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73" b="1">
                <a:solidFill>
                  <a:srgbClr val="050505"/>
                </a:solidFill>
              </a:defRPr>
            </a:pPr>
            <a:r>
              <a:rPr sz="773" b="1">
                <a:solidFill>
                  <a:srgbClr val="050505"/>
                </a:solidFill>
              </a:rPr>
              <a:t>TELUS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A05847D-B77A-42A7-AB71-ED713D0D6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4975" y="5591175"/>
            <a:ext cx="37242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35" b="0">
                <a:solidFill>
                  <a:srgbClr val="050505"/>
                </a:solidFill>
              </a:defRPr>
            </a:pPr>
            <a:r>
              <a:rPr sz="735" b="0">
                <a:solidFill>
                  <a:srgbClr val="050505"/>
                </a:solidFill>
              </a:rPr>
              <a:t>A Google Cloud customer story reports $53.9 million in annual savings, 87% faster issue resolution, and 30% of calls resolved proactively with AI.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5024483-0DA7-40A6-9BCF-9B2275F7F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6038850"/>
            <a:ext cx="4600575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0B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BC909F1-AA8B-4BAF-8094-4CEEC668E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72200"/>
            <a:ext cx="285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15" b="0">
                <a:solidFill>
                  <a:srgbClr val="050505"/>
                </a:solidFill>
              </a:defRPr>
            </a:pPr>
            <a:r>
              <a:rPr sz="615" b="0">
                <a:solidFill>
                  <a:srgbClr val="050505"/>
                </a:solidFill>
              </a:rPr>
              <a:t>04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ABA1E43-65EF-47F9-9E41-4F09088AA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6162675"/>
            <a:ext cx="7143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73" b="1">
                <a:solidFill>
                  <a:srgbClr val="050505"/>
                </a:solidFill>
              </a:defRPr>
            </a:pPr>
            <a:r>
              <a:rPr sz="773" b="1">
                <a:solidFill>
                  <a:srgbClr val="050505"/>
                </a:solidFill>
              </a:rPr>
              <a:t>Lowe’s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12B982B-86B9-4150-8B62-960C07F35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4975" y="6162675"/>
            <a:ext cx="37242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35" b="0">
                <a:solidFill>
                  <a:srgbClr val="050505"/>
                </a:solidFill>
              </a:defRPr>
            </a:pPr>
            <a:r>
              <a:rPr sz="735" b="0">
                <a:solidFill>
                  <a:srgbClr val="050505"/>
                </a:solidFill>
              </a:rPr>
              <a:t>OpenAI reports that Lowe’s provides AI-powered project guidance to associates across more than 1,700 stores.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6D591A3-818D-41CF-91EE-AA68FF3A3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200900"/>
            <a:ext cx="381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15" b="0">
                <a:solidFill>
                  <a:srgbClr val="050505"/>
                </a:solidFill>
              </a:defRPr>
            </a:pPr>
            <a:r>
              <a:rPr sz="615" b="0">
                <a:solidFill>
                  <a:srgbClr val="050505"/>
                </a:solidFill>
              </a:rPr>
              <a:t>3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F224CE1-8145-4DB5-80B6-3001BD581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7200900"/>
            <a:ext cx="2000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615" b="0">
                <a:solidFill>
                  <a:srgbClr val="050505"/>
                </a:solidFill>
              </a:defRPr>
            </a:pPr>
            <a:r>
              <a:rPr sz="615" b="0">
                <a:solidFill>
                  <a:srgbClr val="050505"/>
                </a:solidFill>
              </a:rPr>
              <a:t>FDE enterprise AI upgrade</a:t>
            </a:r>
          </a:p>
        </p:txBody>
      </p:sp>
    </p:spTree>
    <p:extLst>
      <p:ext uri="{BB962C8B-B14F-4D97-AF65-F5344CB8AC3E}">
        <p14:creationId xmlns:p14="http://schemas.microsoft.com/office/powerpoint/2010/main" val="122706868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462230B-B92C-4857-B9D3-92597393B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38150"/>
            <a:ext cx="50292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0">
                <a:solidFill>
                  <a:srgbClr val="050505"/>
                </a:solidFill>
              </a:defRPr>
            </a:pPr>
            <a:r>
              <a:rPr sz="2550" b="0">
                <a:solidFill>
                  <a:srgbClr val="050505"/>
                </a:solidFill>
              </a:rPr>
              <a:t>Leaders want higher efficiency,</a:t>
            </a:r>
          </a:p>
          <a:p xmlns:a="http://schemas.openxmlformats.org/drawingml/2006/main">
            <a:pPr algn="l">
              <a:defRPr sz="2550" b="0">
                <a:solidFill>
                  <a:srgbClr val="050505"/>
                </a:solidFill>
              </a:defRPr>
            </a:pPr>
            <a:r>
              <a:rPr sz="2550" b="0">
                <a:solidFill>
                  <a:srgbClr val="050505"/>
                </a:solidFill>
              </a:rPr>
              <a:t>but do not know where to begin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F66A211-A80A-47A8-A981-1BA7C0907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33525"/>
            <a:ext cx="238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05" b="1">
                <a:solidFill>
                  <a:srgbClr val="050505"/>
                </a:solidFill>
              </a:defRPr>
            </a:pPr>
            <a:r>
              <a:rPr sz="705" b="1">
                <a:solidFill>
                  <a:srgbClr val="050505"/>
                </a:solidFill>
              </a:rPr>
              <a:t>MANY COMPANIES HAVE ALREADY TRIED AI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279635D-FD6E-4F38-B835-A714B6952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19275"/>
            <a:ext cx="23812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28" b="0">
                <a:solidFill>
                  <a:srgbClr val="050505"/>
                </a:solidFill>
              </a:defRPr>
            </a:pPr>
            <a:r>
              <a:rPr sz="728" b="0">
                <a:solidFill>
                  <a:srgbClr val="050505"/>
                </a:solidFill>
              </a:rPr>
              <a:t>• Employees have subscriptions but use them only occasionally.</a:t>
            </a:r>
          </a:p>
          <a:p xmlns:a="http://schemas.openxmlformats.org/drawingml/2006/main">
            <a:pPr algn="l">
              <a:defRPr sz="728" b="0">
                <a:solidFill>
                  <a:srgbClr val="050505"/>
                </a:solidFill>
              </a:defRPr>
            </a:pPr>
            <a:r>
              <a:rPr sz="728" b="0">
                <a:solidFill>
                  <a:srgbClr val="050505"/>
                </a:solidFill>
              </a:rPr>
              <a:t>• A demo looked good, but nobody used it after launch.</a:t>
            </a:r>
          </a:p>
          <a:p xmlns:a="http://schemas.openxmlformats.org/drawingml/2006/main">
            <a:pPr algn="l">
              <a:defRPr sz="728" b="0">
                <a:solidFill>
                  <a:srgbClr val="050505"/>
                </a:solidFill>
              </a:defRPr>
            </a:pPr>
            <a:r>
              <a:rPr sz="728" b="0">
                <a:solidFill>
                  <a:srgbClr val="050505"/>
                </a:solidFill>
              </a:rPr>
              <a:t>• Other companies’ cases do not fit the way this company works.</a:t>
            </a:r>
          </a:p>
          <a:p xmlns:a="http://schemas.openxmlformats.org/drawingml/2006/main">
            <a:pPr algn="l">
              <a:defRPr sz="728" b="0">
                <a:solidFill>
                  <a:srgbClr val="050505"/>
                </a:solidFill>
              </a:defRPr>
            </a:pPr>
            <a:r>
              <a:rPr sz="728" b="0">
                <a:solidFill>
                  <a:srgbClr val="050505"/>
                </a:solidFill>
              </a:rPr>
              <a:t>• Every department has ideas, but nobody can set priorities.</a:t>
            </a:r>
          </a:p>
          <a:p xmlns:a="http://schemas.openxmlformats.org/drawingml/2006/main">
            <a:pPr algn="l">
              <a:defRPr sz="728" b="0">
                <a:solidFill>
                  <a:srgbClr val="050505"/>
                </a:solidFill>
              </a:defRPr>
            </a:pPr>
            <a:r>
              <a:rPr sz="728" b="0">
                <a:solidFill>
                  <a:srgbClr val="050505"/>
                </a:solidFill>
              </a:rPr>
              <a:t>• Information is scattered across chat, spreadsheets, PDFs, drives, and personal computers.</a:t>
            </a:r>
          </a:p>
          <a:p xmlns:a="http://schemas.openxmlformats.org/drawingml/2006/main">
            <a:pPr algn="l">
              <a:defRPr sz="728" b="0">
                <a:solidFill>
                  <a:srgbClr val="050505"/>
                </a:solidFill>
              </a:defRPr>
            </a:pPr>
            <a:r>
              <a:rPr sz="728" b="0">
                <a:solidFill>
                  <a:srgbClr val="050505"/>
                </a:solidFill>
              </a:rPr>
              <a:t>• Leaders worry about security and do not know how much authority an agent should have.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D0A4D54-8E73-4A4E-A018-817F32C29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1533525"/>
            <a:ext cx="238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05" b="1">
                <a:solidFill>
                  <a:srgbClr val="050505"/>
                </a:solidFill>
              </a:defRPr>
            </a:pPr>
            <a:r>
              <a:rPr sz="705" b="1">
                <a:solidFill>
                  <a:srgbClr val="050505"/>
                </a:solidFill>
              </a:rPr>
              <a:t>AI transformation crosses four boundaries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EF5CCB7-B42C-47D6-A05E-64189518C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1876425"/>
            <a:ext cx="28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050505"/>
                </a:solidFill>
              </a:defRPr>
            </a:pPr>
            <a:r>
              <a:rPr sz="638" b="0">
                <a:solidFill>
                  <a:srgbClr val="050505"/>
                </a:solidFill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3979853-7D04-4629-BD2A-46931C1CB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1857375"/>
            <a:ext cx="1952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28" b="1">
                <a:solidFill>
                  <a:srgbClr val="050505"/>
                </a:solidFill>
              </a:defRPr>
            </a:pPr>
            <a:r>
              <a:rPr sz="728" b="1">
                <a:solidFill>
                  <a:srgbClr val="050505"/>
                </a:solidFill>
              </a:rPr>
              <a:t>The outcome leadership wants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3A82CFF-E045-4AF5-8EF4-8546C430A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228850"/>
            <a:ext cx="1952625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0B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A797A0D-260D-46A7-BC6E-1C50F41F2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295525"/>
            <a:ext cx="28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050505"/>
                </a:solidFill>
              </a:defRPr>
            </a:pPr>
            <a:r>
              <a:rPr sz="638" b="0">
                <a:solidFill>
                  <a:srgbClr val="050505"/>
                </a:solidFill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067C5A8-107D-469E-A7BE-ED40A3C12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276475"/>
            <a:ext cx="1952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28" b="1">
                <a:solidFill>
                  <a:srgbClr val="050505"/>
                </a:solidFill>
              </a:defRPr>
            </a:pPr>
            <a:r>
              <a:rPr sz="728" b="1">
                <a:solidFill>
                  <a:srgbClr val="050505"/>
                </a:solidFill>
              </a:rPr>
              <a:t>How frontline work actually happens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96DD6F9-959E-4FE5-94FE-873BDD9F0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647950"/>
            <a:ext cx="1952625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0B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B7DE9C0-0B9F-47DA-AE2A-FAE9662DA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714625"/>
            <a:ext cx="28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050505"/>
                </a:solidFill>
              </a:defRPr>
            </a:pPr>
            <a:r>
              <a:rPr sz="638" b="0">
                <a:solidFill>
                  <a:srgbClr val="050505"/>
                </a:solidFill>
              </a:rPr>
              <a:t>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8ED18DA-59E5-4808-B158-370F00801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695575"/>
            <a:ext cx="1952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28" b="1">
                <a:solidFill>
                  <a:srgbClr val="050505"/>
                </a:solidFill>
              </a:defRPr>
            </a:pPr>
            <a:r>
              <a:rPr sz="728" b="1">
                <a:solidFill>
                  <a:srgbClr val="050505"/>
                </a:solidFill>
              </a:rPr>
              <a:t>Where the data and systems live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178966A-7B80-4687-BBAC-1610086B6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067050"/>
            <a:ext cx="1952625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0B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7535F9A-B5E5-48F8-B45D-A60FC95EA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133725"/>
            <a:ext cx="28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050505"/>
                </a:solidFill>
              </a:defRPr>
            </a:pPr>
            <a:r>
              <a:rPr sz="638" b="0">
                <a:solidFill>
                  <a:srgbClr val="050505"/>
                </a:solidFill>
              </a:rPr>
              <a:t>04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A42888D-4B98-488A-9F87-FFA4E8AEB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114675"/>
            <a:ext cx="1952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28" b="1">
                <a:solidFill>
                  <a:srgbClr val="050505"/>
                </a:solidFill>
              </a:defRPr>
            </a:pPr>
            <a:r>
              <a:rPr sz="728" b="1">
                <a:solidFill>
                  <a:srgbClr val="050505"/>
                </a:solidFill>
              </a:rPr>
              <a:t>How the solution gets built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91EF82B-BE4F-4234-8403-80A9AB5FD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905250"/>
            <a:ext cx="5029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05" b="1">
                <a:solidFill>
                  <a:srgbClr val="050505"/>
                </a:solidFill>
              </a:defRPr>
            </a:pPr>
            <a:r>
              <a:rPr sz="705" b="1">
                <a:solidFill>
                  <a:srgbClr val="050505"/>
                </a:solidFill>
              </a:rPr>
              <a:t>WHY INTERNAL PROJECTS STALL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E418330-378B-417E-87F3-62549E39F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276725"/>
            <a:ext cx="27622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050505"/>
                </a:solidFill>
              </a:defRPr>
            </a:pPr>
            <a:r>
              <a:rPr sz="600" b="0">
                <a:solidFill>
                  <a:srgbClr val="050505"/>
                </a:solidFill>
              </a:rPr>
              <a:t>01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02F12E8-B316-4F44-B34A-01BD5D124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267200"/>
            <a:ext cx="10763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050505"/>
                </a:solidFill>
              </a:defRPr>
            </a:pPr>
            <a:r>
              <a:rPr sz="713" b="1">
                <a:solidFill>
                  <a:srgbClr val="050505"/>
                </a:solidFill>
              </a:rPr>
              <a:t>Listen only to leadership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8D1F954-546B-435F-BB3E-9CF76ED08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267200"/>
            <a:ext cx="33337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050505"/>
                </a:solidFill>
              </a:defRPr>
            </a:pPr>
            <a:r>
              <a:rPr sz="690" b="0">
                <a:solidFill>
                  <a:srgbClr val="050505"/>
                </a:solidFill>
              </a:rPr>
              <a:t>The ambition is broad, but the first practical job remains unclear.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B3BCB59-D73E-40FB-B36C-1D8D3AE65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667250"/>
            <a:ext cx="4619625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0B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8ACA901-D9C4-4648-AD72-5A6CE8787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762500"/>
            <a:ext cx="27622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050505"/>
                </a:solidFill>
              </a:defRPr>
            </a:pPr>
            <a:r>
              <a:rPr sz="600" b="0">
                <a:solidFill>
                  <a:srgbClr val="050505"/>
                </a:solidFill>
              </a:rPr>
              <a:t>02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B55324D-BF11-410A-98B8-4C7B47ACB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752975"/>
            <a:ext cx="10763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050505"/>
                </a:solidFill>
              </a:defRPr>
            </a:pPr>
            <a:r>
              <a:rPr sz="713" b="1">
                <a:solidFill>
                  <a:srgbClr val="050505"/>
                </a:solidFill>
              </a:rPr>
              <a:t>Listen only to frontline teams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E77096E-22D5-4142-B798-82BC87E78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752975"/>
            <a:ext cx="33337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050505"/>
                </a:solidFill>
              </a:defRPr>
            </a:pPr>
            <a:r>
              <a:rPr sz="690" b="0">
                <a:solidFill>
                  <a:srgbClr val="050505"/>
                </a:solidFill>
              </a:rPr>
              <a:t>You collect scattered requests but cannot identify the best investment.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0027771-4A8B-4943-BFB2-397395808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153025"/>
            <a:ext cx="4619625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0B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84B8CCA-DA33-4AE5-ADBD-F457A8787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48275"/>
            <a:ext cx="27622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050505"/>
                </a:solidFill>
              </a:defRPr>
            </a:pPr>
            <a:r>
              <a:rPr sz="600" b="0">
                <a:solidFill>
                  <a:srgbClr val="050505"/>
                </a:solidFill>
              </a:rPr>
              <a:t>03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94ACFBD-6B34-4B79-A668-BA67B628B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238750"/>
            <a:ext cx="10763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050505"/>
                </a:solidFill>
              </a:defRPr>
            </a:pPr>
            <a:r>
              <a:rPr sz="713" b="1">
                <a:solidFill>
                  <a:srgbClr val="050505"/>
                </a:solidFill>
              </a:rPr>
              <a:t>Start with a software vendor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4C7BF78-AEA2-4939-9429-A5AA74768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5238750"/>
            <a:ext cx="33337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050505"/>
                </a:solidFill>
              </a:defRPr>
            </a:pPr>
            <a:r>
              <a:rPr sz="690" b="0">
                <a:solidFill>
                  <a:srgbClr val="050505"/>
                </a:solidFill>
              </a:rPr>
              <a:t>The vendor needs clear requirements—the thing the company still lacks.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00A32F6-498A-4DAF-8AFD-2DCA2757F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638800"/>
            <a:ext cx="4619625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0B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CD563ED-209E-4319-AAA3-7F40C10CB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734050"/>
            <a:ext cx="27622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050505"/>
                </a:solidFill>
              </a:defRPr>
            </a:pPr>
            <a:r>
              <a:rPr sz="600" b="0">
                <a:solidFill>
                  <a:srgbClr val="050505"/>
                </a:solidFill>
              </a:rPr>
              <a:t>04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A30E192-82A7-41D8-A3C1-C561314E2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724525"/>
            <a:ext cx="10763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050505"/>
                </a:solidFill>
              </a:defRPr>
            </a:pPr>
            <a:r>
              <a:rPr sz="713" b="1">
                <a:solidFill>
                  <a:srgbClr val="050505"/>
                </a:solidFill>
              </a:rPr>
              <a:t>Buy a standard product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DA124A8-FC15-4DA0-9E3F-E4EFD6782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5724525"/>
            <a:ext cx="33337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050505"/>
                </a:solidFill>
              </a:defRPr>
            </a:pPr>
            <a:r>
              <a:rPr sz="690" b="0">
                <a:solidFill>
                  <a:srgbClr val="050505"/>
                </a:solidFill>
              </a:rPr>
              <a:t>Deployment is fast, but the workflow may not fit.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4025126-656E-4DE4-A47A-3A0CEDCDC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6124575"/>
            <a:ext cx="4619625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0B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7704FB4-E140-4F76-BE81-4083867C3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19825"/>
            <a:ext cx="27622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050505"/>
                </a:solidFill>
              </a:defRPr>
            </a:pPr>
            <a:r>
              <a:rPr sz="600" b="0">
                <a:solidFill>
                  <a:srgbClr val="050505"/>
                </a:solidFill>
              </a:rPr>
              <a:t>05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6DE052B-A30A-43C6-A5FE-AFC284F3C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6210300"/>
            <a:ext cx="10763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050505"/>
                </a:solidFill>
              </a:defRPr>
            </a:pPr>
            <a:r>
              <a:rPr sz="713" b="1">
                <a:solidFill>
                  <a:srgbClr val="050505"/>
                </a:solidFill>
              </a:rPr>
              <a:t>Build a large platform first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107B383-3740-407C-BBC9-060EA2D3A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6210300"/>
            <a:ext cx="33337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050505"/>
                </a:solidFill>
              </a:defRPr>
            </a:pPr>
            <a:r>
              <a:rPr sz="690" b="0">
                <a:solidFill>
                  <a:srgbClr val="050505"/>
                </a:solidFill>
              </a:rPr>
              <a:t>Time and money are committed before business value is tested.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32FEAA5-2C9B-48AD-95CA-539A34D68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810375"/>
            <a:ext cx="5029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80" b="1">
                <a:solidFill>
                  <a:srgbClr val="050505"/>
                </a:solidFill>
              </a:defRPr>
            </a:pPr>
            <a:r>
              <a:rPr sz="780" b="1">
                <a:solidFill>
                  <a:srgbClr val="050505"/>
                </a:solidFill>
              </a:rPr>
              <a:t>A company needs someone who can connect business, product, and technology. That is the FDE’s role.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F044806-C7CF-42DB-9B10-BD0ECEC08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200900"/>
            <a:ext cx="381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15" b="0">
                <a:solidFill>
                  <a:srgbClr val="050505"/>
                </a:solidFill>
              </a:defRPr>
            </a:pPr>
            <a:r>
              <a:rPr sz="615" b="0">
                <a:solidFill>
                  <a:srgbClr val="050505"/>
                </a:solidFill>
              </a:rPr>
              <a:t>4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5717AA9-2F63-4D3A-BCF3-85EDE4A4B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7200900"/>
            <a:ext cx="2000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615" b="0">
                <a:solidFill>
                  <a:srgbClr val="050505"/>
                </a:solidFill>
              </a:defRPr>
            </a:pPr>
            <a:r>
              <a:rPr sz="615" b="0">
                <a:solidFill>
                  <a:srgbClr val="050505"/>
                </a:solidFill>
              </a:rPr>
              <a:t>FDE enterprise AI upgrade</a:t>
            </a:r>
          </a:p>
        </p:txBody>
      </p:sp>
    </p:spTree>
    <p:extLst>
      <p:ext uri="{BB962C8B-B14F-4D97-AF65-F5344CB8AC3E}">
        <p14:creationId xmlns:p14="http://schemas.microsoft.com/office/powerpoint/2010/main" val="3621305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5ADEBB8-D926-4BFD-BA9B-D9C307FF4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38150"/>
            <a:ext cx="50292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0">
                <a:solidFill>
                  <a:srgbClr val="050505"/>
                </a:solidFill>
              </a:defRPr>
            </a:pPr>
            <a:r>
              <a:rPr sz="2550" b="0">
                <a:solidFill>
                  <a:srgbClr val="050505"/>
                </a:solidFill>
              </a:rPr>
              <a:t>An FDE starts with ambiguity</a:t>
            </a:r>
          </a:p>
          <a:p xmlns:a="http://schemas.openxmlformats.org/drawingml/2006/main">
            <a:pPr algn="l">
              <a:defRPr sz="2550" b="0">
                <a:solidFill>
                  <a:srgbClr val="050505"/>
                </a:solidFill>
              </a:defRPr>
            </a:pPr>
            <a:r>
              <a:rPr sz="2550" b="0">
                <a:solidFill>
                  <a:srgbClr val="050505"/>
                </a:solidFill>
              </a:rPr>
              <a:t>and stays until results can be tested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4CCCBEB-BE00-47C6-8658-17C532DAD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52625"/>
            <a:ext cx="50292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050505"/>
                </a:solidFill>
              </a:defRPr>
            </a:pPr>
            <a:r>
              <a:rPr sz="840" b="0">
                <a:solidFill>
                  <a:srgbClr val="050505"/>
                </a:solidFill>
              </a:rPr>
              <a:t>A Forward Deployed Engineer does more than write code at a customer site.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840" b="0">
                <a:solidFill>
                  <a:srgbClr val="050505"/>
                </a:solidFill>
              </a:defRPr>
            </a:pPr>
            <a:r>
              <a:rPr sz="840" b="0">
                <a:solidFill>
                  <a:srgbClr val="050505"/>
                </a:solidFill>
              </a:rPr>
              <a:t>The work starts by observing the business: why leadership wants AI, what employees do each day, where the data lives, and where time, errors, or slow response hurt the company.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677E782-1F34-4EE5-984F-12CCF2AE6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95600"/>
            <a:ext cx="5029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D9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9A239DF-6C77-4C4F-B713-BB64C5A28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3048000"/>
            <a:ext cx="47434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10" b="1">
                <a:solidFill>
                  <a:srgbClr val="050505"/>
                </a:solidFill>
              </a:defRPr>
            </a:pPr>
            <a:r>
              <a:rPr sz="810" b="1">
                <a:solidFill>
                  <a:srgbClr val="050505"/>
                </a:solidFill>
              </a:rPr>
              <a:t>Once the problem is clear, the FDE chooses how to solve it: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F710130-2F06-488F-B66E-8BE65C164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724275"/>
            <a:ext cx="28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050505"/>
                </a:solidFill>
              </a:defRPr>
            </a:pPr>
            <a:r>
              <a:rPr sz="638" b="0">
                <a:solidFill>
                  <a:srgbClr val="050505"/>
                </a:solidFill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5F67C7D-B769-47BB-AB16-4D25C616F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3705225"/>
            <a:ext cx="46005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03" b="0">
                <a:solidFill>
                  <a:srgbClr val="050505"/>
                </a:solidFill>
              </a:defRPr>
            </a:pPr>
            <a:r>
              <a:rPr sz="803" b="0">
                <a:solidFill>
                  <a:srgbClr val="050505"/>
                </a:solidFill>
              </a:rPr>
              <a:t>Use an existing product when it already solves the problem.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E6FF5E3-3503-47BA-A4A1-6A5496311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4276725"/>
            <a:ext cx="4600575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0B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F2CCCD6-1A77-4A51-BB6A-396729442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343400"/>
            <a:ext cx="28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050505"/>
                </a:solidFill>
              </a:defRPr>
            </a:pPr>
            <a:r>
              <a:rPr sz="638" b="0">
                <a:solidFill>
                  <a:srgbClr val="050505"/>
                </a:solidFill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B14407B-CE3A-4268-802D-A9B34EB60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4324350"/>
            <a:ext cx="46005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03" b="0">
                <a:solidFill>
                  <a:srgbClr val="050505"/>
                </a:solidFill>
              </a:defRPr>
            </a:pPr>
            <a:r>
              <a:rPr sz="803" b="0">
                <a:solidFill>
                  <a:srgbClr val="050505"/>
                </a:solidFill>
              </a:rPr>
              <a:t>Build a Skill when a Skill is enough.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178BD55-A9AD-4501-B254-C1E6ECE34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4895850"/>
            <a:ext cx="4600575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0B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137AAC8-A7CB-4755-BEA1-8916F2DFA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962525"/>
            <a:ext cx="28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050505"/>
                </a:solidFill>
              </a:defRPr>
            </a:pPr>
            <a:r>
              <a:rPr sz="638" b="0">
                <a:solidFill>
                  <a:srgbClr val="050505"/>
                </a:solidFill>
              </a:rPr>
              <a:t>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96D6B1E-B42A-4269-9812-1FC6E5895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4943475"/>
            <a:ext cx="46005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03" b="0">
                <a:solidFill>
                  <a:srgbClr val="050505"/>
                </a:solidFill>
              </a:defRPr>
            </a:pPr>
            <a:r>
              <a:rPr sz="803" b="0">
                <a:solidFill>
                  <a:srgbClr val="050505"/>
                </a:solidFill>
              </a:rPr>
              <a:t>Integrate with existing systems when the workflow crosses tools.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305BE99-350E-41C5-AC27-E864D9829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5514975"/>
            <a:ext cx="4600575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0B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F623C76-5870-4CEF-A8E7-4BCFAADE3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81650"/>
            <a:ext cx="28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050505"/>
                </a:solidFill>
              </a:defRPr>
            </a:pPr>
            <a:r>
              <a:rPr sz="638" b="0">
                <a:solidFill>
                  <a:srgbClr val="050505"/>
                </a:solidFill>
              </a:rPr>
              <a:t>04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74D2615-4ED9-4A62-A483-6A680E486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5562600"/>
            <a:ext cx="46005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03" b="0">
                <a:solidFill>
                  <a:srgbClr val="050505"/>
                </a:solidFill>
              </a:defRPr>
            </a:pPr>
            <a:r>
              <a:rPr sz="803" b="0">
                <a:solidFill>
                  <a:srgbClr val="050505"/>
                </a:solidFill>
              </a:rPr>
              <a:t>Create a database or knowledge base when the data must be organized first.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71F310B-EA36-4AAC-B05B-0020C55CA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6134100"/>
            <a:ext cx="4600575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0B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F7C5BCD-A921-4E9F-A8E4-FBC8BBBC7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00775"/>
            <a:ext cx="28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050505"/>
                </a:solidFill>
              </a:defRPr>
            </a:pPr>
            <a:r>
              <a:rPr sz="638" b="0">
                <a:solidFill>
                  <a:srgbClr val="050505"/>
                </a:solidFill>
              </a:rPr>
              <a:t>05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A6507E0-AA1F-438C-A762-6D36221A5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6181725"/>
            <a:ext cx="46005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03" b="0">
                <a:solidFill>
                  <a:srgbClr val="050505"/>
                </a:solidFill>
              </a:defRPr>
            </a:pPr>
            <a:r>
              <a:rPr sz="803" b="0">
                <a:solidFill>
                  <a:srgbClr val="050505"/>
                </a:solidFill>
              </a:rPr>
              <a:t>Design the division of work between people and agents when the workflow is suitable.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812BFA2-8960-4530-8DD9-3FD6F4188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200900"/>
            <a:ext cx="381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15" b="0">
                <a:solidFill>
                  <a:srgbClr val="050505"/>
                </a:solidFill>
              </a:defRPr>
            </a:pPr>
            <a:r>
              <a:rPr sz="615" b="0">
                <a:solidFill>
                  <a:srgbClr val="050505"/>
                </a:solidFill>
              </a:rPr>
              <a:t>5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A203131-3776-4D64-ABB7-C695016DD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7200900"/>
            <a:ext cx="2000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615" b="0">
                <a:solidFill>
                  <a:srgbClr val="050505"/>
                </a:solidFill>
              </a:defRPr>
            </a:pPr>
            <a:r>
              <a:rPr sz="615" b="0">
                <a:solidFill>
                  <a:srgbClr val="050505"/>
                </a:solidFill>
              </a:rPr>
              <a:t>FDE enterprise AI upgrade</a:t>
            </a:r>
          </a:p>
        </p:txBody>
      </p:sp>
    </p:spTree>
    <p:extLst>
      <p:ext uri="{BB962C8B-B14F-4D97-AF65-F5344CB8AC3E}">
        <p14:creationId xmlns:p14="http://schemas.microsoft.com/office/powerpoint/2010/main" val="106867530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DAFCC68-F216-4546-B348-862CBD857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38150"/>
            <a:ext cx="50292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325" b="0">
                <a:solidFill>
                  <a:srgbClr val="050505"/>
                </a:solidFill>
              </a:defRPr>
            </a:pPr>
            <a:r>
              <a:rPr sz="2325" b="0">
                <a:solidFill>
                  <a:srgbClr val="050505"/>
                </a:solidFill>
              </a:rPr>
              <a:t>From one small tool</a:t>
            </a:r>
          </a:p>
          <a:p xmlns:a="http://schemas.openxmlformats.org/drawingml/2006/main">
            <a:pPr algn="l">
              <a:defRPr sz="2325" b="0">
                <a:solidFill>
                  <a:srgbClr val="050505"/>
                </a:solidFill>
              </a:defRPr>
            </a:pPr>
            <a:r>
              <a:rPr sz="2325" b="0">
                <a:solidFill>
                  <a:srgbClr val="050505"/>
                </a:solidFill>
              </a:rPr>
              <a:t>to a company-wide AI upgrade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088F5B2-6232-480F-8DD8-D3EE3140F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514475"/>
            <a:ext cx="10477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38" b="1">
                <a:solidFill>
                  <a:srgbClr val="54565A"/>
                </a:solidFill>
              </a:defRPr>
            </a:pPr>
            <a:r>
              <a:rPr sz="638" b="1">
                <a:solidFill>
                  <a:srgbClr val="54565A"/>
                </a:solidFill>
              </a:rPr>
              <a:t>SCOPE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F9779A6-06D0-4A90-9D58-77D1F4D5E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1514475"/>
            <a:ext cx="23812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38" b="1">
                <a:solidFill>
                  <a:srgbClr val="54565A"/>
                </a:solidFill>
              </a:defRPr>
            </a:pPr>
            <a:r>
              <a:rPr sz="638" b="1">
                <a:solidFill>
                  <a:srgbClr val="54565A"/>
                </a:solidFill>
              </a:rPr>
              <a:t>WHAT IT CAN INCLUDE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76D9CFA-36EA-4B79-9F9D-EB7FC408E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514475"/>
            <a:ext cx="8572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38" b="1">
                <a:solidFill>
                  <a:srgbClr val="54565A"/>
                </a:solidFill>
              </a:defRPr>
            </a:pPr>
            <a:r>
              <a:rPr sz="638" b="1">
                <a:solidFill>
                  <a:srgbClr val="54565A"/>
                </a:solidFill>
              </a:rPr>
              <a:t>BEST FOR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6FAACAC-B44F-41BC-ACD2-33F84B457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43075"/>
            <a:ext cx="50292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0B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741C9AB-B9CF-4196-8AB0-C854B792F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71675"/>
            <a:ext cx="27622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050505"/>
                </a:solidFill>
              </a:defRPr>
            </a:pPr>
            <a:r>
              <a:rPr sz="600" b="0">
                <a:solidFill>
                  <a:srgbClr val="050505"/>
                </a:solidFill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0F5A0A3-50B6-4D9A-9531-D691A2648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952625"/>
            <a:ext cx="1066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7" b="1">
                <a:solidFill>
                  <a:srgbClr val="050505"/>
                </a:solidFill>
              </a:defRPr>
            </a:pPr>
            <a:r>
              <a:rPr sz="757" b="1">
                <a:solidFill>
                  <a:srgbClr val="050505"/>
                </a:solidFill>
              </a:rPr>
              <a:t>One specific problem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D87BDA8-57C1-49DB-981D-D2275D383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1952625"/>
            <a:ext cx="23622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68" b="0">
                <a:solidFill>
                  <a:srgbClr val="050505"/>
                </a:solidFill>
              </a:defRPr>
            </a:pPr>
            <a:r>
              <a:rPr sz="668" b="0">
                <a:solidFill>
                  <a:srgbClr val="050505"/>
                </a:solidFill>
              </a:rPr>
              <a:t>• Company-specific Skills</a:t>
            </a:r>
          </a:p>
          <a:p xmlns:a="http://schemas.openxmlformats.org/drawingml/2006/main">
            <a:pPr algn="l">
              <a:defRPr sz="668" b="0">
                <a:solidFill>
                  <a:srgbClr val="050505"/>
                </a:solidFill>
              </a:defRPr>
            </a:pPr>
            <a:r>
              <a:rPr sz="668" b="0">
                <a:solidFill>
                  <a:srgbClr val="050505"/>
                </a:solidFill>
              </a:rPr>
              <a:t>• Document, spreadsheet, and image processing</a:t>
            </a:r>
          </a:p>
          <a:p xmlns:a="http://schemas.openxmlformats.org/drawingml/2006/main">
            <a:pPr algn="l">
              <a:defRPr sz="668" b="0">
                <a:solidFill>
                  <a:srgbClr val="050505"/>
                </a:solidFill>
              </a:defRPr>
            </a:pPr>
            <a:r>
              <a:rPr sz="668" b="0">
                <a:solidFill>
                  <a:srgbClr val="050505"/>
                </a:solidFill>
              </a:rPr>
              <a:t>• Quotation, entry, reconciliation, and reporting automation</a:t>
            </a:r>
          </a:p>
          <a:p xmlns:a="http://schemas.openxmlformats.org/drawingml/2006/main">
            <a:pPr algn="l">
              <a:defRPr sz="668" b="0">
                <a:solidFill>
                  <a:srgbClr val="050505"/>
                </a:solidFill>
              </a:defRPr>
            </a:pPr>
            <a:r>
              <a:rPr sz="668" b="0">
                <a:solidFill>
                  <a:srgbClr val="050505"/>
                </a:solidFill>
              </a:rPr>
              <a:t>• Small custom SaaS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AE926FA-985A-4914-BECA-B7A921E37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952625"/>
            <a:ext cx="857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54565A"/>
                </a:solidFill>
              </a:defRPr>
            </a:pPr>
            <a:r>
              <a:rPr sz="638" b="0">
                <a:solidFill>
                  <a:srgbClr val="54565A"/>
                </a:solidFill>
              </a:rPr>
              <a:t>Best when the problem is clear and results are needed quickly.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6D03A12-93F4-4D00-A2B1-789455A21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019425"/>
            <a:ext cx="4619625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0B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30BCE63-26E9-4A44-AE19-ABD6A02C0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28975"/>
            <a:ext cx="27622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050505"/>
                </a:solidFill>
              </a:defRPr>
            </a:pPr>
            <a:r>
              <a:rPr sz="600" b="0">
                <a:solidFill>
                  <a:srgbClr val="050505"/>
                </a:solidFill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E1B7BC4-4118-444D-913E-84CC020C7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209925"/>
            <a:ext cx="1066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7" b="1">
                <a:solidFill>
                  <a:srgbClr val="050505"/>
                </a:solidFill>
              </a:defRPr>
            </a:pPr>
            <a:r>
              <a:rPr sz="757" b="1">
                <a:solidFill>
                  <a:srgbClr val="050505"/>
                </a:solidFill>
              </a:rPr>
              <a:t>One business workflow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E65E6A3-84D3-4305-A3DF-E84B887C0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3209925"/>
            <a:ext cx="23622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68" b="0">
                <a:solidFill>
                  <a:srgbClr val="050505"/>
                </a:solidFill>
              </a:defRPr>
            </a:pPr>
            <a:r>
              <a:rPr sz="668" b="0">
                <a:solidFill>
                  <a:srgbClr val="050505"/>
                </a:solidFill>
              </a:rPr>
              <a:t>• Interviews and workflow mapping</a:t>
            </a:r>
          </a:p>
          <a:p xmlns:a="http://schemas.openxmlformats.org/drawingml/2006/main">
            <a:pPr algn="l">
              <a:defRPr sz="668" b="0">
                <a:solidFill>
                  <a:srgbClr val="050505"/>
                </a:solidFill>
              </a:defRPr>
            </a:pPr>
            <a:r>
              <a:rPr sz="668" b="0">
                <a:solidFill>
                  <a:srgbClr val="050505"/>
                </a:solidFill>
              </a:rPr>
              <a:t>• Role-specific agents</a:t>
            </a:r>
          </a:p>
          <a:p xmlns:a="http://schemas.openxmlformats.org/drawingml/2006/main">
            <a:pPr algn="l">
              <a:defRPr sz="668" b="0">
                <a:solidFill>
                  <a:srgbClr val="050505"/>
                </a:solidFill>
              </a:defRPr>
            </a:pPr>
            <a:r>
              <a:rPr sz="668" b="0">
                <a:solidFill>
                  <a:srgbClr val="050505"/>
                </a:solidFill>
              </a:rPr>
              <a:t>• ERP, CRM, collaboration, and messaging integrations</a:t>
            </a:r>
          </a:p>
          <a:p xmlns:a="http://schemas.openxmlformats.org/drawingml/2006/main">
            <a:pPr algn="l">
              <a:defRPr sz="668" b="0">
                <a:solidFill>
                  <a:srgbClr val="050505"/>
                </a:solidFill>
              </a:defRPr>
            </a:pPr>
            <a:r>
              <a:rPr sz="668" b="0">
                <a:solidFill>
                  <a:srgbClr val="050505"/>
                </a:solidFill>
              </a:rPr>
              <a:t>• Exception handling and human approval</a:t>
            </a:r>
          </a:p>
          <a:p xmlns:a="http://schemas.openxmlformats.org/drawingml/2006/main">
            <a:pPr algn="l">
              <a:defRPr sz="668" b="0">
                <a:solidFill>
                  <a:srgbClr val="050505"/>
                </a:solidFill>
              </a:defRPr>
            </a:pPr>
            <a:r>
              <a:rPr sz="668" b="0">
                <a:solidFill>
                  <a:srgbClr val="050505"/>
                </a:solidFill>
              </a:rPr>
              <a:t>• Progress, result, and activity records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3B3549D-1710-4A1B-8981-FCA6C372F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209925"/>
            <a:ext cx="857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54565A"/>
                </a:solidFill>
              </a:defRPr>
            </a:pPr>
            <a:r>
              <a:rPr sz="638" b="0">
                <a:solidFill>
                  <a:srgbClr val="54565A"/>
                </a:solidFill>
              </a:rPr>
              <a:t>Best when work crosses people and systems through manual handoffs.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F2E2BE4-1E6A-4704-84DD-8AC1134F7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276725"/>
            <a:ext cx="4619625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0B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DABA0FA-0709-4A13-915D-89F57159A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486275"/>
            <a:ext cx="27622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050505"/>
                </a:solidFill>
              </a:defRPr>
            </a:pPr>
            <a:r>
              <a:rPr sz="600" b="0">
                <a:solidFill>
                  <a:srgbClr val="050505"/>
                </a:solidFill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6AD71B5-499B-4A82-9C55-F5A083FC5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467225"/>
            <a:ext cx="1066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7" b="1">
                <a:solidFill>
                  <a:srgbClr val="050505"/>
                </a:solidFill>
              </a:defRPr>
            </a:pPr>
            <a:r>
              <a:rPr sz="757" b="1">
                <a:solidFill>
                  <a:srgbClr val="050505"/>
                </a:solidFill>
              </a:rPr>
              <a:t>A data foundation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FB029D2-E83B-4A2A-9CDC-D237B7554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4467225"/>
            <a:ext cx="23622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68" b="0">
                <a:solidFill>
                  <a:srgbClr val="050505"/>
                </a:solidFill>
              </a:defRPr>
            </a:pPr>
            <a:r>
              <a:rPr sz="668" b="0">
                <a:solidFill>
                  <a:srgbClr val="050505"/>
                </a:solidFill>
              </a:rPr>
              <a:t>• Operational databases</a:t>
            </a:r>
          </a:p>
          <a:p xmlns:a="http://schemas.openxmlformats.org/drawingml/2006/main">
            <a:pPr algn="l">
              <a:defRPr sz="668" b="0">
                <a:solidFill>
                  <a:srgbClr val="050505"/>
                </a:solidFill>
              </a:defRPr>
            </a:pPr>
            <a:r>
              <a:rPr sz="668" b="0">
                <a:solidFill>
                  <a:srgbClr val="050505"/>
                </a:solidFill>
              </a:rPr>
              <a:t>• Enterprise knowledge bases</a:t>
            </a:r>
          </a:p>
          <a:p xmlns:a="http://schemas.openxmlformats.org/drawingml/2006/main">
            <a:pPr algn="l">
              <a:defRPr sz="668" b="0">
                <a:solidFill>
                  <a:srgbClr val="050505"/>
                </a:solidFill>
              </a:defRPr>
            </a:pPr>
            <a:r>
              <a:rPr sz="668" b="0">
                <a:solidFill>
                  <a:srgbClr val="050505"/>
                </a:solidFill>
              </a:rPr>
              <a:t>• Data cleanup and consistent naming</a:t>
            </a:r>
          </a:p>
          <a:p xmlns:a="http://schemas.openxmlformats.org/drawingml/2006/main">
            <a:pPr algn="l">
              <a:defRPr sz="668" b="0">
                <a:solidFill>
                  <a:srgbClr val="050505"/>
                </a:solidFill>
              </a:defRPr>
            </a:pPr>
            <a:r>
              <a:rPr sz="668" b="0">
                <a:solidFill>
                  <a:srgbClr val="050505"/>
                </a:solidFill>
              </a:rPr>
              <a:t>• Permissions and usage boundaries</a:t>
            </a:r>
          </a:p>
          <a:p xmlns:a="http://schemas.openxmlformats.org/drawingml/2006/main">
            <a:pPr algn="l">
              <a:defRPr sz="668" b="0">
                <a:solidFill>
                  <a:srgbClr val="050505"/>
                </a:solidFill>
              </a:defRPr>
            </a:pPr>
            <a:r>
              <a:rPr sz="668" b="0">
                <a:solidFill>
                  <a:srgbClr val="050505"/>
                </a:solidFill>
              </a:rPr>
              <a:t>• Trusted data for agents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86270DB-488F-46CC-80BC-09A9C6100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467225"/>
            <a:ext cx="857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54565A"/>
                </a:solidFill>
              </a:defRPr>
            </a:pPr>
            <a:r>
              <a:rPr sz="638" b="0">
                <a:solidFill>
                  <a:srgbClr val="54565A"/>
                </a:solidFill>
              </a:rPr>
              <a:t>Best when information is hard to find, share, or trust.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D82DDB8-003F-494F-8B9A-25C101542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534025"/>
            <a:ext cx="4619625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0B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B0E240A-474A-40BC-9277-1BBB289C1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743575"/>
            <a:ext cx="27622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050505"/>
                </a:solidFill>
              </a:defRPr>
            </a:pPr>
            <a:r>
              <a:rPr sz="600" b="0">
                <a:solidFill>
                  <a:srgbClr val="050505"/>
                </a:solidFill>
              </a:rPr>
              <a:t>04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F54E9D5-8ED7-4871-A3AA-029D4E797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724525"/>
            <a:ext cx="1066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7" b="1">
                <a:solidFill>
                  <a:srgbClr val="050505"/>
                </a:solidFill>
              </a:defRPr>
            </a:pPr>
            <a:r>
              <a:rPr sz="757" b="1">
                <a:solidFill>
                  <a:srgbClr val="050505"/>
                </a:solidFill>
              </a:rPr>
              <a:t>A company-wide upgrade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9AF853D-A190-474A-A07A-635FAD617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5724525"/>
            <a:ext cx="23622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68" b="0">
                <a:solidFill>
                  <a:srgbClr val="050505"/>
                </a:solidFill>
              </a:defRPr>
            </a:pPr>
            <a:r>
              <a:rPr sz="668" b="0">
                <a:solidFill>
                  <a:srgbClr val="050505"/>
                </a:solidFill>
              </a:rPr>
              <a:t>• Identify work suitable for AI across departments</a:t>
            </a:r>
          </a:p>
          <a:p xmlns:a="http://schemas.openxmlformats.org/drawingml/2006/main">
            <a:pPr algn="l">
              <a:defRPr sz="668" b="0">
                <a:solidFill>
                  <a:srgbClr val="050505"/>
                </a:solidFill>
              </a:defRPr>
            </a:pPr>
            <a:r>
              <a:rPr sz="668" b="0">
                <a:solidFill>
                  <a:srgbClr val="050505"/>
                </a:solidFill>
              </a:rPr>
              <a:t>• Redesign how people and agents divide the work</a:t>
            </a:r>
          </a:p>
          <a:p xmlns:a="http://schemas.openxmlformats.org/drawingml/2006/main">
            <a:pPr algn="l">
              <a:defRPr sz="668" b="0">
                <a:solidFill>
                  <a:srgbClr val="050505"/>
                </a:solidFill>
              </a:defRPr>
            </a:pPr>
            <a:r>
              <a:rPr sz="668" b="0">
                <a:solidFill>
                  <a:srgbClr val="050505"/>
                </a:solidFill>
              </a:rPr>
              <a:t>• Set permissions, approvals, and accountability</a:t>
            </a:r>
          </a:p>
          <a:p xmlns:a="http://schemas.openxmlformats.org/drawingml/2006/main">
            <a:pPr algn="l">
              <a:defRPr sz="668" b="0">
                <a:solidFill>
                  <a:srgbClr val="050505"/>
                </a:solidFill>
              </a:defRPr>
            </a:pPr>
            <a:r>
              <a:rPr sz="668" b="0">
                <a:solidFill>
                  <a:srgbClr val="050505"/>
                </a:solidFill>
              </a:rPr>
              <a:t>• Define the pilot sequence and expansion plan</a:t>
            </a:r>
          </a:p>
          <a:p xmlns:a="http://schemas.openxmlformats.org/drawingml/2006/main">
            <a:pPr algn="l">
              <a:defRPr sz="668" b="0">
                <a:solidFill>
                  <a:srgbClr val="050505"/>
                </a:solidFill>
              </a:defRPr>
            </a:pPr>
            <a:r>
              <a:rPr sz="668" b="0">
                <a:solidFill>
                  <a:srgbClr val="050505"/>
                </a:solidFill>
              </a:rPr>
              <a:t>• Train the company’s own Agent Bosses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52C42A9-782E-4543-945A-8E993E01F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5724525"/>
            <a:ext cx="857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54565A"/>
                </a:solidFill>
              </a:defRPr>
            </a:pPr>
            <a:r>
              <a:rPr sz="638" b="0">
                <a:solidFill>
                  <a:srgbClr val="54565A"/>
                </a:solidFill>
              </a:rPr>
              <a:t>Best when leadership wants one coordinated program.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1927553-D2AA-4515-81F0-7F86A7EF9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200900"/>
            <a:ext cx="381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15" b="0">
                <a:solidFill>
                  <a:srgbClr val="050505"/>
                </a:solidFill>
              </a:defRPr>
            </a:pPr>
            <a:r>
              <a:rPr sz="615" b="0">
                <a:solidFill>
                  <a:srgbClr val="050505"/>
                </a:solidFill>
              </a:rPr>
              <a:t>6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087DD0C-D2B8-4ACA-B97C-CAD9675DA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7200900"/>
            <a:ext cx="2000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615" b="0">
                <a:solidFill>
                  <a:srgbClr val="050505"/>
                </a:solidFill>
              </a:defRPr>
            </a:pPr>
            <a:r>
              <a:rPr sz="615" b="0">
                <a:solidFill>
                  <a:srgbClr val="050505"/>
                </a:solidFill>
              </a:rPr>
              <a:t>FDE enterprise AI upgrade</a:t>
            </a:r>
          </a:p>
        </p:txBody>
      </p:sp>
    </p:spTree>
    <p:extLst>
      <p:ext uri="{BB962C8B-B14F-4D97-AF65-F5344CB8AC3E}">
        <p14:creationId xmlns:p14="http://schemas.microsoft.com/office/powerpoint/2010/main" val="200926248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BE91259-C626-4545-BE13-F1527B6F2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38150"/>
            <a:ext cx="5029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050505"/>
                </a:solidFill>
              </a:defRPr>
            </a:pPr>
            <a:r>
              <a:rPr sz="2250" b="0">
                <a:solidFill>
                  <a:srgbClr val="050505"/>
                </a:solidFill>
              </a:rPr>
              <a:t>Assess first.</a:t>
            </a:r>
          </a:p>
          <a:p xmlns:a="http://schemas.openxmlformats.org/drawingml/2006/main">
            <a:pPr algn="l">
              <a:defRPr sz="2250" b="0">
                <a:solidFill>
                  <a:srgbClr val="050505"/>
                </a:solidFill>
              </a:defRPr>
            </a:pPr>
            <a:r>
              <a:rPr sz="2250" b="0">
                <a:solidFill>
                  <a:srgbClr val="050505"/>
                </a:solidFill>
              </a:rPr>
              <a:t>Build only if it is worth building.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BD00D22-7183-4E16-9704-91DF4374A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04975"/>
            <a:ext cx="28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050505"/>
                </a:solidFill>
              </a:defRPr>
            </a:pPr>
            <a:r>
              <a:rPr sz="638" b="0">
                <a:solidFill>
                  <a:srgbClr val="050505"/>
                </a:solidFill>
              </a:rPr>
              <a:t>01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A6CAFAE-4DF9-4C20-87A7-95FECAEFD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1685925"/>
            <a:ext cx="46005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03" b="0">
                <a:solidFill>
                  <a:srgbClr val="050505"/>
                </a:solidFill>
              </a:defRPr>
            </a:pPr>
            <a:r>
              <a:rPr sz="803" b="0">
                <a:solidFill>
                  <a:srgbClr val="050505"/>
                </a:solidFill>
              </a:rPr>
              <a:t>Clarify why the company wants AI: save time, reduce errors, increase revenue, or change how the company works.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685F0F7-514A-4099-B07C-D130A5883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2600325"/>
            <a:ext cx="4600575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0B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F1430D5-469F-4610-B438-B3468A654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0"/>
            <a:ext cx="28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050505"/>
                </a:solidFill>
              </a:defRPr>
            </a:pPr>
            <a:r>
              <a:rPr sz="638" b="0">
                <a:solidFill>
                  <a:srgbClr val="050505"/>
                </a:solidFill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2719D6E-6F08-427B-9FB2-C41BE8282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2647950"/>
            <a:ext cx="46005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03" b="0">
                <a:solidFill>
                  <a:srgbClr val="050505"/>
                </a:solidFill>
              </a:defRPr>
            </a:pPr>
            <a:r>
              <a:rPr sz="803" b="0">
                <a:solidFill>
                  <a:srgbClr val="050505"/>
                </a:solidFill>
              </a:rPr>
              <a:t>Observe the spreadsheets, files, messages, and business systems employees really use—including exceptions outside the official process.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9139263-165D-4A2F-B14F-DB1D6F88B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3562350"/>
            <a:ext cx="4600575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0B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B8AB963-7178-4DE5-8ABE-83DDDBF98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29025"/>
            <a:ext cx="28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050505"/>
                </a:solidFill>
              </a:defRPr>
            </a:pPr>
            <a:r>
              <a:rPr sz="638" b="0">
                <a:solidFill>
                  <a:srgbClr val="050505"/>
                </a:solidFill>
              </a:rPr>
              <a:t>03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B319B3B-6EB7-4E21-B5FF-A13108FE9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3609975"/>
            <a:ext cx="46005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03" b="0">
                <a:solidFill>
                  <a:srgbClr val="050505"/>
                </a:solidFill>
              </a:defRPr>
            </a:pPr>
            <a:r>
              <a:rPr sz="803" b="0">
                <a:solidFill>
                  <a:srgbClr val="050505"/>
                </a:solidFill>
              </a:rPr>
              <a:t>Rank opportunities by value, difficulty, data readiness, risk, and time to validation. Not every problem needs AI.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3740F79-A39B-4AE9-9869-406F14C1D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4524375"/>
            <a:ext cx="4600575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0B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1F3EA50-CFD1-47D2-81D2-3EC99A2C9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591050"/>
            <a:ext cx="28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050505"/>
                </a:solidFill>
              </a:defRPr>
            </a:pPr>
            <a:r>
              <a:rPr sz="638" b="0">
                <a:solidFill>
                  <a:srgbClr val="050505"/>
                </a:solidFill>
              </a:rPr>
              <a:t>04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DCA6F1C-205C-466E-9304-D18379A1B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4572000"/>
            <a:ext cx="46005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03" b="0">
                <a:solidFill>
                  <a:srgbClr val="050505"/>
                </a:solidFill>
              </a:defRPr>
            </a:pPr>
            <a:r>
              <a:rPr sz="803" b="0">
                <a:solidFill>
                  <a:srgbClr val="050505"/>
                </a:solidFill>
              </a:rPr>
              <a:t>Choose one job. Agree on the owner, data, scope, and result metric before building a usable version.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B904015-A4F0-49E1-90C5-13CF7623E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5486400"/>
            <a:ext cx="4600575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0B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CB1C4D3-E42F-43E2-AE77-5AE7E52B8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53075"/>
            <a:ext cx="28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050505"/>
                </a:solidFill>
              </a:defRPr>
            </a:pPr>
            <a:r>
              <a:rPr sz="638" b="0">
                <a:solidFill>
                  <a:srgbClr val="050505"/>
                </a:solidFill>
              </a:rPr>
              <a:t>05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D94D496-14A4-4400-B251-229E0B61D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5534025"/>
            <a:ext cx="46005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03" b="0">
                <a:solidFill>
                  <a:srgbClr val="050505"/>
                </a:solidFill>
              </a:defRPr>
            </a:pPr>
            <a:r>
              <a:rPr sz="803" b="0">
                <a:solidFill>
                  <a:srgbClr val="050505"/>
                </a:solidFill>
              </a:rPr>
              <a:t>After real users have tried it, decide whether to improve it, expand it, or stop.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8CF05C7-1F96-4C21-A7B1-126903F56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200900"/>
            <a:ext cx="381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15" b="0">
                <a:solidFill>
                  <a:srgbClr val="050505"/>
                </a:solidFill>
              </a:defRPr>
            </a:pPr>
            <a:r>
              <a:rPr sz="615" b="0">
                <a:solidFill>
                  <a:srgbClr val="050505"/>
                </a:solidFill>
              </a:rPr>
              <a:t>7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61271D0-8C88-433E-A8A2-84B8EB316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7200900"/>
            <a:ext cx="2000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615" b="0">
                <a:solidFill>
                  <a:srgbClr val="050505"/>
                </a:solidFill>
              </a:defRPr>
            </a:pPr>
            <a:r>
              <a:rPr sz="615" b="0">
                <a:solidFill>
                  <a:srgbClr val="050505"/>
                </a:solidFill>
              </a:rPr>
              <a:t>FDE enterprise AI upgrade</a:t>
            </a:r>
          </a:p>
        </p:txBody>
      </p:sp>
    </p:spTree>
    <p:extLst>
      <p:ext uri="{BB962C8B-B14F-4D97-AF65-F5344CB8AC3E}">
        <p14:creationId xmlns:p14="http://schemas.microsoft.com/office/powerpoint/2010/main" val="1956673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4772A7E-20E3-4602-AC22-47333F5EF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38150"/>
            <a:ext cx="50292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325" b="0">
                <a:solidFill>
                  <a:srgbClr val="050505"/>
                </a:solidFill>
              </a:defRPr>
            </a:pPr>
            <a:r>
              <a:rPr sz="2325" b="0">
                <a:solidFill>
                  <a:srgbClr val="050505"/>
                </a:solidFill>
              </a:rPr>
              <a:t>Not a demo.</a:t>
            </a:r>
          </a:p>
          <a:p xmlns:a="http://schemas.openxmlformats.org/drawingml/2006/main">
            <a:pPr algn="l">
              <a:defRPr sz="2325" b="0">
                <a:solidFill>
                  <a:srgbClr val="050505"/>
                </a:solidFill>
              </a:defRPr>
            </a:pPr>
            <a:r>
              <a:rPr sz="2325" b="0">
                <a:solidFill>
                  <a:srgbClr val="050505"/>
                </a:solidFill>
              </a:rPr>
              <a:t>A working test with evidence.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EE2F965-049A-4ACF-83BC-BE3909D36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43050"/>
            <a:ext cx="5029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18" b="0">
                <a:solidFill>
                  <a:srgbClr val="050505"/>
                </a:solidFill>
              </a:defRPr>
            </a:pPr>
            <a:r>
              <a:rPr sz="818" b="0">
                <a:solidFill>
                  <a:srgbClr val="050505"/>
                </a:solidFill>
              </a:rPr>
              <a:t>Depending on the agreed scope, a pilot may include: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4EB9541-48E7-463E-94F7-845367A69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57400"/>
            <a:ext cx="27622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050505"/>
                </a:solidFill>
              </a:defRPr>
            </a:pPr>
            <a:r>
              <a:rPr sz="600" b="0">
                <a:solidFill>
                  <a:srgbClr val="050505"/>
                </a:solidFill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D0F9F4A-1091-4FB1-848F-CF5FC400D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047875"/>
            <a:ext cx="2000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050505"/>
                </a:solidFill>
              </a:defRPr>
            </a:pPr>
            <a:r>
              <a:rPr sz="750" b="1">
                <a:solidFill>
                  <a:srgbClr val="050505"/>
                </a:solidFill>
              </a:rPr>
              <a:t>A map of the current workflow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0623006-9AFE-4421-8961-511AE934B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514600"/>
            <a:ext cx="200025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0B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A377B7C-7AB8-45A6-851E-88C521527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2057400"/>
            <a:ext cx="27622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050505"/>
                </a:solidFill>
              </a:defRPr>
            </a:pPr>
            <a:r>
              <a:rPr sz="600" b="0">
                <a:solidFill>
                  <a:srgbClr val="050505"/>
                </a:solidFill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9CB5A4E-C809-44FB-831D-EBDE46E5B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2047875"/>
            <a:ext cx="2000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050505"/>
                </a:solidFill>
              </a:defRPr>
            </a:pPr>
            <a:r>
              <a:rPr sz="750" b="1">
                <a:solidFill>
                  <a:srgbClr val="050505"/>
                </a:solidFill>
              </a:rPr>
              <a:t>The problem and pilot boundary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AC2A7D9-FE95-4237-9489-2E7455DB9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2514600"/>
            <a:ext cx="200025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0B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E62F1F8-4429-489A-8B28-C07203278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95575"/>
            <a:ext cx="27622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050505"/>
                </a:solidFill>
              </a:defRPr>
            </a:pPr>
            <a:r>
              <a:rPr sz="600" b="0">
                <a:solidFill>
                  <a:srgbClr val="050505"/>
                </a:solidFill>
              </a:rPr>
              <a:t>03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E3BE7BC-CC05-4DD5-BCA4-2845399DE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86050"/>
            <a:ext cx="2000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050505"/>
                </a:solidFill>
              </a:defRPr>
            </a:pPr>
            <a:r>
              <a:rPr sz="750" b="1">
                <a:solidFill>
                  <a:srgbClr val="050505"/>
                </a:solidFill>
              </a:rPr>
              <a:t>A working prototype or system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C429BCB-5BA2-403C-973B-1E76B3663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152775"/>
            <a:ext cx="200025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0B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E7A73BB-1128-4040-80B2-566C3752D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2695575"/>
            <a:ext cx="27622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050505"/>
                </a:solidFill>
              </a:defRPr>
            </a:pPr>
            <a:r>
              <a:rPr sz="600" b="0">
                <a:solidFill>
                  <a:srgbClr val="050505"/>
                </a:solidFill>
              </a:rPr>
              <a:t>04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4C2BB84-8B84-4099-9AB5-FDABCB8C5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2686050"/>
            <a:ext cx="2000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050505"/>
                </a:solidFill>
              </a:defRPr>
            </a:pPr>
            <a:r>
              <a:rPr sz="750" b="1">
                <a:solidFill>
                  <a:srgbClr val="050505"/>
                </a:solidFill>
              </a:rPr>
              <a:t>The data and permissions used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D79F95E-1168-4EE0-8853-75D6158C6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3152775"/>
            <a:ext cx="200025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0B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D4EB536-39F9-4352-9469-287876414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333750"/>
            <a:ext cx="27622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050505"/>
                </a:solidFill>
              </a:defRPr>
            </a:pPr>
            <a:r>
              <a:rPr sz="600" b="0">
                <a:solidFill>
                  <a:srgbClr val="050505"/>
                </a:solidFill>
              </a:rPr>
              <a:t>05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6A59A28-31A9-48D0-87FF-C317A9ADF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324225"/>
            <a:ext cx="2000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050505"/>
                </a:solidFill>
              </a:defRPr>
            </a:pPr>
            <a:r>
              <a:rPr sz="750" b="1">
                <a:solidFill>
                  <a:srgbClr val="050505"/>
                </a:solidFill>
              </a:rPr>
              <a:t>Responsibilities for people and agents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66E01F6-CAD9-4F30-B2F8-811CE5369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90950"/>
            <a:ext cx="200025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0B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425BFC1-4B56-4043-A70D-125A513D5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3333750"/>
            <a:ext cx="27622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050505"/>
                </a:solidFill>
              </a:defRPr>
            </a:pPr>
            <a:r>
              <a:rPr sz="600" b="0">
                <a:solidFill>
                  <a:srgbClr val="050505"/>
                </a:solidFill>
              </a:rPr>
              <a:t>06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8746CF7-904A-4A89-81FA-0861FD01D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3324225"/>
            <a:ext cx="2000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050505"/>
                </a:solidFill>
              </a:defRPr>
            </a:pPr>
            <a:r>
              <a:rPr sz="750" b="1">
                <a:solidFill>
                  <a:srgbClr val="050505"/>
                </a:solidFill>
              </a:rPr>
              <a:t>Human approval points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EAE623F-ED88-4E63-907B-5BEBE1D26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3790950"/>
            <a:ext cx="200025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0B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578B666-DF19-448E-A2B8-B0D2E777A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971925"/>
            <a:ext cx="27622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050505"/>
                </a:solidFill>
              </a:defRPr>
            </a:pPr>
            <a:r>
              <a:rPr sz="600" b="0">
                <a:solidFill>
                  <a:srgbClr val="050505"/>
                </a:solidFill>
              </a:rPr>
              <a:t>07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BE99028-C3F2-48C0-8C3D-1977B8735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962400"/>
            <a:ext cx="2000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050505"/>
                </a:solidFill>
              </a:defRPr>
            </a:pPr>
            <a:r>
              <a:rPr sz="750" b="1">
                <a:solidFill>
                  <a:srgbClr val="050505"/>
                </a:solidFill>
              </a:rPr>
              <a:t>A before-and-after comparison method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91D9E9B-F0A2-439A-9D8B-9335B6937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429125"/>
            <a:ext cx="200025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0B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5C6DF11-8B37-426C-9CCD-391BA75E4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3971925"/>
            <a:ext cx="27622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050505"/>
                </a:solidFill>
              </a:defRPr>
            </a:pPr>
            <a:r>
              <a:rPr sz="600" b="0">
                <a:solidFill>
                  <a:srgbClr val="050505"/>
                </a:solidFill>
              </a:rPr>
              <a:t>08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F233B10-3A27-4C3A-B08B-A3E8922A1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3962400"/>
            <a:ext cx="2000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050505"/>
                </a:solidFill>
              </a:defRPr>
            </a:pPr>
            <a:r>
              <a:rPr sz="750" b="1">
                <a:solidFill>
                  <a:srgbClr val="050505"/>
                </a:solidFill>
              </a:rPr>
              <a:t>A recommendation to continue, adjust, or stop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2889203-B8B2-48B6-9058-808F0D391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4429125"/>
            <a:ext cx="200025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0B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F90AE15-D759-4577-8ACA-DF90AE097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924425"/>
            <a:ext cx="50292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D9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A08DA14-66C5-465C-BD5E-FC30D73DE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124450"/>
            <a:ext cx="4724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05" b="1">
                <a:solidFill>
                  <a:srgbClr val="050505"/>
                </a:solidFill>
              </a:defRPr>
            </a:pPr>
            <a:r>
              <a:rPr sz="705" b="1">
                <a:solidFill>
                  <a:srgbClr val="050505"/>
                </a:solidFill>
              </a:rPr>
              <a:t>BEFORE WORK BEGINS, WE AGREE ON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9410CC7-2061-4FBD-B8F9-119C36559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534025"/>
            <a:ext cx="33337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050505"/>
                </a:solidFill>
              </a:defRPr>
            </a:pPr>
            <a:r>
              <a:rPr sz="600" b="0">
                <a:solidFill>
                  <a:srgbClr val="050505"/>
                </a:solidFill>
              </a:rPr>
              <a:t>01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5C69194-04F8-4B0E-B329-00CF8931E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524500"/>
            <a:ext cx="18383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28" b="1">
                <a:solidFill>
                  <a:srgbClr val="050505"/>
                </a:solidFill>
              </a:defRPr>
            </a:pPr>
            <a:r>
              <a:rPr sz="728" b="1">
                <a:solidFill>
                  <a:srgbClr val="050505"/>
                </a:solidFill>
              </a:rPr>
              <a:t>Who owns the outcome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5E26871-3061-4A99-8EF2-7C205AD7E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5534025"/>
            <a:ext cx="33337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050505"/>
                </a:solidFill>
              </a:defRPr>
            </a:pPr>
            <a:r>
              <a:rPr sz="600" b="0">
                <a:solidFill>
                  <a:srgbClr val="050505"/>
                </a:solidFill>
              </a:rPr>
              <a:t>02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37F8592-60CE-4BF5-B535-B7EED6A90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524500"/>
            <a:ext cx="18383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28" b="1">
                <a:solidFill>
                  <a:srgbClr val="050505"/>
                </a:solidFill>
              </a:defRPr>
            </a:pPr>
            <a:r>
              <a:rPr sz="728" b="1">
                <a:solidFill>
                  <a:srgbClr val="050505"/>
                </a:solidFill>
              </a:rPr>
              <a:t>What completion means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E5E2516-7170-41FE-A505-2E3C79810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962650"/>
            <a:ext cx="33337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050505"/>
                </a:solidFill>
              </a:defRPr>
            </a:pPr>
            <a:r>
              <a:rPr sz="600" b="0">
                <a:solidFill>
                  <a:srgbClr val="050505"/>
                </a:solidFill>
              </a:rPr>
              <a:t>03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56AB0FF-773E-47AC-BD34-6E19BBBEB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953125"/>
            <a:ext cx="18383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28" b="1">
                <a:solidFill>
                  <a:srgbClr val="050505"/>
                </a:solidFill>
              </a:defRPr>
            </a:pPr>
            <a:r>
              <a:rPr sz="728" b="1">
                <a:solidFill>
                  <a:srgbClr val="050505"/>
                </a:solidFill>
              </a:rPr>
              <a:t>What is outside this pilot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81AE9DD-F1FF-4DBD-8357-225F84A07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5962650"/>
            <a:ext cx="33337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050505"/>
                </a:solidFill>
              </a:defRPr>
            </a:pPr>
            <a:r>
              <a:rPr sz="600" b="0">
                <a:solidFill>
                  <a:srgbClr val="050505"/>
                </a:solidFill>
              </a:rPr>
              <a:t>04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F0C17D9-C8ED-4B6D-A29D-F9451B10B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953125"/>
            <a:ext cx="18383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28" b="1">
                <a:solidFill>
                  <a:srgbClr val="050505"/>
                </a:solidFill>
              </a:defRPr>
            </a:pPr>
            <a:r>
              <a:rPr sz="728" b="1">
                <a:solidFill>
                  <a:srgbClr val="050505"/>
                </a:solidFill>
              </a:rPr>
              <a:t>How the result will be judged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31E944A-E7D7-446F-BF33-004028A22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200900"/>
            <a:ext cx="381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15" b="0">
                <a:solidFill>
                  <a:srgbClr val="050505"/>
                </a:solidFill>
              </a:defRPr>
            </a:pPr>
            <a:r>
              <a:rPr sz="615" b="0">
                <a:solidFill>
                  <a:srgbClr val="050505"/>
                </a:solidFill>
              </a:rPr>
              <a:t>8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98C64AF-DA92-4AF6-BA2D-06AEBA756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7200900"/>
            <a:ext cx="2000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615" b="0">
                <a:solidFill>
                  <a:srgbClr val="050505"/>
                </a:solidFill>
              </a:defRPr>
            </a:pPr>
            <a:r>
              <a:rPr sz="615" b="0">
                <a:solidFill>
                  <a:srgbClr val="050505"/>
                </a:solidFill>
              </a:rPr>
              <a:t>FDE enterprise AI upgrade</a:t>
            </a:r>
          </a:p>
        </p:txBody>
      </p:sp>
    </p:spTree>
    <p:extLst>
      <p:ext uri="{BB962C8B-B14F-4D97-AF65-F5344CB8AC3E}">
        <p14:creationId xmlns:p14="http://schemas.microsoft.com/office/powerpoint/2010/main" val="74149675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44EA841-619C-4C24-99E9-EFD806D53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38150"/>
            <a:ext cx="50292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0">
                <a:solidFill>
                  <a:srgbClr val="050505"/>
                </a:solidFill>
              </a:defRPr>
            </a:pPr>
            <a:r>
              <a:rPr sz="2700" b="0">
                <a:solidFill>
                  <a:srgbClr val="050505"/>
                </a:solidFill>
              </a:rPr>
              <a:t>Show what changed in the business,</a:t>
            </a:r>
          </a:p>
          <a:p xmlns:a="http://schemas.openxmlformats.org/drawingml/2006/main">
            <a:pPr algn="l">
              <a:defRPr sz="2700" b="0">
                <a:solidFill>
                  <a:srgbClr val="050505"/>
                </a:solidFill>
              </a:defRPr>
            </a:pPr>
            <a:r>
              <a:rPr sz="2700" b="0">
                <a:solidFill>
                  <a:srgbClr val="050505"/>
                </a:solidFill>
              </a:rPr>
              <a:t>not only what the system looks like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D31ECBF-90E6-4235-AAE1-C50A640F0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47875"/>
            <a:ext cx="5029200" cy="504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D9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0D3FF01-8436-467A-AFA9-A2B498A29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181225"/>
            <a:ext cx="4762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05" b="1">
                <a:solidFill>
                  <a:srgbClr val="050505"/>
                </a:solidFill>
              </a:defRPr>
            </a:pPr>
            <a:r>
              <a:rPr sz="705" b="1">
                <a:solidFill>
                  <a:srgbClr val="050505"/>
                </a:solidFill>
              </a:rPr>
              <a:t>Case details are pending customer confirmation. No company name, logo, or performance figure will be used without permission and evidence.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B6DE78F-C294-488A-8567-E0FE261CC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67025"/>
            <a:ext cx="5029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05" b="1">
                <a:solidFill>
                  <a:srgbClr val="050505"/>
                </a:solidFill>
              </a:defRPr>
            </a:pPr>
            <a:r>
              <a:rPr sz="705" b="1">
                <a:solidFill>
                  <a:srgbClr val="050505"/>
                </a:solidFill>
              </a:rPr>
              <a:t>COMPANIES WE HAVE SERVED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A2D3FA4-06DE-422B-9614-10E651604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190875"/>
            <a:ext cx="11239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4F2"/>
          </a:solidFill>
          <a:ln xmlns:a="http://schemas.openxmlformats.org/drawingml/2006/main" w="7620">
            <a:solidFill>
              <a:srgbClr val="AEB0B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764DD92-5005-4B01-82EF-25CF21EA2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381375"/>
            <a:ext cx="11239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638" b="0">
                <a:solidFill>
                  <a:srgbClr val="54565A"/>
                </a:solidFill>
              </a:defRPr>
            </a:pPr>
            <a:r>
              <a:rPr sz="638" b="0">
                <a:solidFill>
                  <a:srgbClr val="54565A"/>
                </a:solidFill>
              </a:rPr>
              <a:t>[Client logo 1]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AD73546-77FD-4373-B342-A01058682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5925" y="3190875"/>
            <a:ext cx="11239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4F2"/>
          </a:solidFill>
          <a:ln xmlns:a="http://schemas.openxmlformats.org/drawingml/2006/main" w="7620">
            <a:solidFill>
              <a:srgbClr val="AEB0B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B433FA0-1C88-4FA0-952A-69F8D8B1E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5925" y="3381375"/>
            <a:ext cx="11239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638" b="0">
                <a:solidFill>
                  <a:srgbClr val="54565A"/>
                </a:solidFill>
              </a:defRPr>
            </a:pPr>
            <a:r>
              <a:rPr sz="638" b="0">
                <a:solidFill>
                  <a:srgbClr val="54565A"/>
                </a:solidFill>
              </a:rPr>
              <a:t>[Client logo 2]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BBB609C-8D64-4532-91E1-FF172CBD9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3190875"/>
            <a:ext cx="11239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4F2"/>
          </a:solidFill>
          <a:ln xmlns:a="http://schemas.openxmlformats.org/drawingml/2006/main" w="7620">
            <a:solidFill>
              <a:srgbClr val="AEB0B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EC188A7-E972-4CB6-8AC1-90E19091D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3381375"/>
            <a:ext cx="11239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638" b="0">
                <a:solidFill>
                  <a:srgbClr val="54565A"/>
                </a:solidFill>
              </a:defRPr>
            </a:pPr>
            <a:r>
              <a:rPr sz="638" b="0">
                <a:solidFill>
                  <a:srgbClr val="54565A"/>
                </a:solidFill>
              </a:rPr>
              <a:t>[Client logo 3]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FD81679-BA15-4D26-B770-0AC0865AA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3190875"/>
            <a:ext cx="11239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4F2"/>
          </a:solidFill>
          <a:ln xmlns:a="http://schemas.openxmlformats.org/drawingml/2006/main" w="7620">
            <a:solidFill>
              <a:srgbClr val="AEB0B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CDAFF17-DF6C-4300-9178-6F9414DE2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3381375"/>
            <a:ext cx="11239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638" b="0">
                <a:solidFill>
                  <a:srgbClr val="54565A"/>
                </a:solidFill>
              </a:defRPr>
            </a:pPr>
            <a:r>
              <a:rPr sz="638" b="0">
                <a:solidFill>
                  <a:srgbClr val="54565A"/>
                </a:solidFill>
              </a:rPr>
              <a:t>[Client logo 4]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7C700FA-233B-49D1-B013-24B3BCAFA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105275"/>
            <a:ext cx="5029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05" b="1">
                <a:solidFill>
                  <a:srgbClr val="050505"/>
                </a:solidFill>
              </a:defRPr>
            </a:pPr>
            <a:r>
              <a:rPr sz="705" b="1">
                <a:solidFill>
                  <a:srgbClr val="050505"/>
                </a:solidFill>
              </a:rPr>
              <a:t>CASE STUDY 1 | [Factory type / business function]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4BF3381-2CB5-4959-9DB7-99E273907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505325"/>
            <a:ext cx="27622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050505"/>
                </a:solidFill>
              </a:defRPr>
            </a:pPr>
            <a:r>
              <a:rPr sz="600" b="0">
                <a:solidFill>
                  <a:srgbClr val="050505"/>
                </a:solidFill>
              </a:rPr>
              <a:t>01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F9A6D95-C789-4FC2-ABE9-026C13D7F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495800"/>
            <a:ext cx="133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35" b="1">
                <a:solidFill>
                  <a:srgbClr val="050505"/>
                </a:solidFill>
              </a:defRPr>
            </a:pPr>
            <a:r>
              <a:rPr sz="735" b="1">
                <a:solidFill>
                  <a:srgbClr val="050505"/>
                </a:solidFill>
              </a:rPr>
              <a:t>Before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9065799-6803-4811-83E3-4C96BD4B9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495800"/>
            <a:ext cx="31432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53" b="0">
                <a:solidFill>
                  <a:srgbClr val="54565A"/>
                </a:solidFill>
              </a:defRPr>
            </a:pPr>
            <a:r>
              <a:rPr sz="653" b="0">
                <a:solidFill>
                  <a:srgbClr val="54565A"/>
                </a:solidFill>
              </a:rPr>
              <a:t>[Replace with customer-confirmed facts, systems, and before/after evidence]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64B0C1D-F6C1-43F2-8BE2-6FA741B44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962525"/>
            <a:ext cx="4619625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0B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2EFE722-4AF3-4D69-86F2-0FAA172CA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076825"/>
            <a:ext cx="27622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050505"/>
                </a:solidFill>
              </a:defRPr>
            </a:pPr>
            <a:r>
              <a:rPr sz="600" b="0">
                <a:solidFill>
                  <a:srgbClr val="050505"/>
                </a:solidFill>
              </a:rPr>
              <a:t>02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0142D1C-B1F7-446F-ACBE-210673EDA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067300"/>
            <a:ext cx="133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35" b="1">
                <a:solidFill>
                  <a:srgbClr val="050505"/>
                </a:solidFill>
              </a:defRPr>
            </a:pPr>
            <a:r>
              <a:rPr sz="735" b="1">
                <a:solidFill>
                  <a:srgbClr val="050505"/>
                </a:solidFill>
              </a:rPr>
              <a:t>What we found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9F2C87E-417F-473E-9446-6530005F1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5067300"/>
            <a:ext cx="31432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53" b="0">
                <a:solidFill>
                  <a:srgbClr val="54565A"/>
                </a:solidFill>
              </a:defRPr>
            </a:pPr>
            <a:r>
              <a:rPr sz="653" b="0">
                <a:solidFill>
                  <a:srgbClr val="54565A"/>
                </a:solidFill>
              </a:rPr>
              <a:t>[Replace with customer-confirmed facts, systems, and before/after evidence]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A67A556-8ABA-4B7F-B129-C342FFA03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534025"/>
            <a:ext cx="4619625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0B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CF2D9D3-1ABA-467E-A3A4-20876042F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648325"/>
            <a:ext cx="27622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050505"/>
                </a:solidFill>
              </a:defRPr>
            </a:pPr>
            <a:r>
              <a:rPr sz="600" b="0">
                <a:solidFill>
                  <a:srgbClr val="050505"/>
                </a:solidFill>
              </a:rPr>
              <a:t>03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18C0011-DC50-4C63-8539-081698BD1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638800"/>
            <a:ext cx="133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35" b="1">
                <a:solidFill>
                  <a:srgbClr val="050505"/>
                </a:solidFill>
              </a:defRPr>
            </a:pPr>
            <a:r>
              <a:rPr sz="735" b="1">
                <a:solidFill>
                  <a:srgbClr val="050505"/>
                </a:solidFill>
              </a:rPr>
              <a:t>What we delivered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77FEDE8-6449-4FC8-86DA-342A23AA9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5638800"/>
            <a:ext cx="31432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53" b="0">
                <a:solidFill>
                  <a:srgbClr val="54565A"/>
                </a:solidFill>
              </a:defRPr>
            </a:pPr>
            <a:r>
              <a:rPr sz="653" b="0">
                <a:solidFill>
                  <a:srgbClr val="54565A"/>
                </a:solidFill>
              </a:rPr>
              <a:t>[Replace with customer-confirmed facts, systems, and before/after evidence]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042674F-A09E-42F4-82F9-7E3D2882A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6105525"/>
            <a:ext cx="4619625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0B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EA2BDA0-5C75-49E2-8F76-F4553966D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19825"/>
            <a:ext cx="27622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050505"/>
                </a:solidFill>
              </a:defRPr>
            </a:pPr>
            <a:r>
              <a:rPr sz="600" b="0">
                <a:solidFill>
                  <a:srgbClr val="050505"/>
                </a:solidFill>
              </a:rPr>
              <a:t>04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0A036B3-DD20-4FF2-A111-CF9F4528B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6210300"/>
            <a:ext cx="133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35" b="1">
                <a:solidFill>
                  <a:srgbClr val="050505"/>
                </a:solidFill>
              </a:defRPr>
            </a:pPr>
            <a:r>
              <a:rPr sz="735" b="1">
                <a:solidFill>
                  <a:srgbClr val="050505"/>
                </a:solidFill>
              </a:rPr>
              <a:t>What changed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A133C20-C9FD-431A-B06A-94C047EC5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6210300"/>
            <a:ext cx="31432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53" b="0">
                <a:solidFill>
                  <a:srgbClr val="54565A"/>
                </a:solidFill>
              </a:defRPr>
            </a:pPr>
            <a:r>
              <a:rPr sz="653" b="0">
                <a:solidFill>
                  <a:srgbClr val="54565A"/>
                </a:solidFill>
              </a:rPr>
              <a:t>[Replace with customer-confirmed facts, systems, and before/after evidence]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1D50AC4-4276-4B52-8D6C-A6D1D2F8D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200900"/>
            <a:ext cx="381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15" b="0">
                <a:solidFill>
                  <a:srgbClr val="050505"/>
                </a:solidFill>
              </a:defRPr>
            </a:pPr>
            <a:r>
              <a:rPr sz="615" b="0">
                <a:solidFill>
                  <a:srgbClr val="050505"/>
                </a:solidFill>
              </a:rPr>
              <a:t>9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8EA589D-7932-47B5-9519-0A7586383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7200900"/>
            <a:ext cx="2000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615" b="0">
                <a:solidFill>
                  <a:srgbClr val="050505"/>
                </a:solidFill>
              </a:defRPr>
            </a:pPr>
            <a:r>
              <a:rPr sz="615" b="0">
                <a:solidFill>
                  <a:srgbClr val="050505"/>
                </a:solidFill>
              </a:rPr>
              <a:t>FDE enterprise AI upgrade</a:t>
            </a:r>
          </a:p>
        </p:txBody>
      </p:sp>
    </p:spTree>
    <p:extLst>
      <p:ext uri="{BB962C8B-B14F-4D97-AF65-F5344CB8AC3E}">
        <p14:creationId xmlns:p14="http://schemas.microsoft.com/office/powerpoint/2010/main" val="16834030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E9DA0DE-3341-4BCA-8E8F-A104AD30A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38150"/>
            <a:ext cx="50292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050505"/>
                </a:solidFill>
              </a:defRPr>
            </a:pPr>
            <a:r>
              <a:rPr sz="2250" b="0">
                <a:solidFill>
                  <a:srgbClr val="050505"/>
                </a:solidFill>
              </a:rPr>
              <a:t>A working agent still needs</a:t>
            </a:r>
          </a:p>
          <a:p xmlns:a="http://schemas.openxmlformats.org/drawingml/2006/main">
            <a:pPr algn="l">
              <a:defRPr sz="2250" b="0">
                <a:solidFill>
                  <a:srgbClr val="050505"/>
                </a:solidFill>
              </a:defRPr>
            </a:pPr>
            <a:r>
              <a:rPr sz="2250" b="0">
                <a:solidFill>
                  <a:srgbClr val="050505"/>
                </a:solidFill>
              </a:rPr>
              <a:t>someone who knows how to lead it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7F508B0-0F70-458B-B294-CD9ACD05E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2143125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03" b="0">
                <a:solidFill>
                  <a:srgbClr val="050505"/>
                </a:solidFill>
              </a:defRPr>
            </a:pPr>
            <a:r>
              <a:rPr sz="803" b="0">
                <a:solidFill>
                  <a:srgbClr val="050505"/>
                </a:solidFill>
              </a:rPr>
              <a:t>FDE delivery builds the company’s AI upgrade.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803" b="0">
                <a:solidFill>
                  <a:srgbClr val="050505"/>
                </a:solidFill>
              </a:defRPr>
            </a:pPr>
            <a:r>
              <a:rPr sz="803" b="0">
                <a:solidFill>
                  <a:srgbClr val="050505"/>
                </a:solidFill>
              </a:rPr>
              <a:t>After launch, managers and employees need to know how to: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13AC08-1019-4570-9E9B-E014D5F1B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581150"/>
            <a:ext cx="28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050505"/>
                </a:solidFill>
              </a:defRPr>
            </a:pPr>
            <a:r>
              <a:rPr sz="638" b="0">
                <a:solidFill>
                  <a:srgbClr val="050505"/>
                </a:solidFill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6374A2-1C84-42D8-BE8A-409D581AF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525" y="1562100"/>
            <a:ext cx="19907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050505"/>
                </a:solidFill>
              </a:defRPr>
            </a:pPr>
            <a:r>
              <a:rPr sz="690" b="0">
                <a:solidFill>
                  <a:srgbClr val="050505"/>
                </a:solidFill>
              </a:rPr>
              <a:t>Give agents clear goals and completion criteria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3DA42E8-AC91-4FE6-AD9B-7CC134E93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525" y="2057400"/>
            <a:ext cx="1990725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0B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EBF9A45-D69A-4228-AE96-40427F7F7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24075"/>
            <a:ext cx="28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050505"/>
                </a:solidFill>
              </a:defRPr>
            </a:pPr>
            <a:r>
              <a:rPr sz="638" b="0">
                <a:solidFill>
                  <a:srgbClr val="050505"/>
                </a:solidFill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F5767C8-A6DF-4BA2-BDCC-1473D8EA9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525" y="2105025"/>
            <a:ext cx="19907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050505"/>
                </a:solidFill>
              </a:defRPr>
            </a:pPr>
            <a:r>
              <a:rPr sz="690" b="0">
                <a:solidFill>
                  <a:srgbClr val="050505"/>
                </a:solidFill>
              </a:rPr>
              <a:t>Decide which work can be delegated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4ECAB9F-71FD-4BF2-ACAC-CF253BD0F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525" y="2600325"/>
            <a:ext cx="1990725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0B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5E720E2-E6DE-427A-856E-3FB2FD87F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667000"/>
            <a:ext cx="28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050505"/>
                </a:solidFill>
              </a:defRPr>
            </a:pPr>
            <a:r>
              <a:rPr sz="638" b="0">
                <a:solidFill>
                  <a:srgbClr val="050505"/>
                </a:solidFill>
              </a:rPr>
              <a:t>03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929A639-1103-4014-BD46-6CFE0D72B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525" y="2647950"/>
            <a:ext cx="19907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050505"/>
                </a:solidFill>
              </a:defRPr>
            </a:pPr>
            <a:r>
              <a:rPr sz="690" b="0">
                <a:solidFill>
                  <a:srgbClr val="050505"/>
                </a:solidFill>
              </a:rPr>
              <a:t>Review the process and the result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24F9393-9C71-45BD-97C8-602E5E3B3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525" y="3143250"/>
            <a:ext cx="1990725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0B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7420FDE-9DAE-4BAA-80E3-3F8339974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09925"/>
            <a:ext cx="28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050505"/>
                </a:solidFill>
              </a:defRPr>
            </a:pPr>
            <a:r>
              <a:rPr sz="638" b="0">
                <a:solidFill>
                  <a:srgbClr val="050505"/>
                </a:solidFill>
              </a:rPr>
              <a:t>04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D9D60AD-EF51-4006-990C-0A5D5048F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525" y="3190875"/>
            <a:ext cx="19907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050505"/>
                </a:solidFill>
              </a:defRPr>
            </a:pPr>
            <a:r>
              <a:rPr sz="690" b="0">
                <a:solidFill>
                  <a:srgbClr val="050505"/>
                </a:solidFill>
              </a:rPr>
              <a:t>Handle exceptions, request changes, or stop a task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5670869-DA54-4749-8A94-E528C2A2E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525" y="3686175"/>
            <a:ext cx="1990725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0B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CED3223-E8D3-42B9-AF62-EC3C52ED5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752850"/>
            <a:ext cx="28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050505"/>
                </a:solidFill>
              </a:defRPr>
            </a:pPr>
            <a:r>
              <a:rPr sz="638" b="0">
                <a:solidFill>
                  <a:srgbClr val="050505"/>
                </a:solidFill>
              </a:rPr>
              <a:t>05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419A8D9-F176-4021-AA7A-F73274200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525" y="3733800"/>
            <a:ext cx="19907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050505"/>
                </a:solidFill>
              </a:defRPr>
            </a:pPr>
            <a:r>
              <a:rPr sz="690" b="0">
                <a:solidFill>
                  <a:srgbClr val="050505"/>
                </a:solidFill>
              </a:rPr>
              <a:t>Manage data, tools, and permissions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3DF6552-2E08-45E6-9306-8D55991CF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525" y="4229100"/>
            <a:ext cx="1990725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0B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E44013D-E82F-4AFC-8CFC-F281D1B15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295775"/>
            <a:ext cx="28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050505"/>
                </a:solidFill>
              </a:defRPr>
            </a:pPr>
            <a:r>
              <a:rPr sz="638" b="0">
                <a:solidFill>
                  <a:srgbClr val="050505"/>
                </a:solidFill>
              </a:rPr>
              <a:t>06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6DB802D-D8DB-49C4-99EE-5073D6A78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525" y="4276725"/>
            <a:ext cx="19907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050505"/>
                </a:solidFill>
              </a:defRPr>
            </a:pPr>
            <a:r>
              <a:rPr sz="690" b="0">
                <a:solidFill>
                  <a:srgbClr val="050505"/>
                </a:solidFill>
              </a:rPr>
              <a:t>Turn good practices into shared Skills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46A1F34-43B3-4825-84A9-7BF188174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525" y="4772025"/>
            <a:ext cx="1990725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0B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DD69F49-A323-49C1-AB7E-841D1DE0D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838700"/>
            <a:ext cx="28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050505"/>
                </a:solidFill>
              </a:defRPr>
            </a:pPr>
            <a:r>
              <a:rPr sz="638" b="0">
                <a:solidFill>
                  <a:srgbClr val="050505"/>
                </a:solidFill>
              </a:rPr>
              <a:t>07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A92DD93-966B-4DFA-8EDC-099BE7146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525" y="4819650"/>
            <a:ext cx="19907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050505"/>
                </a:solidFill>
              </a:defRPr>
            </a:pPr>
            <a:r>
              <a:rPr sz="690" b="0">
                <a:solidFill>
                  <a:srgbClr val="050505"/>
                </a:solidFill>
              </a:rPr>
              <a:t>Remain accountable for the business outcome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4C8A883-B638-4D87-A4C5-CC059956D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181350"/>
            <a:ext cx="2143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60" b="1">
                <a:solidFill>
                  <a:srgbClr val="050505"/>
                </a:solidFill>
              </a:defRPr>
            </a:pPr>
            <a:r>
              <a:rPr sz="960" b="1">
                <a:solidFill>
                  <a:srgbClr val="050505"/>
                </a:solidFill>
              </a:rPr>
              <a:t>We call this training Agent Boss.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F0CDBAC-1070-482A-9E14-30F7ED27B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95700"/>
            <a:ext cx="2143125" cy="1076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80" b="0">
                <a:solidFill>
                  <a:srgbClr val="050505"/>
                </a:solidFill>
              </a:defRPr>
            </a:pPr>
            <a:r>
              <a:rPr sz="780" b="0">
                <a:solidFill>
                  <a:srgbClr val="050505"/>
                </a:solidFill>
              </a:rPr>
              <a:t>It is not a prompt-writing class or a tour of AI tools. It teaches people how to lead work carried out by both humans and agents.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1D4F3BA-C054-470F-828A-FF03BB6B5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772150"/>
            <a:ext cx="50292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D9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4703EA5-2AA5-4C55-B89B-6AD9BFF1F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981700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050505"/>
                </a:solidFill>
              </a:defRPr>
            </a:pPr>
            <a:r>
              <a:rPr sz="788" b="1">
                <a:solidFill>
                  <a:srgbClr val="050505"/>
                </a:solidFill>
              </a:rPr>
              <a:t>FDE: build and launch the system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58B6D14-86EA-4E2D-A742-B0399A133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5981700"/>
            <a:ext cx="2305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65" b="1">
                <a:solidFill>
                  <a:srgbClr val="050505"/>
                </a:solidFill>
              </a:defRPr>
            </a:pPr>
            <a:r>
              <a:rPr sz="765" b="1">
                <a:solidFill>
                  <a:srgbClr val="050505"/>
                </a:solidFill>
              </a:rPr>
              <a:t>Agent Boss: help the team take ownership and keep improving it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CB48C92-DE3E-4D19-B507-D9071161A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200900"/>
            <a:ext cx="381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15" b="0">
                <a:solidFill>
                  <a:srgbClr val="050505"/>
                </a:solidFill>
              </a:defRPr>
            </a:pPr>
            <a:r>
              <a:rPr sz="615" b="0">
                <a:solidFill>
                  <a:srgbClr val="050505"/>
                </a:solidFill>
              </a:rPr>
              <a:t>10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0654DC0-765A-4AB1-89DC-41DD95A58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7200900"/>
            <a:ext cx="2000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615" b="0">
                <a:solidFill>
                  <a:srgbClr val="050505"/>
                </a:solidFill>
              </a:defRPr>
            </a:pPr>
            <a:r>
              <a:rPr sz="615" b="0">
                <a:solidFill>
                  <a:srgbClr val="050505"/>
                </a:solidFill>
              </a:rPr>
              <a:t>FDE enterprise AI upgrade</a:t>
            </a:r>
          </a:p>
        </p:txBody>
      </p:sp>
    </p:spTree>
    <p:extLst>
      <p:ext uri="{BB962C8B-B14F-4D97-AF65-F5344CB8AC3E}">
        <p14:creationId xmlns:p14="http://schemas.microsoft.com/office/powerpoint/2010/main" val="201378527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62633DA-A973-4444-835D-7D10B6E21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38150"/>
            <a:ext cx="50292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0">
                <a:solidFill>
                  <a:srgbClr val="050505"/>
                </a:solidFill>
              </a:defRPr>
            </a:pPr>
            <a:r>
              <a:rPr sz="3150" b="0">
                <a:solidFill>
                  <a:srgbClr val="050505"/>
                </a:solidFill>
              </a:rPr>
              <a:t>Find the right first step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36A84A5-A2D1-4462-80D8-0245BBA38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90650"/>
            <a:ext cx="5029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050505"/>
                </a:solidFill>
              </a:defRPr>
            </a:pPr>
            <a:r>
              <a:rPr sz="840" b="0">
                <a:solidFill>
                  <a:srgbClr val="050505"/>
                </a:solidFill>
              </a:rPr>
              <a:t>During the event, we are offering a complimentary enterprise AI assessment.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B945FE7-1F04-4374-8741-83A519F6E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38350"/>
            <a:ext cx="2362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05" b="1">
                <a:solidFill>
                  <a:srgbClr val="050505"/>
                </a:solidFill>
              </a:defRPr>
            </a:pPr>
            <a:r>
              <a:rPr sz="705" b="1">
                <a:solidFill>
                  <a:srgbClr val="050505"/>
                </a:solidFill>
              </a:rPr>
              <a:t>YOU WILL RECEIVE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C78D94-B436-45EB-AA19-26A73E6BA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09825"/>
            <a:ext cx="28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050505"/>
                </a:solidFill>
              </a:defRPr>
            </a:pPr>
            <a:r>
              <a:rPr sz="638" b="0">
                <a:solidFill>
                  <a:srgbClr val="050505"/>
                </a:solidFill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0EC2B37-BA0E-4E78-B3AA-440B1ABE0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2390775"/>
            <a:ext cx="19335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28" b="0">
                <a:solidFill>
                  <a:srgbClr val="050505"/>
                </a:solidFill>
              </a:defRPr>
            </a:pPr>
            <a:r>
              <a:rPr sz="728" b="0">
                <a:solidFill>
                  <a:srgbClr val="050505"/>
                </a:solidFill>
              </a:rPr>
              <a:t>One to three areas worth examining first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73832B2-1092-4712-8346-2650FB798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3038475"/>
            <a:ext cx="1933575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0B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5E15476-E1FD-43AA-94D2-14F1965B4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105150"/>
            <a:ext cx="28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050505"/>
                </a:solidFill>
              </a:defRPr>
            </a:pPr>
            <a:r>
              <a:rPr sz="638" b="0">
                <a:solidFill>
                  <a:srgbClr val="050505"/>
                </a:solidFill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CFB134E-1F30-425E-871C-0156449AC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3086100"/>
            <a:ext cx="19335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28" b="0">
                <a:solidFill>
                  <a:srgbClr val="050505"/>
                </a:solidFill>
              </a:defRPr>
            </a:pPr>
            <a:r>
              <a:rPr sz="728" b="0">
                <a:solidFill>
                  <a:srgbClr val="050505"/>
                </a:solidFill>
              </a:rPr>
              <a:t>An initial judgment on whether AI fits the work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A5F3C6B-B9DC-49C3-AF53-EECA0AB21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3733800"/>
            <a:ext cx="1933575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0B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F6F948B-DF08-41EA-95C3-0D23D6C63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00475"/>
            <a:ext cx="28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050505"/>
                </a:solidFill>
              </a:defRPr>
            </a:pPr>
            <a:r>
              <a:rPr sz="638" b="0">
                <a:solidFill>
                  <a:srgbClr val="050505"/>
                </a:solidFill>
              </a:rPr>
              <a:t>03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17B4361-59E2-4D89-827E-A841646C9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3781425"/>
            <a:ext cx="19335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28" b="0">
                <a:solidFill>
                  <a:srgbClr val="050505"/>
                </a:solidFill>
              </a:defRPr>
            </a:pPr>
            <a:r>
              <a:rPr sz="728" b="0">
                <a:solidFill>
                  <a:srgbClr val="050505"/>
                </a:solidFill>
              </a:rPr>
              <a:t>The data, systems, and people required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1EACA8A-FF7A-4E50-B1C7-ACB6E1C13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4429125"/>
            <a:ext cx="1933575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0B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3E3E6F3-AD49-4FF6-8BD1-177A8214F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495800"/>
            <a:ext cx="28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050505"/>
                </a:solidFill>
              </a:defRPr>
            </a:pPr>
            <a:r>
              <a:rPr sz="638" b="0">
                <a:solidFill>
                  <a:srgbClr val="050505"/>
                </a:solidFill>
              </a:rPr>
              <a:t>04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92A4D71-BB42-4A98-9282-2560CFE15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4476750"/>
            <a:ext cx="19335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28" b="0">
                <a:solidFill>
                  <a:srgbClr val="050505"/>
                </a:solidFill>
              </a:defRPr>
            </a:pPr>
            <a:r>
              <a:rPr sz="728" b="0">
                <a:solidFill>
                  <a:srgbClr val="050505"/>
                </a:solidFill>
              </a:rPr>
              <a:t>A recommendation: buy software, build a Skill, create custom SaaS, organize data, or redesign the workflow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7F9CDFB-8383-48AC-B5CC-F3BD7F87B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5124450"/>
            <a:ext cx="1933575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0B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05FFC11-C45A-453B-A96D-C1C04FE7D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91125"/>
            <a:ext cx="28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050505"/>
                </a:solidFill>
              </a:defRPr>
            </a:pPr>
            <a:r>
              <a:rPr sz="638" b="0">
                <a:solidFill>
                  <a:srgbClr val="050505"/>
                </a:solidFill>
              </a:rPr>
              <a:t>05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2F37127-7C4B-46FE-AED5-CFC129D25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5172075"/>
            <a:ext cx="19335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28" b="0">
                <a:solidFill>
                  <a:srgbClr val="050505"/>
                </a:solidFill>
              </a:defRPr>
            </a:pPr>
            <a:r>
              <a:rPr sz="728" b="0">
                <a:solidFill>
                  <a:srgbClr val="050505"/>
                </a:solidFill>
              </a:rPr>
              <a:t>An honest view on whether a pilot is worthwhile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F49E948-2A10-4CE1-B80D-8C3722B3C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038350"/>
            <a:ext cx="2362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05" b="1">
                <a:solidFill>
                  <a:srgbClr val="050505"/>
                </a:solidFill>
              </a:defRPr>
            </a:pPr>
            <a:r>
              <a:rPr sz="705" b="1">
                <a:solidFill>
                  <a:srgbClr val="050505"/>
                </a:solidFill>
              </a:rPr>
              <a:t>WE MAY ALSO TELL YOU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214FEB9-6BFF-4EF3-A1BF-54DFD82DA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409825"/>
            <a:ext cx="28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050505"/>
                </a:solidFill>
              </a:defRPr>
            </a:pPr>
            <a:r>
              <a:rPr sz="638" b="0">
                <a:solidFill>
                  <a:srgbClr val="050505"/>
                </a:solidFill>
              </a:rPr>
              <a:t>01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A97C411-7327-44BE-9EEA-55AC73D0F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2390775"/>
            <a:ext cx="19335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28" b="0">
                <a:solidFill>
                  <a:srgbClr val="050505"/>
                </a:solidFill>
              </a:defRPr>
            </a:pPr>
            <a:r>
              <a:rPr sz="728" b="0">
                <a:solidFill>
                  <a:srgbClr val="050505"/>
                </a:solidFill>
              </a:rPr>
              <a:t>The problem does not need AI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5EC9F4E-94F3-41DF-AFB3-7E3F2E1FB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3038475"/>
            <a:ext cx="1933575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0B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7EB76E0-199D-4798-AC0F-1CD893658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3105150"/>
            <a:ext cx="28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050505"/>
                </a:solidFill>
              </a:defRPr>
            </a:pPr>
            <a:r>
              <a:rPr sz="638" b="0">
                <a:solidFill>
                  <a:srgbClr val="050505"/>
                </a:solidFill>
              </a:rPr>
              <a:t>02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AAB915B-EC78-43B9-B992-620AD3C60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3086100"/>
            <a:ext cx="19335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28" b="0">
                <a:solidFill>
                  <a:srgbClr val="050505"/>
                </a:solidFill>
              </a:defRPr>
            </a:pPr>
            <a:r>
              <a:rPr sz="728" b="0">
                <a:solidFill>
                  <a:srgbClr val="050505"/>
                </a:solidFill>
              </a:rPr>
              <a:t>The data is not ready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F5308F9-F289-423E-8733-10872340C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3733800"/>
            <a:ext cx="1933575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0B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E6BD25B-98A8-4E26-A41A-E6122BC8C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3800475"/>
            <a:ext cx="28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050505"/>
                </a:solidFill>
              </a:defRPr>
            </a:pPr>
            <a:r>
              <a:rPr sz="638" b="0">
                <a:solidFill>
                  <a:srgbClr val="050505"/>
                </a:solidFill>
              </a:rPr>
              <a:t>03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4246827-246A-4C77-827F-4D2276EDF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3781425"/>
            <a:ext cx="19335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28" b="0">
                <a:solidFill>
                  <a:srgbClr val="050505"/>
                </a:solidFill>
              </a:defRPr>
            </a:pPr>
            <a:r>
              <a:rPr sz="728" b="0">
                <a:solidFill>
                  <a:srgbClr val="050505"/>
                </a:solidFill>
              </a:rPr>
              <a:t>Fix the workflow before building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F497755-230F-4E2B-A04E-4FDBF1143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4429125"/>
            <a:ext cx="1933575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0B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9D47F93-7B6F-4C87-B1B4-C0DA4547A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4495800"/>
            <a:ext cx="28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050505"/>
                </a:solidFill>
              </a:defRPr>
            </a:pPr>
            <a:r>
              <a:rPr sz="638" b="0">
                <a:solidFill>
                  <a:srgbClr val="050505"/>
                </a:solidFill>
              </a:rPr>
              <a:t>04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F5E44E0-7D42-47CC-A4AF-DF7BB420F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4476750"/>
            <a:ext cx="19335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28" b="0">
                <a:solidFill>
                  <a:srgbClr val="050505"/>
                </a:solidFill>
              </a:defRPr>
            </a:pPr>
            <a:r>
              <a:rPr sz="728" b="0">
                <a:solidFill>
                  <a:srgbClr val="050505"/>
                </a:solidFill>
              </a:rPr>
              <a:t>An existing product is better value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A03F8B4-44A1-4B32-A8F5-53A485050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5438775"/>
            <a:ext cx="2362200" cy="866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D9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A63AF2C-96AA-478B-86A8-63D7D0CA1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925" y="5648325"/>
            <a:ext cx="20764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05" b="1">
                <a:solidFill>
                  <a:srgbClr val="050505"/>
                </a:solidFill>
              </a:defRPr>
            </a:pPr>
            <a:r>
              <a:rPr sz="705" b="1">
                <a:solidFill>
                  <a:srgbClr val="050505"/>
                </a:solidFill>
              </a:rPr>
              <a:t>The assessment does not include a complete plan and does not require access to unauthorized sensitive data.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A7DBA8A-1841-4F63-B907-87F681CA1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200900"/>
            <a:ext cx="381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15" b="0">
                <a:solidFill>
                  <a:srgbClr val="050505"/>
                </a:solidFill>
              </a:defRPr>
            </a:pPr>
            <a:r>
              <a:rPr sz="615" b="0">
                <a:solidFill>
                  <a:srgbClr val="050505"/>
                </a:solidFill>
              </a:rPr>
              <a:t>11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71AD7A4-AB52-4059-B4C0-B484EA7B7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7200900"/>
            <a:ext cx="2000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615" b="0">
                <a:solidFill>
                  <a:srgbClr val="050505"/>
                </a:solidFill>
              </a:defRPr>
            </a:pPr>
            <a:r>
              <a:rPr sz="615" b="0">
                <a:solidFill>
                  <a:srgbClr val="050505"/>
                </a:solidFill>
              </a:rPr>
              <a:t>FDE enterprise AI upgrade</a:t>
            </a:r>
          </a:p>
        </p:txBody>
      </p:sp>
    </p:spTree>
    <p:extLst>
      <p:ext uri="{BB962C8B-B14F-4D97-AF65-F5344CB8AC3E}">
        <p14:creationId xmlns:p14="http://schemas.microsoft.com/office/powerpoint/2010/main" val="180527928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D9D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F900746-D7C7-44CF-B106-79D237F9A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38150"/>
            <a:ext cx="50292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300" b="0">
                <a:solidFill>
                  <a:srgbClr val="050505"/>
                </a:solidFill>
              </a:defRPr>
            </a:pPr>
            <a:r>
              <a:rPr sz="3300" b="0">
                <a:solidFill>
                  <a:srgbClr val="050505"/>
                </a:solidFill>
              </a:rPr>
              <a:t>Which part of your business</a:t>
            </a:r>
          </a:p>
          <a:p xmlns:a="http://schemas.openxmlformats.org/drawingml/2006/main">
            <a:pPr algn="l">
              <a:defRPr sz="3300" b="0">
                <a:solidFill>
                  <a:srgbClr val="050505"/>
                </a:solidFill>
              </a:defRPr>
            </a:pPr>
            <a:r>
              <a:rPr sz="3300" b="0">
                <a:solidFill>
                  <a:srgbClr val="050505"/>
                </a:solidFill>
              </a:rPr>
              <a:t>should AI improve first?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61A93D4-1025-434A-8ABA-398EC35F4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62150"/>
            <a:ext cx="19526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35CFF"/>
                </a:solidFill>
              </a:defRPr>
            </a:pPr>
            <a:r>
              <a:rPr sz="1050" b="1">
                <a:solidFill>
                  <a:srgbClr val="135CFF"/>
                </a:solidFill>
              </a:rPr>
              <a:t>10 companies per day</a:t>
            </a:r>
          </a:p>
          <a:p xmlns:a="http://schemas.openxmlformats.org/drawingml/2006/main">
            <a:pPr algn="l">
              <a:defRPr sz="1050" b="1">
                <a:solidFill>
                  <a:srgbClr val="135CFF"/>
                </a:solidFill>
              </a:defRPr>
            </a:pPr>
            <a:r>
              <a:rPr sz="1050" b="1">
                <a:solidFill>
                  <a:srgbClr val="135CFF"/>
                </a:solidFill>
              </a:rPr>
              <a:t>20 over the two-day event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3CCAE3E-B1AD-436E-BEE1-C244D1C9F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7175" y="1952625"/>
            <a:ext cx="1362075" cy="1362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573">
            <a:solidFill>
              <a:srgbClr val="05050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B65AB4E-2B56-4429-9B39-1C249FE31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7175" y="2552700"/>
            <a:ext cx="13620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54565A"/>
                </a:solidFill>
              </a:defRPr>
            </a:pPr>
            <a:r>
              <a:rPr sz="675" b="0">
                <a:solidFill>
                  <a:srgbClr val="54565A"/>
                </a:solidFill>
              </a:rPr>
              <a:t>QR CODE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D250FC-BA6A-4B3C-9674-4FB04082D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133725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05" b="1">
                <a:solidFill>
                  <a:srgbClr val="050505"/>
                </a:solidFill>
              </a:defRPr>
            </a:pPr>
            <a:r>
              <a:rPr sz="705" b="1">
                <a:solidFill>
                  <a:srgbClr val="050505"/>
                </a:solidFill>
              </a:rPr>
              <a:t>SCAN AND TELL US: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46CA1BC-65AB-4637-8A9B-2E32A49F8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505200"/>
            <a:ext cx="28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050505"/>
                </a:solidFill>
              </a:defRPr>
            </a:pPr>
            <a:r>
              <a:rPr sz="638" b="0">
                <a:solidFill>
                  <a:srgbClr val="050505"/>
                </a:solidFill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DA405D3-EDE3-42D9-A0B8-0DACBB503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3486150"/>
            <a:ext cx="27146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050505"/>
                </a:solidFill>
              </a:defRPr>
            </a:pPr>
            <a:r>
              <a:rPr sz="750" b="0">
                <a:solidFill>
                  <a:srgbClr val="050505"/>
                </a:solidFill>
              </a:rPr>
              <a:t>Your company and industry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01CFFD4-F3DB-410D-BA62-4A77173CC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3943350"/>
            <a:ext cx="2714625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0B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8B175DF-4D7D-41D4-BDB9-2CF2FE220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10025"/>
            <a:ext cx="28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050505"/>
                </a:solidFill>
              </a:defRPr>
            </a:pPr>
            <a:r>
              <a:rPr sz="638" b="0">
                <a:solidFill>
                  <a:srgbClr val="050505"/>
                </a:solidFill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F277AC8-603B-45ED-A71F-849F1A303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3990975"/>
            <a:ext cx="27146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050505"/>
                </a:solidFill>
              </a:defRPr>
            </a:pPr>
            <a:r>
              <a:rPr sz="750" b="0">
                <a:solidFill>
                  <a:srgbClr val="050505"/>
                </a:solidFill>
              </a:rPr>
              <a:t>The one area you most want to improve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C228EA7-E3DD-4E44-8658-FA262924D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4448175"/>
            <a:ext cx="2714625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0B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39E2761-BA1F-40FD-B527-67D67D720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514850"/>
            <a:ext cx="28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050505"/>
                </a:solidFill>
              </a:defRPr>
            </a:pPr>
            <a:r>
              <a:rPr sz="638" b="0">
                <a:solidFill>
                  <a:srgbClr val="050505"/>
                </a:solidFill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3306E55-2119-4681-896C-8BE29BBAD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4495800"/>
            <a:ext cx="27146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050505"/>
                </a:solidFill>
              </a:defRPr>
            </a:pPr>
            <a:r>
              <a:rPr sz="750" b="0">
                <a:solidFill>
                  <a:srgbClr val="050505"/>
                </a:solidFill>
              </a:rPr>
              <a:t>How the work is done today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BDB93EF-D8D5-411C-AD20-7249E9A40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4953000"/>
            <a:ext cx="2714625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0B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976F4E9-BFF7-47F6-B1E3-2FDCD7087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019675"/>
            <a:ext cx="28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050505"/>
                </a:solidFill>
              </a:defRPr>
            </a:pPr>
            <a:r>
              <a:rPr sz="638" b="0">
                <a:solidFill>
                  <a:srgbClr val="050505"/>
                </a:solidFill>
              </a:rPr>
              <a:t>04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04FAE3D-601C-4529-B96E-313229B0B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5000625"/>
            <a:ext cx="27146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050505"/>
                </a:solidFill>
              </a:defRPr>
            </a:pPr>
            <a:r>
              <a:rPr sz="750" b="0">
                <a:solidFill>
                  <a:srgbClr val="050505"/>
                </a:solidFill>
              </a:rPr>
              <a:t>Who owns that part of the business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07E8FAE-2957-4DF3-BA61-3205F6E38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5457825"/>
            <a:ext cx="2714625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0B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09EF527-DA7B-4848-964B-67DBA1554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0"/>
            <a:ext cx="28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050505"/>
                </a:solidFill>
              </a:defRPr>
            </a:pPr>
            <a:r>
              <a:rPr sz="638" b="0">
                <a:solidFill>
                  <a:srgbClr val="050505"/>
                </a:solidFill>
              </a:rPr>
              <a:t>05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5CE6C15-0654-4B85-A792-B55339D6B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5505450"/>
            <a:ext cx="27146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050505"/>
                </a:solidFill>
              </a:defRPr>
            </a:pPr>
            <a:r>
              <a:rPr sz="750" b="0">
                <a:solidFill>
                  <a:srgbClr val="050505"/>
                </a:solidFill>
              </a:rPr>
              <a:t>Your contact details and preferred time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1FEDDFF-0757-4A88-8B9B-0ECB7A1F9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91250"/>
            <a:ext cx="2857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40" b="1">
                <a:solidFill>
                  <a:srgbClr val="050505"/>
                </a:solidFill>
              </a:defRPr>
            </a:pPr>
            <a:r>
              <a:rPr sz="840" b="1">
                <a:solidFill>
                  <a:srgbClr val="050505"/>
                </a:solidFill>
              </a:rPr>
              <a:t>SCAN TO RESERVE · AVAILABLE UNTIL FULL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476AE74-CFF7-4779-8C52-C56421FBC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6105525"/>
            <a:ext cx="1952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660" b="0">
                <a:solidFill>
                  <a:srgbClr val="050505"/>
                </a:solidFill>
              </a:defRPr>
            </a:pPr>
            <a:r>
              <a:rPr sz="660" b="0">
                <a:solidFill>
                  <a:srgbClr val="050505"/>
                </a:solidFill>
              </a:rPr>
              <a:t>[Brand name]</a:t>
            </a:r>
          </a:p>
          <a:p xmlns:a="http://schemas.openxmlformats.org/drawingml/2006/main">
            <a:pPr algn="r">
              <a:defRPr sz="660" b="0">
                <a:solidFill>
                  <a:srgbClr val="050505"/>
                </a:solidFill>
              </a:defRPr>
            </a:pPr>
            <a:r>
              <a:rPr sz="660" b="0">
                <a:solidFill>
                  <a:srgbClr val="050505"/>
                </a:solidFill>
              </a:rPr>
              <a:t>[Name / phone / WeChat / website]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6664533-7F61-4BE1-83A8-732F70377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705600"/>
            <a:ext cx="50292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E693AFE-1A40-442F-8137-BEA58E4B5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867525"/>
            <a:ext cx="5029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70" b="1">
                <a:solidFill>
                  <a:srgbClr val="050505"/>
                </a:solidFill>
              </a:defRPr>
            </a:pPr>
            <a:r>
              <a:rPr sz="870" b="1">
                <a:solidFill>
                  <a:srgbClr val="050505"/>
                </a:solidFill>
              </a:rPr>
              <a:t>Start with one problem you can understand, complete, and measure.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35E4D1A-0FD3-4D29-BEBA-498F069B9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200900"/>
            <a:ext cx="381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15" b="0">
                <a:solidFill>
                  <a:srgbClr val="050505"/>
                </a:solidFill>
              </a:defRPr>
            </a:pPr>
            <a:r>
              <a:rPr sz="615" b="0">
                <a:solidFill>
                  <a:srgbClr val="050505"/>
                </a:solidFill>
              </a:rPr>
              <a:t>12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5631ADE-FA93-4449-BFD3-11FAE9BB7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7200900"/>
            <a:ext cx="2000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615" b="0">
                <a:solidFill>
                  <a:srgbClr val="050505"/>
                </a:solidFill>
              </a:defRPr>
            </a:pPr>
            <a:r>
              <a:rPr sz="615" b="0">
                <a:solidFill>
                  <a:srgbClr val="050505"/>
                </a:solidFill>
              </a:rPr>
              <a:t>FDE enterprise AI upgrade</a:t>
            </a:r>
          </a:p>
        </p:txBody>
      </p:sp>
    </p:spTree>
    <p:extLst>
      <p:ext uri="{BB962C8B-B14F-4D97-AF65-F5344CB8AC3E}">
        <p14:creationId xmlns:p14="http://schemas.microsoft.com/office/powerpoint/2010/main" val="33543014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2026-08-24T06:16:26.9070000Z</dcterms:created>
  <dcterms:modified xsi:type="dcterms:W3CDTF">2026-08-24T06:16:26.9070000Z</dcterms:modified>
</coreProperties>
</file>