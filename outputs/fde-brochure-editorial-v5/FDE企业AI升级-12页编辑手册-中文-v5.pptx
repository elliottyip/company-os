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f3cc2d8e7d4616" /><Relationship Type="http://schemas.openxmlformats.org/officeDocument/2006/relationships/extended-properties" Target="/docProps/app.xml" Id="R062f43131063495d" /><Relationship Type="http://schemas.openxmlformats.org/officeDocument/2006/relationships/officeDocument" Target="/ppt/presentation.xml" Id="R8ad87b72ff59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82e6d020ed4e65"/>
  </p:sldMasterIdLst>
  <p:notesMasterIdLst>
    <p:notesMasterId xmlns:r="http://schemas.openxmlformats.org/officeDocument/2006/relationships" r:id="Rcdd87ea5ffd74b90"/>
  </p:notesMasterIdLst>
  <p:sldIdLst>
    <p:sldId xmlns:r="http://schemas.openxmlformats.org/officeDocument/2006/relationships" id="256" r:id="R9f3ce6865fa441a6"/>
    <p:sldId xmlns:r="http://schemas.openxmlformats.org/officeDocument/2006/relationships" id="257" r:id="R7e6188f5eb7f4054"/>
    <p:sldId xmlns:r="http://schemas.openxmlformats.org/officeDocument/2006/relationships" id="258" r:id="R2098ce4209b4422c"/>
    <p:sldId xmlns:r="http://schemas.openxmlformats.org/officeDocument/2006/relationships" id="259" r:id="Rc9011ab715fc4ccd"/>
    <p:sldId xmlns:r="http://schemas.openxmlformats.org/officeDocument/2006/relationships" id="260" r:id="R03a7896c330f4390"/>
    <p:sldId xmlns:r="http://schemas.openxmlformats.org/officeDocument/2006/relationships" id="261" r:id="R8dc244b47ca646b4"/>
    <p:sldId xmlns:r="http://schemas.openxmlformats.org/officeDocument/2006/relationships" id="262" r:id="Rc755f56e3c224820"/>
    <p:sldId xmlns:r="http://schemas.openxmlformats.org/officeDocument/2006/relationships" id="263" r:id="Rd07ea055505447e4"/>
    <p:sldId xmlns:r="http://schemas.openxmlformats.org/officeDocument/2006/relationships" id="264" r:id="R21ac61d25d8d4983"/>
    <p:sldId xmlns:r="http://schemas.openxmlformats.org/officeDocument/2006/relationships" id="265" r:id="R12bc23037a774da3"/>
    <p:sldId xmlns:r="http://schemas.openxmlformats.org/officeDocument/2006/relationships" id="266" r:id="Rc0c0b9ddbfed436a"/>
    <p:sldId xmlns:r="http://schemas.openxmlformats.org/officeDocument/2006/relationships" id="267" r:id="R81b3ac13f63d4117"/>
  </p:sldIdLst>
  <p:sldSz cx="5829300" cy="7543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3bdd70e734cd8" /><Relationship Type="http://schemas.openxmlformats.org/officeDocument/2006/relationships/slideMaster" Target="/ppt/slideMasters/slideMaster1.xml" Id="R5f82e6d020ed4e65" /><Relationship Type="http://schemas.openxmlformats.org/officeDocument/2006/relationships/notesMaster" Target="/ppt/notesMasters/notesMaster1.xml" Id="Rcdd87ea5ffd74b90" /><Relationship Type="http://schemas.openxmlformats.org/officeDocument/2006/relationships/presProps" Target="/ppt/presProps.xml" Id="R0946c5f1bf49481d" /><Relationship Type="http://schemas.openxmlformats.org/officeDocument/2006/relationships/tableStyles" Target="/ppt/tableStyles.xml" Id="Rb7f4c84ab7754a5b" /><Relationship Type="http://schemas.openxmlformats.org/officeDocument/2006/relationships/slide" Target="/ppt/slides/slide1.xml" Id="R9f3ce6865fa441a6" /><Relationship Type="http://schemas.openxmlformats.org/officeDocument/2006/relationships/slide" Target="/ppt/slides/slide2.xml" Id="R7e6188f5eb7f4054" /><Relationship Type="http://schemas.openxmlformats.org/officeDocument/2006/relationships/slide" Target="/ppt/slides/slide3.xml" Id="R2098ce4209b4422c" /><Relationship Type="http://schemas.openxmlformats.org/officeDocument/2006/relationships/slide" Target="/ppt/slides/slide4.xml" Id="Rc9011ab715fc4ccd" /><Relationship Type="http://schemas.openxmlformats.org/officeDocument/2006/relationships/slide" Target="/ppt/slides/slide5.xml" Id="R03a7896c330f4390" /><Relationship Type="http://schemas.openxmlformats.org/officeDocument/2006/relationships/slide" Target="/ppt/slides/slide6.xml" Id="R8dc244b47ca646b4" /><Relationship Type="http://schemas.openxmlformats.org/officeDocument/2006/relationships/slide" Target="/ppt/slides/slide7.xml" Id="Rc755f56e3c224820" /><Relationship Type="http://schemas.openxmlformats.org/officeDocument/2006/relationships/slide" Target="/ppt/slides/slide8.xml" Id="Rd07ea055505447e4" /><Relationship Type="http://schemas.openxmlformats.org/officeDocument/2006/relationships/slide" Target="/ppt/slides/slide9.xml" Id="R21ac61d25d8d4983" /><Relationship Type="http://schemas.openxmlformats.org/officeDocument/2006/relationships/slide" Target="/ppt/slides/slide10.xml" Id="R12bc23037a774da3" /><Relationship Type="http://schemas.openxmlformats.org/officeDocument/2006/relationships/slide" Target="/ppt/slides/slide11.xml" Id="Rc0c0b9ddbfed436a" /><Relationship Type="http://schemas.openxmlformats.org/officeDocument/2006/relationships/slide" Target="/ppt/slides/slide12.xml" Id="R81b3ac13f63d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bac72d9f249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5b74cadb240a1" /><Relationship Type="http://schemas.openxmlformats.org/officeDocument/2006/relationships/notesMaster" Target="/ppt/notesMasters/notesMaster1.xml" Id="R7c7d96dfec544a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421024a11947c5" /><Relationship Type="http://schemas.openxmlformats.org/officeDocument/2006/relationships/notesMaster" Target="/ppt/notesMasters/notesMaster1.xml" Id="R3de04f8603cb4d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b528aac73426f" /><Relationship Type="http://schemas.openxmlformats.org/officeDocument/2006/relationships/notesMaster" Target="/ppt/notesMasters/notesMaster1.xml" Id="Rbb650ec0a19545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2d009926d4a2c" /><Relationship Type="http://schemas.openxmlformats.org/officeDocument/2006/relationships/notesMaster" Target="/ppt/notesMasters/notesMaster1.xml" Id="Rccfe1cbc0eba40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705198bf34282" /><Relationship Type="http://schemas.openxmlformats.org/officeDocument/2006/relationships/notesMaster" Target="/ppt/notesMasters/notesMaster1.xml" Id="Rd7fc0f51c7fd41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45ffe80ae429a" /><Relationship Type="http://schemas.openxmlformats.org/officeDocument/2006/relationships/notesMaster" Target="/ppt/notesMasters/notesMaster1.xml" Id="R459c6dc70b0d40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eeaaf768d4573" /><Relationship Type="http://schemas.openxmlformats.org/officeDocument/2006/relationships/notesMaster" Target="/ppt/notesMasters/notesMaster1.xml" Id="R984987e7b10749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e01957e4649f6" /><Relationship Type="http://schemas.openxmlformats.org/officeDocument/2006/relationships/notesMaster" Target="/ppt/notesMasters/notesMaster1.xml" Id="Rf97aa3df75df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d5035ec60e4cbe" /><Relationship Type="http://schemas.openxmlformats.org/officeDocument/2006/relationships/notesMaster" Target="/ppt/notesMasters/notesMaster1.xml" Id="Rf5303be7b75b40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dbb3e05834ed3" /><Relationship Type="http://schemas.openxmlformats.org/officeDocument/2006/relationships/notesMaster" Target="/ppt/notesMasters/notesMaster1.xml" Id="R0f57e26c5fb543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f50aaf38124d02" /><Relationship Type="http://schemas.openxmlformats.org/officeDocument/2006/relationships/notesMaster" Target="/ppt/notesMasters/notesMaster1.xml" Id="R41b3e7b4604044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97822c82aa4b58" /><Relationship Type="http://schemas.openxmlformats.org/officeDocument/2006/relationships/notesMaster" Target="/ppt/notesMasters/notesMaster1.xml" Id="R7352957e70c744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b92679b0f42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2f6764b76b43d6" /><Relationship Type="http://schemas.openxmlformats.org/officeDocument/2006/relationships/slideLayout" Target="/ppt/slideLayouts/slideLayout1.xml" Id="R72a52bc64bb2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52bc64bb2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06d24e82649c8" /><Relationship Type="http://schemas.openxmlformats.org/officeDocument/2006/relationships/image" Target="/ppt/media/image.png" Id="Rd7c355b726eb41a2" /><Relationship Type="http://schemas.openxmlformats.org/officeDocument/2006/relationships/notesSlide" Target="/ppt/notesSlides/notesSlide1.xml" Id="R0e844ccfa8b2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421e595c466e" /><Relationship Type="http://schemas.openxmlformats.org/officeDocument/2006/relationships/notesSlide" Target="/ppt/notesSlides/notesSlide2.xml" Id="R55b35f60124146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333a68cb84a2b" /><Relationship Type="http://schemas.openxmlformats.org/officeDocument/2006/relationships/notesSlide" Target="/ppt/notesSlides/notesSlide3.xml" Id="Rbb9284834bce4d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fdef9ba5e4a59" /><Relationship Type="http://schemas.openxmlformats.org/officeDocument/2006/relationships/notesSlide" Target="/ppt/notesSlides/notesSlide4.xml" Id="Raffcada60d1a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08027bbcf4a62" /><Relationship Type="http://schemas.openxmlformats.org/officeDocument/2006/relationships/notesSlide" Target="/ppt/notesSlides/notesSlide5.xml" Id="R09a78273faff4b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8de97003c4f55" /><Relationship Type="http://schemas.openxmlformats.org/officeDocument/2006/relationships/notesSlide" Target="/ppt/notesSlides/notesSlide6.xml" Id="Rfd53ef53a47b4c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a6cb602404cea" /><Relationship Type="http://schemas.openxmlformats.org/officeDocument/2006/relationships/notesSlide" Target="/ppt/notesSlides/notesSlide7.xml" Id="R64d101e5c14b40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25af1e5e64043" /><Relationship Type="http://schemas.openxmlformats.org/officeDocument/2006/relationships/notesSlide" Target="/ppt/notesSlides/notesSlide8.xml" Id="R0f8f66ec9e1a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c74d039545e5" /><Relationship Type="http://schemas.openxmlformats.org/officeDocument/2006/relationships/notesSlide" Target="/ppt/notesSlides/notesSlide9.xml" Id="R73c8aed079ca49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f341263bf45e1" /><Relationship Type="http://schemas.openxmlformats.org/officeDocument/2006/relationships/notesSlide" Target="/ppt/notesSlides/notesSlide10.xml" Id="R968f0759342343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fa9746454d4c" /><Relationship Type="http://schemas.openxmlformats.org/officeDocument/2006/relationships/notesSlide" Target="/ppt/notesSlides/notesSlide11.xml" Id="R33e12f0e0458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936c849aa4419" /><Relationship Type="http://schemas.openxmlformats.org/officeDocument/2006/relationships/notesSlide" Target="/ppt/notesSlides/notesSlide12.xml" Id="R181846d495a7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D7AF9-87B5-424B-9197-7592076C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26ED7-C527-4A16-9D77-918502C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0292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525" b="0">
                <a:solidFill>
                  <a:srgbClr val="050505"/>
                </a:solidFill>
              </a:defRPr>
            </a:pPr>
            <a:r>
              <a:rPr sz="3525" b="0">
                <a:solidFill>
                  <a:srgbClr val="050505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E03C6-A398-4ADA-9B66-4DA68D2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930" b="0">
                <a:solidFill>
                  <a:srgbClr val="050505"/>
                </a:solidFill>
              </a:defRPr>
            </a:pPr>
            <a:r>
              <a:rPr sz="930" b="0">
                <a:solidFill>
                  <a:srgbClr val="050505"/>
                </a:solidFill>
              </a:rPr>
              <a:t>再把它做成有人用、看得到结果的系统。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16CC2-E0DA-4562-9E91-0C4BFEBF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50505"/>
                </a:solidFill>
              </a:defRPr>
            </a:pPr>
            <a:r>
              <a:rPr sz="713" b="1">
                <a:solidFill>
                  <a:srgbClr val="050505"/>
                </a:solidFill>
              </a:rPr>
              <a:t>业务诊断｜流程改造｜Skill｜定制 SaaS｜数据库｜Agent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355b726eb41a2"/>
          <a:srcRect xmlns:a="http://schemas.openxmlformats.org/drawingml/2006/main" l="0" t="9801" r="0" b="9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829050"/>
            <a:ext cx="5029200" cy="2695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A4AD3-1470-4141-99DC-099D80B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62750"/>
            <a:ext cx="3048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4565A"/>
                </a:solidFill>
              </a:defRPr>
            </a:pPr>
            <a:r>
              <a:rPr sz="720" b="0">
                <a:solidFill>
                  <a:srgbClr val="54565A"/>
                </a:solidFill>
              </a:rPr>
              <a:t>展会限定：免费企业 AI 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83EA5-6080-45FF-8F40-0B6F281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62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20" b="1">
                <a:solidFill>
                  <a:srgbClr val="050505"/>
                </a:solidFill>
              </a:defRPr>
            </a:pPr>
            <a:r>
              <a:rPr sz="720" b="1">
                <a:solidFill>
                  <a:srgbClr val="050505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1430749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61162-EDE9-415C-B940-C0241A1E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AI 已经可以</a:t>
            </a:r>
          </a:p>
          <a:p xmlns:a="http://schemas.openxmlformats.org/drawingml/2006/main">
            <a:pPr algn="l">
              <a:defRPr sz="4125" b="0">
                <a:solidFill>
                  <a:srgbClr val="050505"/>
                </a:solidFill>
              </a:defRPr>
            </a:pPr>
            <a:r>
              <a:rPr sz="4125" b="0">
                <a:solidFill>
                  <a:srgbClr val="050505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81C51-A420-4B8B-917D-437D329B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过去，我们手动完成工作每一步。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050505"/>
                </a:solidFill>
              </a:defRPr>
            </a:pPr>
            <a:r>
              <a:rPr sz="915" b="0">
                <a:solidFill>
                  <a:srgbClr val="050505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B695E-7870-467C-94AB-93FE7BA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公司的工作方式也会跟着变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A97BF-2593-43E8-A9E0-4F7FD488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重复工作交给 Agent；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人负责目标、判断和审核；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一个负责人可以带多个 Agent；</a:t>
            </a:r>
          </a:p>
          <a:p xmlns:a="http://schemas.openxmlformats.org/drawingml/2006/main">
            <a:pPr algn="l">
              <a:defRPr sz="855" b="0">
                <a:solidFill>
                  <a:srgbClr val="050505"/>
                </a:solidFill>
              </a:defRPr>
            </a:pPr>
            <a:r>
              <a:rPr sz="855" b="0">
                <a:solidFill>
                  <a:srgbClr val="050505"/>
                </a:solidFill>
              </a:rPr>
              <a:t>• 公司积累的不只是文件，还有能反复使用的流程和 Skill。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01112-48E8-4BF7-A141-DEBEE52A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23907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Microsoft 在 2025 年提出 Agent Boss：员工将开始构建、分配和管理 Agent。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OpenAI 把 Agent 定义为能够代表用户完成工作流的系统，不只是聊天机器人。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Google 认为企业 Agent 要连接公司的数据、工具、记忆和运行环境，才能真正工作。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Anthropic 发现，人在实际协作中更多决定“做什么”，Agent 更多负责“怎么做”。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3C87B-F861-473C-A5FE-B040A39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124F2-D113-4262-9203-9E81B7C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5029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公司的运作效率，会随着 AI Native 程度拉开差距。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F59A9-9CD3-46A8-8345-12C865CF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224FA-A0E2-44AF-A799-74B3F695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969102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4F1F9-B610-45D1-9A33-0755B96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A8046-2F10-4CC6-9BDD-71BE416B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15392-C8AC-42F4-A410-9734BFC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716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FA3AF-B81B-4ABC-950C-FB9494F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7162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F88F9-598D-4BED-84D2-A90C932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1455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0DFA0-B714-4222-9C08-D0A4E53A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50505"/>
                </a:solidFill>
              </a:defRPr>
            </a:pPr>
            <a:r>
              <a:rPr sz="2100" b="0">
                <a:solidFill>
                  <a:srgbClr val="050505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5F0C2-AEA3-4472-99CD-4E11A90D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812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34FF4-AC31-4BB5-ABDC-B13347F9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3E2CE-486B-4700-8EDC-1D5FB58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24175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5598F-259A-45A7-8B17-35F151E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089D4-BC72-4E29-8E85-792CA701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908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050505"/>
                </a:solidFill>
              </a:defRPr>
            </a:pPr>
            <a:r>
              <a:rPr sz="848" b="1">
                <a:solidFill>
                  <a:srgbClr val="050505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7C462-123C-402A-B768-C3253A81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933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54565A"/>
                </a:solidFill>
              </a:defRPr>
            </a:pPr>
            <a:r>
              <a:rPr sz="563" b="0">
                <a:solidFill>
                  <a:srgbClr val="54565A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185E5-FF8F-4CFF-A2D2-7B29C13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33800"/>
            <a:ext cx="36480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16C27-F9EF-4814-AB6D-AF1EE27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已经进入生产的公开案例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1B71B-07AC-4256-8CC6-5D53AF5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D101E-EF97-4F4D-9BA0-0ADF3316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D9163-5955-4077-811D-1D37685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481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52CEB-61E5-4472-9E84-0C385DB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95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3EED3-7A5F-42CA-A799-022A07E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EA193-04FB-471A-84B1-C6644A1B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196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Carlyle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C8C7E-A64A-41EC-9C21-BCE785C9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196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5DF06-019F-4D01-88F8-1620E3F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B5DAC-7838-44C5-8C29-05DD062E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63988-2D92-4A7A-96B3-E777499B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911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TELUS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8B677-B8EA-48DB-8AEF-70E5E59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5911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DA2DB-D589-4ABC-8B01-437647C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38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B9664-426C-43DB-AC8A-73CBD3B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29107-21DE-490F-8CE7-2363BBA5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626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Lowe’s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39E3E8-49FD-4B92-A334-3D17D58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162675"/>
            <a:ext cx="3724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050505"/>
                </a:solidFill>
              </a:defRPr>
            </a:pPr>
            <a:r>
              <a:rPr sz="795" b="0">
                <a:solidFill>
                  <a:srgbClr val="050505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6724D-D409-44BD-A8B0-7F12E0FC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B7CAC-860F-4345-8357-8277153F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07233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40B462-AB5F-4BB4-8B05-E1AA3B69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想要升级提效，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BD644-19E7-4228-8343-F52B3FF2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很多企业已经试过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C1EEE-9C9C-4B2A-8EFE-ED29535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买过会员，员工偶尔问几个问题；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做过 Demo，演示时很好，上线后没人用；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看了很多案例，回到自己公司却套不上；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每个部门都说有需求，但排不出先后；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想建知识库，资料却散在微信、Excel、PDF、网盘和员工电脑里；</a:t>
            </a:r>
          </a:p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• 担心数据安全，也不知道 Agent 能开放多大权限。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374D1-1FFB-4A79-8407-47031283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335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AI 升级横跨了四件事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8CBB3-BCDA-4E70-910F-D51416D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764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808A0-295F-4D69-AE44-70C5A4A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老板想要的结果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05170-46E3-4658-BB84-022BB151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3E95C-FF70-46DC-8841-CA94F164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95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037DA-BD01-4B06-BDA5-01C17AE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一线员工的工作流程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CFE75-049D-44D7-BF83-8712C35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E4C1E-73F8-4E05-88A4-588F35F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578A1-91AA-4E89-BABD-A9C9ADF6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数据和系统在哪里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633D8-DAFC-4624-884E-C2C0D11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1952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EA947-054C-4EE1-AEEF-01DC5155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C9C15-1185-4DA6-9E3A-5CB871B7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146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技术怎么做出来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8D142-76AD-4100-80AC-06B20AD8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为什么自己做容易卡住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E7E1D-6012-42F1-8F22-498A5850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9AA3F-0486-469F-921F-45398B4C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只听老板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5683D-9D45-49A2-B928-51A42C53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方向很大，但找不到具体从哪项工作开始。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C16EB-9369-4AA7-A2FB-B5A43CC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6A6CA-71E0-44CD-9B0C-A19A4CE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CC424-8F65-44CA-8A53-3731936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529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只听一线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FB3A3-BB1F-4097-87BD-403B4175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5297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会得到很多零散需求，却不知道哪个最值得投入。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369DE-2145-4409-BD4E-0383D9A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24D39-4FA1-4F70-AEE5-8B13A9B1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EE14F-EB2B-4B67-85F4-B784A46A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387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只找软件公司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B006F-A2AE-4131-BB9D-637649F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10070-69E7-4C02-B6BA-E4AD274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A2EBC-BD95-4433-9086-F171ED3D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56BDE-3951-4774-8FB8-82E36428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直接买标准产品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A9CDF-443B-4626-841B-60CF4BB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245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上线很快，但公司的流程不一定适合它。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49E45-4912-4C11-8569-A2427DC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2457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A2680-6574-43BF-A9BD-F3EE0A0C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4E320-8CA3-4C61-B046-80222F38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03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50505"/>
                </a:solidFill>
              </a:defRPr>
            </a:pPr>
            <a:r>
              <a:rPr sz="780" b="1">
                <a:solidFill>
                  <a:srgbClr val="050505"/>
                </a:solidFill>
              </a:rPr>
              <a:t>一开始就建大平台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15C37F-93C7-48DD-9F24-928D405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1030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钱和时间先花出去了，业务价值还没有验证。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BF954-9568-4F1D-9A33-0BC844B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0375"/>
            <a:ext cx="502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28C03-F9F4-4FD9-BB83-ED24F5F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8C863-D812-4348-BA6D-1F76C64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69344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85F34-A2C3-4D22-9219-DA1BEBBC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7CED1-67AC-413F-A577-0C923B0A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47825"/>
            <a:ext cx="502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7" b="0">
                <a:solidFill>
                  <a:srgbClr val="050505"/>
                </a:solidFill>
              </a:defRPr>
            </a:pPr>
            <a:r>
              <a:rPr sz="907" b="0">
                <a:solidFill>
                  <a:srgbClr val="050505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E135-DE5E-4E67-BA9A-DBDDC76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2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40A6E-60F5-4A1A-9580-6277845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48000"/>
            <a:ext cx="4743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50505"/>
                </a:solidFill>
              </a:defRPr>
            </a:pPr>
            <a:r>
              <a:rPr sz="870" b="1">
                <a:solidFill>
                  <a:srgbClr val="050505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5827F-4BF5-4DF0-A814-87D5DB9A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3EB2A-6D4A-43BC-B16D-5E20F783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0522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DE182-50C8-42E8-94F2-E1046A58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E4254-20AD-4A37-8735-83CA2684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5E5E-A43B-4C20-98D4-82A0B219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24350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15914-40D4-45C0-8BC3-E81C3DC1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958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0D285-43E5-43E0-80BC-BA2EA30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97DAA-9AAA-4CE2-9EF1-09F34CEE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4347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F862E-5971-4013-986B-55DE95C0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149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E259B-4220-4A9D-90ED-2FADC76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E0CAF-7DEE-4A27-A478-8E8119B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62600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4BED7-FAEB-4914-9460-0722E2A9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341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95525-B26F-4AE1-83E7-44040E31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007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9599F-3BD4-4A60-80FC-82EC8BA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81725"/>
            <a:ext cx="4600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50505"/>
                </a:solidFill>
              </a:defRPr>
            </a:pPr>
            <a:r>
              <a:rPr sz="863" b="0">
                <a:solidFill>
                  <a:srgbClr val="050505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1AC6F-90C9-463B-8CF2-B48E3B86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D89A5-EBE0-416D-910A-08DF52E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20875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F6900-C2FC-48CF-90DF-882D74BA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从一个小工具，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65324-DEAB-4EAE-B638-054CF70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1447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EBF4A-40B7-428B-A3F0-31F033F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144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主要交付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7F598-277D-4792-92B3-5A72103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144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4565A"/>
                </a:solidFill>
              </a:defRPr>
            </a:pPr>
            <a:r>
              <a:rPr sz="638" b="1">
                <a:solidFill>
                  <a:srgbClr val="54565A"/>
                </a:solidFill>
              </a:rPr>
              <a:t>适合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5372C-5BB5-41C9-BE7D-2881F4F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6E793-887B-487A-9A32-4C9B90D9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A382E-D0F3-49E2-8CCB-83668B7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一个具体问题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AB33B-3709-4CA9-95EB-F8625B5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企业专属 Skill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文档、表格和图片处理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报价、录单、对账、报告自动化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小型定制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1971C-A6B2-4F7F-8088-38ABD97B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问题明确，希望尽快看到效果。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72098-8551-4B0C-9B62-00330557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9D71-25FC-4129-868D-BD51B5C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388F5-BAFB-4732-8C7E-D3814EBD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一条业务流程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081BF-CF43-475C-B75E-CD3A1FAC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99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访谈和流程整理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多角色 Agent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ERP、CRM、飞书、钉钉、企微等系统连接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异常处理和人工确认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进度、结果和操作记录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2A82D-BB1C-4880-86CA-5C2E4597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工作跨多人、跨系统，靠人工反复传递。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2D124-B6DB-4769-9BB2-42F3EF3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C156A-113E-47A3-A82A-3D2A0172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4D245-F062-4A2E-948C-1E69873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672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一套数据基础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198B4-BB8C-450E-9788-AD06172D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672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业务数据库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企业知识库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数据整理和统一命名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权限和使用范围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为 Agent 提供可信的数据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73921-E513-4BEA-8525-2FD689F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资料很多，但找不到、用不准、无法共享。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EB35F-61E8-4315-8843-CA23C99F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B0939-261A-4B1E-B345-CA960449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67B43-7A3B-4504-A17B-B6F5C53F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245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050505"/>
                </a:solidFill>
              </a:defRPr>
            </a:pPr>
            <a:r>
              <a:rPr sz="840" b="1">
                <a:solidFill>
                  <a:srgbClr val="050505"/>
                </a:solidFill>
              </a:rPr>
              <a:t>一次公司级升级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32165-42FC-4BAA-9C48-C9F088D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找出各部门适合 AI 的工作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重新设计人和 Agent 的分工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建立权限、审批和责任记录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制定试点顺序和后续计划</a:t>
            </a:r>
          </a:p>
          <a:p xmlns:a="http://schemas.openxmlformats.org/drawingml/2006/main">
            <a:pPr algn="l">
              <a:defRPr sz="728" b="0">
                <a:solidFill>
                  <a:srgbClr val="050505"/>
                </a:solidFill>
              </a:defRPr>
            </a:pPr>
            <a:r>
              <a:rPr sz="728" b="0">
                <a:solidFill>
                  <a:srgbClr val="050505"/>
                </a:solidFill>
              </a:rPr>
              <a:t>• 培训企业自己的 Agent Boss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A2A89-D5C8-431B-828A-8385AB0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24525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4565A"/>
                </a:solidFill>
              </a:defRPr>
            </a:pPr>
            <a:r>
              <a:rPr sz="690" b="0">
                <a:solidFill>
                  <a:srgbClr val="54565A"/>
                </a:solidFill>
              </a:rPr>
              <a:t>老板希望系统推进，不想让各部门各自尝试。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D4A70-07B6-4EA1-B5C0-3736B00D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F2EBB-4C97-4026-9CCB-D633692A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9037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C6A69-D67B-4EC1-9238-C1F746A8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先做一次诊断，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E0AC1-8D73-4979-876F-3EA3A9C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24FF1-6236-486C-B802-890CFBE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86BA2-57A0-45FE-9BAD-5C8DD04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0032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CAA85-0C85-49A5-9189-7E04ECB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79EF-FF53-455E-AEED-1687631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D4AB1-A75F-4A16-A408-600ED211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6235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14AA5-4670-406D-8608-A3CA829C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082C8-1432-4642-8686-1EB0CE87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FDB11-4A96-4317-9DD9-CD2D53F5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24375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BD1AD-8B8D-488F-B555-1DEB0CF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B21E4-9644-47AF-A484-BE8CAF5C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72000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3CDA2-9700-48EA-8AF3-6A4451D0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86400"/>
            <a:ext cx="4600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FEC28-7CA6-4ADD-AB6A-146E129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53644-B58F-4DEF-BA35-93A02DD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34025"/>
            <a:ext cx="4600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12D49-9ADA-47AD-A1DC-2E7325C1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819E3-1687-4D8C-A5AF-39CA9D8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06025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C0B881-E16E-46F5-B91E-6AAFE462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不交一个演示，</a:t>
            </a:r>
          </a:p>
          <a:p xmlns:a="http://schemas.openxmlformats.org/drawingml/2006/main">
            <a:pPr algn="l">
              <a:defRPr sz="3225" b="0">
                <a:solidFill>
                  <a:srgbClr val="050505"/>
                </a:solidFill>
              </a:defRPr>
            </a:pPr>
            <a:r>
              <a:rPr sz="3225" b="0">
                <a:solidFill>
                  <a:srgbClr val="050505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AF86F-3B4C-4CAB-8397-A0DE77DC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02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050505"/>
                </a:solidFill>
              </a:defRPr>
            </a:pPr>
            <a:r>
              <a:rPr sz="878" b="0">
                <a:solidFill>
                  <a:srgbClr val="050505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ACF8B-DE6A-4745-8345-EA561A50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160BE-54AA-4E7B-ABED-F99A9FF9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原来的工作流程图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67F9A-1A59-424D-B6BB-AFEE645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EA2A1-3348-4C7D-9C66-47F7D90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5740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91036-FF94-4850-A748-EAB75D18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47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找到的问题和改造范围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97A05-256F-49F9-A870-CCFB8C28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1460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BF270-AA9B-4B3F-8825-0C223E70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959BE-EC8E-4AC6-9E3B-FDF3A4E9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可以运行的原型或系统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48A5B-7C99-4CAE-AED1-482C6F5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48952-8878-4C55-803C-DFFBA92F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9557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D14B9-9778-4906-BEAD-5AC1CE3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使用的数据和权限说明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933DA-E52E-4187-B187-2DF0E7A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5277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DEA47-AB97-4BDC-BA45-309AF9A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385AA-E9EF-4A22-A2B4-F9535B5B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人和 Agent 各自负责什么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02A5E-5350-41D7-8E09-BD624F15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82526-76F0-4671-841D-193E292A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17C45-8A43-47A0-9F6C-2155E6E6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242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哪些动作需要人工确认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7E7B6-88ED-47F0-9DA5-BFCC61A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90950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F4F66-6ECC-4F36-B12D-F62D1FE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B807B-1A72-47B6-9080-F8CDEE1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上线前后的对比方法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9F74E-4A1D-4CD0-99A7-88CDD592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32DA7-95B9-4E7F-90EB-77159BD8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71925"/>
            <a:ext cx="276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EF3DB-F7F0-46D8-B26C-CB268997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624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050505"/>
                </a:solidFill>
              </a:defRPr>
            </a:pPr>
            <a:r>
              <a:rPr sz="810" b="1">
                <a:solidFill>
                  <a:srgbClr val="050505"/>
                </a:solidFill>
              </a:rPr>
              <a:t>继续做、调整或停止的建议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BA4E5-AEF3-4608-9740-DFCFDF4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29125"/>
            <a:ext cx="20002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94CBE-9633-4942-9037-94EC4EC9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5029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BEEE0-2AC1-4311-97D5-9778276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我们会提前写清楚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E9255D-32F3-45D9-931A-5A503E0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6AA91-9EDD-4FAE-9F42-D989021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谁负责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00BF4-925C-41F3-A78B-9CB0C7C4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34025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36E515-78C4-4A55-8E48-A564AB2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做到哪里算完成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4B3955-7614-4DA2-A875-1813439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13B0CA-BD81-4EEF-BCFE-31A89B1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531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什么不在这次范围内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850FD3-AFA7-4AAE-BE84-E1591A2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62650"/>
            <a:ext cx="333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FE5F9B-F514-4EA7-B5AE-C5665FC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53125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0505"/>
                </a:solidFill>
              </a:defRPr>
            </a:pPr>
            <a:r>
              <a:rPr sz="788" b="1">
                <a:solidFill>
                  <a:srgbClr val="050505"/>
                </a:solidFill>
              </a:rPr>
              <a:t>怎么判断有没有效果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9E99A-0EAB-446E-8B5F-5D55299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8C2735-3FA2-4331-9344-3B98AD56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96040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F6AE1-56B6-4018-BD24-250473DF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50505"/>
                </a:solidFill>
              </a:defRPr>
            </a:pPr>
            <a:r>
              <a:rPr sz="3000" b="0">
                <a:solidFill>
                  <a:srgbClr val="050505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3000" b="0">
                <a:solidFill>
                  <a:srgbClr val="050505"/>
                </a:solidFill>
              </a:defRPr>
            </a:pPr>
            <a:r>
              <a:rPr sz="3000" b="0">
                <a:solidFill>
                  <a:srgbClr val="050505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3D6CF-A954-415F-B057-6462783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029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2A87-119F-4D28-A87D-79A58434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475E2-1E44-463B-AD28-D3947B3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E26CA-1F2A-4397-BF2F-1BF724BC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883C1-BFFD-4919-B22E-DF41B4D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11AFB-B77B-48C8-A251-C2A9133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DFAFB-9445-48C5-AEE5-9AFDACB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9F4BB-7FB7-4DF8-92CD-949ED24B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00366-933A-4CFB-9EE4-7863A28D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58E45-816F-443A-BC6F-4B39A9AD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90875"/>
            <a:ext cx="1123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2"/>
          </a:solidFill>
          <a:ln xmlns:a="http://schemas.openxmlformats.org/drawingml/2006/main" w="7620">
            <a:solidFill>
              <a:srgbClr val="AEB0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B9A41-2DBA-417D-9868-48572FA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813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4565A"/>
                </a:solidFill>
              </a:defRPr>
            </a:pPr>
            <a:r>
              <a:rPr sz="638" b="0">
                <a:solidFill>
                  <a:srgbClr val="54565A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64469-E35B-46DC-9282-AB2F8805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案例一｜[工厂类型 / 业务部门]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E4E55-1480-4975-A195-D5421351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57928-7324-43B7-94FC-F524272F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50505"/>
                </a:solidFill>
              </a:defRPr>
            </a:pPr>
            <a:r>
              <a:rPr sz="803" b="1">
                <a:solidFill>
                  <a:srgbClr val="050505"/>
                </a:solidFill>
              </a:rPr>
              <a:t>原来怎么做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4CFAD-A85A-4A7D-A320-EBBD51D6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4565A"/>
                </a:solidFill>
              </a:defRPr>
            </a:pPr>
            <a:r>
              <a:rPr sz="705" b="0">
                <a:solidFill>
                  <a:srgbClr val="54565A"/>
                </a:solidFill>
              </a:rPr>
              <a:t>[用客户确认过的事实、系统与前后变化替换]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FA843-FA22-4560-8EC7-48A9533E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DE95B-9B21-4C06-BAFE-58A825F4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13A6D-9CE0-4AD6-A15A-A9823D8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50505"/>
                </a:solidFill>
              </a:defRPr>
            </a:pPr>
            <a:r>
              <a:rPr sz="803" b="1">
                <a:solidFill>
                  <a:srgbClr val="050505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167F8-8EED-427A-B456-772631F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67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4565A"/>
                </a:solidFill>
              </a:defRPr>
            </a:pPr>
            <a:r>
              <a:rPr sz="705" b="0">
                <a:solidFill>
                  <a:srgbClr val="54565A"/>
                </a:solidFill>
              </a:rPr>
              <a:t>[用客户确认过的事实、系统与前后变化替换]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D801B-3F08-4E6C-8783-DC93DF4E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340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CF43C-F6E1-4C6B-ABF7-6FE5D8A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483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F37EF0-BC01-4B7C-B3D5-251C1C1B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50505"/>
                </a:solidFill>
              </a:defRPr>
            </a:pPr>
            <a:r>
              <a:rPr sz="803" b="1">
                <a:solidFill>
                  <a:srgbClr val="050505"/>
                </a:solidFill>
              </a:rPr>
              <a:t>我们做了什么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195CF-FBF2-4751-BAB2-570A38A6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4565A"/>
                </a:solidFill>
              </a:defRPr>
            </a:pPr>
            <a:r>
              <a:rPr sz="705" b="0">
                <a:solidFill>
                  <a:srgbClr val="54565A"/>
                </a:solidFill>
              </a:rPr>
              <a:t>[用客户确认过的事实、系统与前后变化替换]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AF012-2E2A-454E-AA9C-D545DD1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05525"/>
            <a:ext cx="4619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67875-CD25-45B5-AF7E-CF26C23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276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50505"/>
                </a:solidFill>
              </a:defRPr>
            </a:pPr>
            <a:r>
              <a:rPr sz="600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8C3ED-AF50-40C9-A1E1-566684F8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10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50505"/>
                </a:solidFill>
              </a:defRPr>
            </a:pPr>
            <a:r>
              <a:rPr sz="803" b="1">
                <a:solidFill>
                  <a:srgbClr val="050505"/>
                </a:solidFill>
              </a:rPr>
              <a:t>上线后的变化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3D6DB-A0D0-4A40-AF4C-A5D46E1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2103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4565A"/>
                </a:solidFill>
              </a:defRPr>
            </a:pPr>
            <a:r>
              <a:rPr sz="705" b="0">
                <a:solidFill>
                  <a:srgbClr val="54565A"/>
                </a:solidFill>
              </a:rPr>
              <a:t>[用客户确认过的事实、系统与前后变化替换]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D83E8-EB06-4B77-977F-E566F6E3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BBB8A-4BB8-4F07-B199-5831D67D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984332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F7437-2C04-43AF-883B-8D63228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系统上线了，</a:t>
            </a:r>
          </a:p>
          <a:p xmlns:a="http://schemas.openxmlformats.org/drawingml/2006/main">
            <a:pPr algn="l">
              <a:defRPr sz="3150" b="0">
                <a:solidFill>
                  <a:srgbClr val="050505"/>
                </a:solidFill>
              </a:defRPr>
            </a:pPr>
            <a:r>
              <a:rPr sz="3150" b="0">
                <a:solidFill>
                  <a:srgbClr val="050505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7F319-DBB5-4895-98B0-17D09B7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050505"/>
                </a:solidFill>
              </a:defRPr>
            </a:pPr>
            <a:r>
              <a:rPr sz="870" b="0">
                <a:solidFill>
                  <a:srgbClr val="050505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3C199-CC38-4ADD-AA51-0F0F315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D3083-F445-48D2-93CE-FBF6C1D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621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给 Agent 说清目标和完成标准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9D030-37C3-4C67-B3FC-0E2A4287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75B4E-B1A6-4D7C-B429-93029B34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D5E4-1439-4C57-ABD1-313E3D81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050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判断哪些工作可以交出去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736CD-589E-4C88-9263-45958653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0032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0E07D-1D27-43A7-A11C-3C19C5A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6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BFCB1-6B9B-4B59-990E-A9B1A50A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检查 Agent 的过程和结果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8420B-5BA4-4DD2-913A-022A051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8FCE3-7CED-4A5D-BD4F-2D5CFAD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099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3931F-B91F-402E-BDB1-8E986672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908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处理异常、退回修改或暂停任务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18C44-9CE7-473E-AC18-088E2A5C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8617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8897A-108E-43A0-8EF1-256A22E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8F3D1-30A5-48F8-A8B1-4EEB845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338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管好数据、工具和权限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C992D-70E4-4D24-990D-8C938FAC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29100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47CDE-F678-4273-A5E2-8BBAC03E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957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EA999-405B-4879-AC9E-4DF36FE0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把好用的方法做成团队共同使用的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48DAA-03C5-4395-B1DB-76F1E078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72025"/>
            <a:ext cx="19907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A0BC3-EA8C-4C48-B55A-45BD6A82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387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F3E24-5101-48C9-B498-D5FDD89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196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050505"/>
                </a:solidFill>
              </a:defRPr>
            </a:pPr>
            <a:r>
              <a:rPr sz="743" b="0">
                <a:solidFill>
                  <a:srgbClr val="050505"/>
                </a:solidFill>
              </a:rPr>
              <a:t>对最后的业务结果负责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40CE9-58D4-433D-A12D-65922F2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0505"/>
                </a:solidFill>
              </a:defRPr>
            </a:pPr>
            <a:r>
              <a:rPr sz="1050" b="1">
                <a:solidFill>
                  <a:srgbClr val="050505"/>
                </a:solidFill>
              </a:rPr>
              <a:t>我们把这套培训叫做 Agent Boss。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9D3C5-1244-436F-9F47-17169F29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1431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050505"/>
                </a:solidFill>
              </a:defRPr>
            </a:pPr>
            <a:r>
              <a:rPr sz="848" b="0">
                <a:solidFill>
                  <a:srgbClr val="050505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9C3A7-251D-4D43-AC7E-F3F889B5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02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CE40A-3519-4D7C-A328-51055A0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0505"/>
                </a:solidFill>
              </a:defRPr>
            </a:pPr>
            <a:r>
              <a:rPr sz="825" b="1">
                <a:solidFill>
                  <a:srgbClr val="050505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4B5B8-2718-48DE-A282-9B67DE4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817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50505"/>
                </a:solidFill>
              </a:defRPr>
            </a:pPr>
            <a:r>
              <a:rPr sz="690" b="1">
                <a:solidFill>
                  <a:srgbClr val="050505"/>
                </a:solidFill>
              </a:rPr>
              <a:t>Agent 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81A94-F16D-434D-BB5F-0B8E022E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9156A-B287-4788-AE6D-FF77166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2247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D27C8-7102-4695-A080-3C58D936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50505"/>
                </a:solidFill>
              </a:defRPr>
            </a:pPr>
            <a:r>
              <a:rPr sz="3300" b="0">
                <a:solidFill>
                  <a:srgbClr val="050505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11B45-6108-4F1C-BB7B-EDCB7388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0505"/>
                </a:solidFill>
              </a:defRPr>
            </a:pPr>
            <a:r>
              <a:rPr sz="900" b="0">
                <a:solidFill>
                  <a:srgbClr val="050505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1ED81-904B-47B8-A18D-EF0B1CA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9A5B-C5F0-4B79-8BB3-B9A7DD3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45CAC-58F5-4316-81B6-D78E4701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907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目前最值得先看的 1—3 项工作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63CAE-E893-40D2-A968-4E90EFBA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3847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AF57E-085A-4E5F-8D89-20E6301E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18D32-7B4E-4141-92D4-7E90FA2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8610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这些工作适不适合用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FD276-F788-47C7-8592-B0BFB87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3380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22D3B-BF74-435D-813C-8E938C4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5BD96-13C0-4129-A8AD-25B85FE1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8142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需要哪些数据、系统和人员参与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C4907-1590-4A49-A444-6213E207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2912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A086F-1DB2-4F56-9D0B-3697820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9D58B-2159-413F-B803-73C2F15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更适合买现成软件、做 Skill、定制 SaaS、建数据库，还是先改流程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69B69-14B9-409C-A053-6E0D943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2445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36D69-DB73-4684-9ACA-A6C4EFB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47973-4D36-48B6-8DFB-4355573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720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是否值得做一个小试点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6D2B1-4829-4AA2-B6D4-5DB2D9B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我们也可能直接告诉你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D0559-DD0F-4838-9C53-A181875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098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C9AD4-F8B8-4C66-B590-91E48C8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9077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这个问题不需要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0EB57-EF56-4D55-8999-47CD3F6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C9EA2-0150-4928-A9DB-BF3DA164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3032A-D86C-449D-A24D-142A1FB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8610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现在的数据条件还做不了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47D39-981D-454F-9535-E1D7432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33800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D484B-CCC3-4592-8AA0-B5440C51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00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DFB86-7314-4503-8342-FB0E974D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81425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先把流程理顺，再考虑开发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564B6-2A28-484F-A028-7541924C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29125"/>
            <a:ext cx="19335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026D9-9F72-4363-9591-990990D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A898A3-C3F8-4C4B-B05B-9C38E260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76750"/>
            <a:ext cx="1933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50505"/>
                </a:solidFill>
              </a:defRPr>
            </a:pPr>
            <a:r>
              <a:rPr sz="788" b="0">
                <a:solidFill>
                  <a:srgbClr val="050505"/>
                </a:solidFill>
              </a:rPr>
              <a:t>买现成产品更划算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BFCFE-EEF4-478B-80DF-62312B0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38775"/>
            <a:ext cx="2362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31E3A-F826-4FB3-A470-28EE1689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648325"/>
            <a:ext cx="2076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050505"/>
                </a:solidFill>
              </a:defRPr>
            </a:pPr>
            <a:r>
              <a:rPr sz="765" b="1">
                <a:solidFill>
                  <a:srgbClr val="050505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D4833-AFE9-4CD2-99EB-FA2D17B4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E81C04-328F-4EE6-B7B8-BEF4D20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17651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132A4-4DFC-41E7-BB2D-5F209B99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029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你的企业，</a:t>
            </a:r>
          </a:p>
          <a:p xmlns:a="http://schemas.openxmlformats.org/drawingml/2006/main">
            <a:pPr algn="l">
              <a:defRPr sz="3675" b="0">
                <a:solidFill>
                  <a:srgbClr val="050505"/>
                </a:solidFill>
              </a:defRPr>
            </a:pPr>
            <a:r>
              <a:rPr sz="3675" b="0">
                <a:solidFill>
                  <a:srgbClr val="050505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DB738-D96A-477D-9104-68067056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每天限 10 家</a:t>
            </a:r>
          </a:p>
          <a:p xmlns:a="http://schemas.openxmlformats.org/drawingml/2006/main">
            <a:pPr algn="l">
              <a:defRPr sz="1200" b="1">
                <a:solidFill>
                  <a:srgbClr val="135CFF"/>
                </a:solidFill>
              </a:defRPr>
            </a:pPr>
            <a:r>
              <a:rPr sz="1200" b="1">
                <a:solidFill>
                  <a:srgbClr val="13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295F9-E562-41DC-B615-24550C5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52625"/>
            <a:ext cx="13620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47966-72BB-4CBC-8E7B-4F0C49A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527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4565A"/>
                </a:solidFill>
              </a:defRPr>
            </a:pPr>
            <a:r>
              <a:rPr sz="750" b="0">
                <a:solidFill>
                  <a:srgbClr val="54565A"/>
                </a:solidFill>
              </a:rPr>
              <a:t>二维码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D3A0-61A7-4037-A766-38D0517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50505"/>
                </a:solidFill>
              </a:defRPr>
            </a:pPr>
            <a:r>
              <a:rPr sz="773" b="1">
                <a:solidFill>
                  <a:srgbClr val="050505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7AD12-D331-4500-ABED-3AB9BAD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180A0-2904-4B0E-B822-A56D3B5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861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企业和行业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0378-C892-424E-BE13-FC4EABEF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DB9E8-345C-4ADA-8F61-BE07F2F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1FE1D-F57F-47AF-8CE3-8C4182F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最想改善的一项工作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01E88-82C0-4063-A5E7-80687B5E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5C72D-AE91-460B-B08A-25D212D1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9116C-0520-4CD1-95CF-D838794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现在怎么做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04062-E0CC-4116-A739-AB99E0D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0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2C7AE-9926-4A82-8A51-C82D3488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8AD3E-6EA2-4EB7-B73F-86CABEF8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谁负责这项业务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4630A-A708-4DC8-BF0E-4882B34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2714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0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A15FC-F36A-46AD-9C9B-F89B054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0505"/>
                </a:solidFill>
              </a:defRPr>
            </a:pPr>
            <a:r>
              <a:rPr sz="638" b="0">
                <a:solidFill>
                  <a:srgbClr val="050505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F643D-E105-46D9-B7B3-137FBDB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054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50505"/>
                </a:solidFill>
              </a:defRPr>
            </a:pPr>
            <a:r>
              <a:rPr sz="810" b="0">
                <a:solidFill>
                  <a:srgbClr val="050505"/>
                </a:solidFill>
              </a:rPr>
              <a:t>联系方式和方便沟通的时间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17845-1EC1-42D8-AA4B-FAB585CC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756FE-323C-4028-8039-02E3274C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1055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[品牌名]</a:t>
            </a:r>
          </a:p>
          <a:p xmlns:a="http://schemas.openxmlformats.org/drawingml/2006/main">
            <a:pPr algn="r">
              <a:defRPr sz="713" b="0">
                <a:solidFill>
                  <a:srgbClr val="050505"/>
                </a:solidFill>
              </a:defRPr>
            </a:pPr>
            <a:r>
              <a:rPr sz="713" b="0">
                <a:solidFill>
                  <a:srgbClr val="050505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BCF7A-EE7F-4AD2-8E00-8A2CF5D2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5029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A9031-E24C-4A56-8107-F3081C29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675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50505"/>
                </a:solidFill>
              </a:defRPr>
            </a:pPr>
            <a:r>
              <a:rPr sz="938" b="1">
                <a:solidFill>
                  <a:srgbClr val="050505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C3E35-213E-485F-9505-B680549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009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D4444-37B3-478E-8D19-4D51E7F0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2009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050505"/>
                </a:solidFill>
              </a:defRPr>
            </a:pPr>
            <a:r>
              <a:rPr sz="615" b="0">
                <a:solidFill>
                  <a:srgbClr val="050505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52091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2026-08-24T06:16:26.3830000Z</dcterms:created>
  <dcterms:modified xsi:type="dcterms:W3CDTF">2026-08-24T06:16:26.3830000Z</dcterms:modified>
</coreProperties>
</file>