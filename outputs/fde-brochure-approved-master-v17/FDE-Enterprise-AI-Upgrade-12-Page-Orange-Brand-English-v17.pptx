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8668f8453b2d415a" /><Relationship Type="http://schemas.openxmlformats.org/officeDocument/2006/relationships/extended-properties" Target="/docProps/app.xml" Id="Rc329e359346b4ae0" /><Relationship Type="http://schemas.openxmlformats.org/officeDocument/2006/relationships/officeDocument" Target="/ppt/presentation.xml" Id="Rbde71a946bb94a77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9dfa72a9b0254881"/>
  </p:sldMasterIdLst>
  <p:notesMasterIdLst>
    <p:notesMasterId xmlns:r="http://schemas.openxmlformats.org/officeDocument/2006/relationships" r:id="R5671b8c591f242de"/>
  </p:notesMasterIdLst>
  <p:sldIdLst>
    <p:sldId xmlns:r="http://schemas.openxmlformats.org/officeDocument/2006/relationships" id="256" r:id="R8c6002d5c3ae4457"/>
    <p:sldId xmlns:r="http://schemas.openxmlformats.org/officeDocument/2006/relationships" id="257" r:id="R52af8f5ff2e747d1"/>
    <p:sldId xmlns:r="http://schemas.openxmlformats.org/officeDocument/2006/relationships" id="258" r:id="R8ee1e5de28744d4d"/>
    <p:sldId xmlns:r="http://schemas.openxmlformats.org/officeDocument/2006/relationships" id="259" r:id="R8e6f42970b624135"/>
    <p:sldId xmlns:r="http://schemas.openxmlformats.org/officeDocument/2006/relationships" id="260" r:id="Rc7c8d5d35df24573"/>
    <p:sldId xmlns:r="http://schemas.openxmlformats.org/officeDocument/2006/relationships" id="261" r:id="Rd5cf03e68e94410d"/>
    <p:sldId xmlns:r="http://schemas.openxmlformats.org/officeDocument/2006/relationships" id="262" r:id="R58361211aa664715"/>
    <p:sldId xmlns:r="http://schemas.openxmlformats.org/officeDocument/2006/relationships" id="263" r:id="R1b6e9885b85f431c"/>
    <p:sldId xmlns:r="http://schemas.openxmlformats.org/officeDocument/2006/relationships" id="264" r:id="R2cf47413704742bb"/>
    <p:sldId xmlns:r="http://schemas.openxmlformats.org/officeDocument/2006/relationships" id="265" r:id="Re50608f636174253"/>
    <p:sldId xmlns:r="http://schemas.openxmlformats.org/officeDocument/2006/relationships" id="266" r:id="Rc0f4f52a4fed42a7"/>
    <p:sldId xmlns:r="http://schemas.openxmlformats.org/officeDocument/2006/relationships" id="267" r:id="R94942d7ca2994f0f"/>
  </p:sldIdLst>
  <p:sldSz cx="7562850" cy="10696575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6d0e753053b84190" /><Relationship Type="http://schemas.openxmlformats.org/officeDocument/2006/relationships/slideMaster" Target="/ppt/slideMasters/slideMaster1.xml" Id="R9dfa72a9b0254881" /><Relationship Type="http://schemas.openxmlformats.org/officeDocument/2006/relationships/notesMaster" Target="/ppt/notesMasters/notesMaster1.xml" Id="R5671b8c591f242de" /><Relationship Type="http://schemas.openxmlformats.org/officeDocument/2006/relationships/presProps" Target="/ppt/presProps.xml" Id="Re50d2e3792504aa2" /><Relationship Type="http://schemas.openxmlformats.org/officeDocument/2006/relationships/tableStyles" Target="/ppt/tableStyles.xml" Id="Ra63f392af5a740e0" /><Relationship Type="http://schemas.openxmlformats.org/officeDocument/2006/relationships/slide" Target="/ppt/slides/slide1.xml" Id="R8c6002d5c3ae4457" /><Relationship Type="http://schemas.openxmlformats.org/officeDocument/2006/relationships/slide" Target="/ppt/slides/slide2.xml" Id="R52af8f5ff2e747d1" /><Relationship Type="http://schemas.openxmlformats.org/officeDocument/2006/relationships/slide" Target="/ppt/slides/slide3.xml" Id="R8ee1e5de28744d4d" /><Relationship Type="http://schemas.openxmlformats.org/officeDocument/2006/relationships/slide" Target="/ppt/slides/slide4.xml" Id="R8e6f42970b624135" /><Relationship Type="http://schemas.openxmlformats.org/officeDocument/2006/relationships/slide" Target="/ppt/slides/slide5.xml" Id="Rc7c8d5d35df24573" /><Relationship Type="http://schemas.openxmlformats.org/officeDocument/2006/relationships/slide" Target="/ppt/slides/slide6.xml" Id="Rd5cf03e68e94410d" /><Relationship Type="http://schemas.openxmlformats.org/officeDocument/2006/relationships/slide" Target="/ppt/slides/slide7.xml" Id="R58361211aa664715" /><Relationship Type="http://schemas.openxmlformats.org/officeDocument/2006/relationships/slide" Target="/ppt/slides/slide8.xml" Id="R1b6e9885b85f431c" /><Relationship Type="http://schemas.openxmlformats.org/officeDocument/2006/relationships/slide" Target="/ppt/slides/slide9.xml" Id="R2cf47413704742bb" /><Relationship Type="http://schemas.openxmlformats.org/officeDocument/2006/relationships/slide" Target="/ppt/slides/slide10.xml" Id="Re50608f636174253" /><Relationship Type="http://schemas.openxmlformats.org/officeDocument/2006/relationships/slide" Target="/ppt/slides/slide11.xml" Id="Rc0f4f52a4fed42a7" /><Relationship Type="http://schemas.openxmlformats.org/officeDocument/2006/relationships/slide" Target="/ppt/slides/slide12.xml" Id="R94942d7ca2994f0f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78c4e3b8fc594beb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bbd7b412ba36490c" /><Relationship Type="http://schemas.openxmlformats.org/officeDocument/2006/relationships/notesMaster" Target="/ppt/notesMasters/notesMaster1.xml" Id="Rcfae007697824b1a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f6b0f5587e8f496b" /><Relationship Type="http://schemas.openxmlformats.org/officeDocument/2006/relationships/notesMaster" Target="/ppt/notesMasters/notesMaster1.xml" Id="Rcecc8d9f30b04335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e265249eb30d4977" /><Relationship Type="http://schemas.openxmlformats.org/officeDocument/2006/relationships/notesMaster" Target="/ppt/notesMasters/notesMaster1.xml" Id="R92ad5dcd31c149a9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663639776ddd4b83" /><Relationship Type="http://schemas.openxmlformats.org/officeDocument/2006/relationships/notesMaster" Target="/ppt/notesMasters/notesMaster1.xml" Id="Rac730229ad9748ea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d655cbdefbf644b5" /><Relationship Type="http://schemas.openxmlformats.org/officeDocument/2006/relationships/notesMaster" Target="/ppt/notesMasters/notesMaster1.xml" Id="R68bef49d6bee4b95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6164f665928948fa" /><Relationship Type="http://schemas.openxmlformats.org/officeDocument/2006/relationships/notesMaster" Target="/ppt/notesMasters/notesMaster1.xml" Id="R6e0e1daff23e4f06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f1db8474405346cd" /><Relationship Type="http://schemas.openxmlformats.org/officeDocument/2006/relationships/notesMaster" Target="/ppt/notesMasters/notesMaster1.xml" Id="Ra006546bb03f4094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efce3ed8288e4b4e" /><Relationship Type="http://schemas.openxmlformats.org/officeDocument/2006/relationships/notesMaster" Target="/ppt/notesMasters/notesMaster1.xml" Id="R83cb9790c48148ec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bc21ea46390a48b4" /><Relationship Type="http://schemas.openxmlformats.org/officeDocument/2006/relationships/notesMaster" Target="/ppt/notesMasters/notesMaster1.xml" Id="Rf2e047ce68364ba9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d81dae3923b7480d" /><Relationship Type="http://schemas.openxmlformats.org/officeDocument/2006/relationships/notesMaster" Target="/ppt/notesMasters/notesMaster1.xml" Id="Rdc64c6f5b7c34f6a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7a4459a1d28843de" /><Relationship Type="http://schemas.openxmlformats.org/officeDocument/2006/relationships/notesMaster" Target="/ppt/notesMasters/notesMaster1.xml" Id="Rc35cfe89a1524b60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556c6afc4c524338" /><Relationship Type="http://schemas.openxmlformats.org/officeDocument/2006/relationships/notesMaster" Target="/ppt/notesMasters/notesMaster1.xml" Id="R41d9c4fc163d4a7b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docs/marketing/assets/fde-natural-orange-canyon-v4.png</a:t>
            </a:r>
          </a:p>
          <a:p xmlns:a="http://schemas.openxmlformats.org/drawingml/2006/main">
            <a:r>
              <a:t>- docs/marketing/assets/fde-logo-orange-v1.png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https://www.microsoft.com/en-us/worklab/work-trend-index/2025-the-year-the-frontier-firm-is-born</a:t>
            </a:r>
          </a:p>
          <a:p xmlns:a="http://schemas.openxmlformats.org/drawingml/2006/main">
            <a:r>
              <a:t>- https://openai.com/business/guides-and-resources/a-practical-guide-to-building-ai-agents/</a:t>
            </a:r>
          </a:p>
          <a:p xmlns:a="http://schemas.openxmlformats.org/drawingml/2006/main">
            <a:r>
              <a:t>- https://cloud.google.com/resources/core-concepts-ai-agents</a:t>
            </a:r>
          </a:p>
          <a:p xmlns:a="http://schemas.openxmlformats.org/drawingml/2006/main">
            <a:r>
              <a:t>- https://www.anthropic.com/research/claude-code-expertise</a:t>
            </a:r>
          </a:p>
          <a:p xmlns:a="http://schemas.openxmlformats.org/drawingml/2006/main">
            <a:r>
              <a:t>[/Sources]</a:t>
            </a:r>
          </a:p>
          <a:p xmlns:a="http://schemas.openxmlformats.org/drawingml/2006/main">
            <a:r>
              <a:t>
[Sources]
- docs/marketing/assets/fde-logo-orange-v1.png
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https://www.microsoft.com/en-us/worklab/work-trend-index/2025-the-year-the-frontier-firm-is-born</a:t>
            </a:r>
          </a:p>
          <a:p xmlns:a="http://schemas.openxmlformats.org/drawingml/2006/main">
            <a:r>
              <a:t>- https://openai.com/index/1-million-businesses-putting-ai-to-work/</a:t>
            </a:r>
          </a:p>
          <a:p xmlns:a="http://schemas.openxmlformats.org/drawingml/2006/main">
            <a:r>
              <a:t>- https://openai.com/index/how-enterprises-put-ai-to-work/</a:t>
            </a:r>
          </a:p>
          <a:p xmlns:a="http://schemas.openxmlformats.org/drawingml/2006/main">
            <a:r>
              <a:t>- https://openai.com/index/introducing-openai-frontier/</a:t>
            </a:r>
          </a:p>
          <a:p xmlns:a="http://schemas.openxmlformats.org/drawingml/2006/main">
            <a:r>
              <a:t>- https://cloud.google.com/customers/telus-gemini-enterprise-cx</a:t>
            </a:r>
          </a:p>
          <a:p xmlns:a="http://schemas.openxmlformats.org/drawingml/2006/main">
            <a:r>
              <a:t>[/Sources]</a:t>
            </a:r>
          </a:p>
          <a:p xmlns:a="http://schemas.openxmlformats.org/drawingml/2006/main">
            <a:r>
              <a:t>
[Sources]
- docs/marketing/assets/fde-logo-orange-v1.png
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  <a:p xmlns:a="http://schemas.openxmlformats.org/drawingml/2006/main">
            <a:r>
              <a:t>
[Sources]
- docs/marketing/assets/fde-logo-orange-v1.png
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  <a:p xmlns:a="http://schemas.openxmlformats.org/drawingml/2006/main">
            <a:r>
              <a:t>
[Sources]
- docs/marketing/assets/fde-logo-orange-v1.png
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  <a:p xmlns:a="http://schemas.openxmlformats.org/drawingml/2006/main">
            <a:r>
              <a:t>
[Sources]
- docs/marketing/assets/fde-logo-orange-v1.png
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  <a:p xmlns:a="http://schemas.openxmlformats.org/drawingml/2006/main">
            <a:r>
              <a:t>
[Sources]
- docs/marketing/assets/fde-logo-orange-v1.png
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  <a:p xmlns:a="http://schemas.openxmlformats.org/drawingml/2006/main">
            <a:r>
              <a:t>
[Sources]
- docs/marketing/assets/fde-logo-orange-v1.png
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  <a:p xmlns:a="http://schemas.openxmlformats.org/drawingml/2006/main">
            <a:r>
              <a:t>
[Sources]
- docs/marketing/assets/fde-logo-orange-v1.png
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  <a:p xmlns:a="http://schemas.openxmlformats.org/drawingml/2006/main">
            <a:r>
              <a:t>
[Sources]
- docs/marketing/assets/fde-logo-orange-v1.png
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  <a:p xmlns:a="http://schemas.openxmlformats.org/drawingml/2006/main">
            <a:r>
              <a:t>
[Sources]
- docs/marketing/assets/fde-logo-orange-v1.png
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  <a:p xmlns:a="http://schemas.openxmlformats.org/drawingml/2006/main">
            <a:r>
              <a:t>
[Sources]
- docs/marketing/assets/fde-logo-orange-v1.png
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0f2434fbbdb741f6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980d45d080bc4702" /><Relationship Type="http://schemas.openxmlformats.org/officeDocument/2006/relationships/slideLayout" Target="/ppt/slideLayouts/slideLayout1.xml" Id="R75136984d3994dbd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75136984d3994dbd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f2bd76b5589483f" /><Relationship Type="http://schemas.openxmlformats.org/officeDocument/2006/relationships/image" Target="/ppt/media/image.png" Id="R78695e521276420d" /><Relationship Type="http://schemas.openxmlformats.org/officeDocument/2006/relationships/image" Target="/ppt/media/image2.png" Id="R4ff058941ae8469c" /><Relationship Type="http://schemas.openxmlformats.org/officeDocument/2006/relationships/notesSlide" Target="/ppt/notesSlides/notesSlide1.xml" Id="R584a78386aec4626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12a1ffedfd14dd6" /><Relationship Type="http://schemas.openxmlformats.org/officeDocument/2006/relationships/image" Target="/ppt/media/image3.png" Id="R3baff014cdb84e58" /><Relationship Type="http://schemas.openxmlformats.org/officeDocument/2006/relationships/notesSlide" Target="/ppt/notesSlides/notesSlide2.xml" Id="R44564f335232408d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2fc384f3756423e" /><Relationship Type="http://schemas.openxmlformats.org/officeDocument/2006/relationships/image" Target="/ppt/media/image4.png" Id="R51674404265243a9" /><Relationship Type="http://schemas.openxmlformats.org/officeDocument/2006/relationships/notesSlide" Target="/ppt/notesSlides/notesSlide3.xml" Id="R04b4165970d34638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2a306f128b8483d" /><Relationship Type="http://schemas.openxmlformats.org/officeDocument/2006/relationships/image" Target="/ppt/media/image5.png" Id="Rf2d8fdab28af4a45" /><Relationship Type="http://schemas.openxmlformats.org/officeDocument/2006/relationships/notesSlide" Target="/ppt/notesSlides/notesSlide4.xml" Id="Rcec96ec52e3b4383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f8f8b3998d94583" /><Relationship Type="http://schemas.openxmlformats.org/officeDocument/2006/relationships/image" Target="/ppt/media/image6.png" Id="R6b14975511404d64" /><Relationship Type="http://schemas.openxmlformats.org/officeDocument/2006/relationships/notesSlide" Target="/ppt/notesSlides/notesSlide5.xml" Id="R69da64b724034527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4027ae3179d4735" /><Relationship Type="http://schemas.openxmlformats.org/officeDocument/2006/relationships/image" Target="/ppt/media/image7.png" Id="R833cd4799b4840a9" /><Relationship Type="http://schemas.openxmlformats.org/officeDocument/2006/relationships/notesSlide" Target="/ppt/notesSlides/notesSlide6.xml" Id="R6a3f2def9f564dd9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3a9d12d39e346f2" /><Relationship Type="http://schemas.openxmlformats.org/officeDocument/2006/relationships/image" Target="/ppt/media/image8.png" Id="Rf01d5034edb24852" /><Relationship Type="http://schemas.openxmlformats.org/officeDocument/2006/relationships/notesSlide" Target="/ppt/notesSlides/notesSlide7.xml" Id="R8026b32075834c9a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5ea6666487e46b5" /><Relationship Type="http://schemas.openxmlformats.org/officeDocument/2006/relationships/image" Target="/ppt/media/image9.png" Id="R99ef43ce3ee14e3d" /><Relationship Type="http://schemas.openxmlformats.org/officeDocument/2006/relationships/notesSlide" Target="/ppt/notesSlides/notesSlide8.xml" Id="Ra1235a83bc704146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d97cf19dec2493d" /><Relationship Type="http://schemas.openxmlformats.org/officeDocument/2006/relationships/image" Target="/ppt/media/image10.png" Id="Rc24889601eee4445" /><Relationship Type="http://schemas.openxmlformats.org/officeDocument/2006/relationships/notesSlide" Target="/ppt/notesSlides/notesSlide9.xml" Id="R7c34ef85aa6d4874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53fb039e68a4364" /><Relationship Type="http://schemas.openxmlformats.org/officeDocument/2006/relationships/image" Target="/ppt/media/image11.png" Id="Rd5139aa361d242f3" /><Relationship Type="http://schemas.openxmlformats.org/officeDocument/2006/relationships/notesSlide" Target="/ppt/notesSlides/notesSlide10.xml" Id="R7b1dc9b97eda4c40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14df5bdea7e4ab8" /><Relationship Type="http://schemas.openxmlformats.org/officeDocument/2006/relationships/image" Target="/ppt/media/image12.png" Id="R5bb3089448094a6b" /><Relationship Type="http://schemas.openxmlformats.org/officeDocument/2006/relationships/notesSlide" Target="/ppt/notesSlides/notesSlide11.xml" Id="R68e4fd2cf86a4026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450dba204d648d6" /><Relationship Type="http://schemas.openxmlformats.org/officeDocument/2006/relationships/image" Target="/ppt/media/image13.png" Id="R6bc5163d2f1a4034" /><Relationship Type="http://schemas.openxmlformats.org/officeDocument/2006/relationships/notesSlide" Target="/ppt/notesSlides/notesSlide12.xml" Id="R853a223c95f14393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full-page-natural-orange-background">
            <a:extLst xmlns:a="http://schemas.openxmlformats.org/drawingml/2006/main">
              <a:ext uri="{FF2B5EF4-FFF2-40B4-BE49-F238E27FC236}">
                <a16:creationId xmlns:a16="http://schemas.microsoft.com/office/drawing/2014/main" id="{EA073F3F-EBDA-4E7F-9B94-23827AB412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7562850" cy="10696575"/>
          </a:xfrm>
          <a:prstGeom xmlns:a="http://schemas.openxmlformats.org/drawingml/2006/main" prst="rect">
            <a:avLst/>
          </a:prstGeom>
          <a:blipFill xmlns:a="http://schemas.openxmlformats.org/drawingml/2006/main">
            <a:blip xmlns:r="http://schemas.openxmlformats.org/officeDocument/2006/relationships" r:embed="R78695e521276420d"/>
            <a:stretch/>
          </a:blipFill>
          <a:ln xmlns:a="http://schemas.openxmlformats.org/drawingml/2006/main" w="0">
            <a:noFill/>
            <a:prstDash val="solid"/>
          </a:ln>
        </p:spPr>
      </p:sp>
      <p:sp>
        <p:nvSpPr>
          <p:cNvPr id="10" name="full-page-frosted-veil">
            <a:extLst xmlns:a="http://schemas.openxmlformats.org/drawingml/2006/main">
              <a:ext uri="{FF2B5EF4-FFF2-40B4-BE49-F238E27FC236}">
                <a16:creationId xmlns:a16="http://schemas.microsoft.com/office/drawing/2014/main" id="{7D4E1F00-8C6F-4B89-B210-BC22B8F5C7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7562850" cy="10696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9F2">
              <a:alpha val="7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F3D7F78-36C1-4084-928A-947DB4287B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457200"/>
            <a:ext cx="762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900" b="1">
                <a:solidFill>
                  <a:srgbClr val="070707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070707"/>
                </a:solidFill>
                <a:latin typeface="Arial"/>
                <a:ea typeface="Arial"/>
                <a:cs typeface="Arial"/>
              </a:rPr>
              <a:t>FDE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0EA0A93-B219-4404-B269-14AC68EFB0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123950"/>
            <a:ext cx="6534150" cy="1524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3600">
                <a:solidFill>
                  <a:srgbClr val="070707"/>
                </a:solidFill>
                <a:latin typeface="Arial"/>
                <a:ea typeface="Arial"/>
                <a:cs typeface="Arial"/>
              </a:defRPr>
            </a:pPr>
            <a:r>
              <a:rPr sz="3600">
                <a:solidFill>
                  <a:srgbClr val="070707"/>
                </a:solidFill>
                <a:latin typeface="Arial"/>
                <a:ea typeface="Arial"/>
                <a:cs typeface="Arial"/>
              </a:rPr>
              <a:t>Your company wants to use AI.</a:t>
            </a:r>
          </a:p>
          <a:p xmlns:a="http://schemas.openxmlformats.org/drawingml/2006/main">
            <a:pPr algn="l">
              <a:buNone/>
              <a:defRPr sz="3600">
                <a:solidFill>
                  <a:srgbClr val="070707"/>
                </a:solidFill>
                <a:latin typeface="Arial"/>
                <a:ea typeface="Arial"/>
                <a:cs typeface="Arial"/>
              </a:defRPr>
            </a:pPr>
            <a:r>
              <a:rPr sz="3600">
                <a:solidFill>
                  <a:srgbClr val="070707"/>
                </a:solidFill>
                <a:latin typeface="Arial"/>
                <a:ea typeface="Arial"/>
                <a:cs typeface="Arial"/>
              </a:rPr>
              <a:t>Where should it start?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A8B4BC8-7709-469D-9C59-5A4F29E68D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857500"/>
            <a:ext cx="653415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>
                <a:solidFill>
                  <a:srgbClr val="070707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070707"/>
                </a:solidFill>
                <a:latin typeface="Arial"/>
                <a:ea typeface="Arial"/>
                <a:cs typeface="Arial"/>
              </a:rPr>
              <a:t>An FDE works inside the business to find the right first problem,</a:t>
            </a:r>
          </a:p>
          <a:p xmlns:a="http://schemas.openxmlformats.org/drawingml/2006/main">
            <a:pPr algn="l">
              <a:buNone/>
              <a:defRPr sz="1200">
                <a:solidFill>
                  <a:srgbClr val="070707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070707"/>
                </a:solidFill>
                <a:latin typeface="Arial"/>
                <a:ea typeface="Arial"/>
                <a:cs typeface="Arial"/>
              </a:rPr>
              <a:t>then turns it into a system people use and results can prove.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DA10BE1-652B-40F7-BC78-B2D5158E09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9191625"/>
            <a:ext cx="4476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803" b="1">
                <a:solidFill>
                  <a:srgbClr val="070707"/>
                </a:solidFill>
                <a:latin typeface="Arial"/>
                <a:ea typeface="Arial"/>
                <a:cs typeface="Arial"/>
              </a:defRPr>
            </a:pPr>
            <a:r>
              <a:rPr sz="803" b="1">
                <a:solidFill>
                  <a:srgbClr val="070707"/>
                </a:solidFill>
                <a:latin typeface="Arial"/>
                <a:ea typeface="Arial"/>
                <a:cs typeface="Arial"/>
              </a:rPr>
              <a:t>Business assessment | Workflow redesign | Skills | Custom SaaS | Databases | Agents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49488407-2538-4EE2-9561-82BC59EEA6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48250" y="9096375"/>
            <a:ext cx="20002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buNone/>
              <a:defRPr sz="788" b="1">
                <a:solidFill>
                  <a:srgbClr val="070707"/>
                </a:solidFill>
                <a:latin typeface="Arial"/>
                <a:ea typeface="Arial"/>
                <a:cs typeface="Arial"/>
              </a:defRPr>
            </a:pPr>
            <a:r>
              <a:rPr sz="788" b="1">
                <a:solidFill>
                  <a:srgbClr val="070707"/>
                </a:solidFill>
                <a:latin typeface="Arial"/>
                <a:ea typeface="Arial"/>
                <a:cs typeface="Arial"/>
              </a:rPr>
              <a:t>Event offer: complimentary enterprise AI assessment</a:t>
            </a:r>
          </a:p>
          <a:p xmlns:a="http://schemas.openxmlformats.org/drawingml/2006/main">
            <a:pPr algn="r">
              <a:buNone/>
              <a:defRPr sz="788" b="1">
                <a:solidFill>
                  <a:srgbClr val="070707"/>
                </a:solidFill>
                <a:latin typeface="Arial"/>
                <a:ea typeface="Arial"/>
                <a:cs typeface="Arial"/>
              </a:defRPr>
            </a:pPr>
            <a:r>
              <a:rPr sz="788" b="1">
                <a:solidFill>
                  <a:srgbClr val="070707"/>
                </a:solidFill>
                <a:latin typeface="Arial"/>
                <a:ea typeface="Arial"/>
                <a:cs typeface="Arial"/>
              </a:rPr>
              <a:t>10 companies per day</a:t>
            </a:r>
          </a:p>
        </p:txBody>
      </p:sp>
      <p:pic>
        <p:nvPicPr>
          <p:cNvPr id="2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ff058941ae8469c"/>
          <a:stretch xmlns:a="http://schemas.openxmlformats.org/drawingml/2006/main"/>
        </p:blipFill>
        <p:spPr>
          <a:xfrm xmlns:a="http://schemas.openxmlformats.org/drawingml/2006/main">
            <a:off x="514350" y="400050"/>
            <a:ext cx="323850" cy="32385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7005896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4E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B0C513DB-BF7E-43DF-B1C9-0ED6443FAD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28650"/>
            <a:ext cx="6534150" cy="1619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3750" b="0">
                <a:solidFill>
                  <a:srgbClr val="070707"/>
                </a:solidFill>
              </a:defRPr>
            </a:pPr>
            <a:r>
              <a:rPr sz="3750" b="0">
                <a:solidFill>
                  <a:srgbClr val="070707"/>
                </a:solidFill>
              </a:rPr>
              <a:t>AI can now</a:t>
            </a:r>
          </a:p>
          <a:p xmlns:a="http://schemas.openxmlformats.org/drawingml/2006/main">
            <a:pPr algn="l">
              <a:buNone/>
              <a:defRPr sz="3750" b="0">
                <a:solidFill>
                  <a:srgbClr val="070707"/>
                </a:solidFill>
              </a:defRPr>
            </a:pPr>
            <a:r>
              <a:rPr sz="3750" b="0">
                <a:solidFill>
                  <a:srgbClr val="070707"/>
                </a:solidFill>
              </a:rPr>
              <a:t>do the work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F11AFA5-B18F-4A18-B8FE-342CBD370C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914650"/>
            <a:ext cx="65341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110" b="0">
                <a:solidFill>
                  <a:srgbClr val="070707"/>
                </a:solidFill>
              </a:defRPr>
            </a:pPr>
            <a:r>
              <a:rPr sz="1110" b="0">
                <a:solidFill>
                  <a:srgbClr val="070707"/>
                </a:solidFill>
              </a:rPr>
              <a:t>We used to complete every step manually.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4373B06-31B4-4563-971A-773DAAE0CD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476625"/>
            <a:ext cx="653415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088" b="0">
                <a:solidFill>
                  <a:srgbClr val="070707"/>
                </a:solidFill>
              </a:defRPr>
            </a:pPr>
            <a:r>
              <a:rPr sz="1088" b="0">
                <a:solidFill>
                  <a:srgbClr val="070707"/>
                </a:solidFill>
              </a:rPr>
              <a:t>Agents can now read documents, retrieve data, use tools, and complete a sequence of tasks. When review is required, they hand the decision back to a person.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997B1CF-57DE-47D0-B6F3-13699F07DF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4686300"/>
            <a:ext cx="2952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885" b="1">
                <a:solidFill>
                  <a:srgbClr val="070707"/>
                </a:solidFill>
              </a:defRPr>
            </a:pPr>
            <a:r>
              <a:rPr sz="885" b="1">
                <a:solidFill>
                  <a:srgbClr val="070707"/>
                </a:solidFill>
              </a:rPr>
              <a:t>HOW THE OPERATING MODEL CHANGES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6272E23-4A92-4887-9D0D-A08A5F4343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5221129"/>
            <a:ext cx="104775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70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B80FC0C-2845-49C8-9D82-0DEC9880BC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5010150"/>
            <a:ext cx="63055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968" b="0">
                <a:solidFill>
                  <a:srgbClr val="070707"/>
                </a:solidFill>
              </a:defRPr>
            </a:pPr>
            <a:r>
              <a:rPr sz="968" b="0">
                <a:solidFill>
                  <a:srgbClr val="070707"/>
                </a:solidFill>
              </a:rPr>
              <a:t>Agents take on repetitive execution.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6F63C99-1CAD-43F7-8AD0-D736FB5535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5678329"/>
            <a:ext cx="104775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70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5E69D54-5106-4804-896F-B94FE18C44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5467350"/>
            <a:ext cx="63055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968" b="0">
                <a:solidFill>
                  <a:srgbClr val="070707"/>
                </a:solidFill>
              </a:defRPr>
            </a:pPr>
            <a:r>
              <a:rPr sz="968" b="0">
                <a:solidFill>
                  <a:srgbClr val="070707"/>
                </a:solidFill>
              </a:rPr>
              <a:t>People remain responsible for goals, judgment, and review.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20D4442-1503-4746-A335-21D033390D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135529"/>
            <a:ext cx="104775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70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BAD063C-422F-4828-98E9-165958C6F7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5924550"/>
            <a:ext cx="63055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968" b="0">
                <a:solidFill>
                  <a:srgbClr val="070707"/>
                </a:solidFill>
              </a:defRPr>
            </a:pPr>
            <a:r>
              <a:rPr sz="968" b="0">
                <a:solidFill>
                  <a:srgbClr val="070707"/>
                </a:solidFill>
              </a:rPr>
              <a:t>One manager can direct several agents.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3D632CE-AD26-41C0-B48C-F6C63AA6A8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592729"/>
            <a:ext cx="104775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70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267C91D-DD28-43C2-A47E-58049D505F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6381750"/>
            <a:ext cx="63055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968" b="0">
                <a:solidFill>
                  <a:srgbClr val="070707"/>
                </a:solidFill>
              </a:defRPr>
            </a:pPr>
            <a:r>
              <a:rPr sz="968" b="0">
                <a:solidFill>
                  <a:srgbClr val="070707"/>
                </a:solidFill>
              </a:rPr>
              <a:t>Companies can turn working knowledge into reusable workflows and Skills.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B8D575A-DFC0-44FB-BC37-CF8D4F4703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7211854"/>
            <a:ext cx="104775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70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1EC740E-2BCA-4758-820C-B34BE59A5A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7029450"/>
            <a:ext cx="6305550" cy="371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840" b="0">
                <a:solidFill>
                  <a:srgbClr val="070707"/>
                </a:solidFill>
              </a:defRPr>
            </a:pPr>
            <a:r>
              <a:rPr sz="840" b="0">
                <a:solidFill>
                  <a:srgbClr val="070707"/>
                </a:solidFill>
              </a:rPr>
              <a:t>In 2025, Microsoft introduced the idea of the Agent Boss: an employee who builds, delegates to, and manages agents.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71368766-B019-48ED-88C9-B3F5A346B2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7592854"/>
            <a:ext cx="104775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70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A64D88A5-395E-4F4A-87A1-853362EA37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7410450"/>
            <a:ext cx="6305550" cy="371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840" b="0">
                <a:solidFill>
                  <a:srgbClr val="070707"/>
                </a:solidFill>
              </a:defRPr>
            </a:pPr>
            <a:r>
              <a:rPr sz="840" b="0">
                <a:solidFill>
                  <a:srgbClr val="070707"/>
                </a:solidFill>
              </a:rPr>
              <a:t>OpenAI defines agents as systems that can complete workflows on a user’s behalf, rather than simply answer questions.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960094AB-64AA-4C2F-AC05-5F23264D09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7973854"/>
            <a:ext cx="104775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70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D02CEAB1-059B-4330-822B-BC9B372009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7791450"/>
            <a:ext cx="6305550" cy="371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840" b="0">
                <a:solidFill>
                  <a:srgbClr val="070707"/>
                </a:solidFill>
              </a:defRPr>
            </a:pPr>
            <a:r>
              <a:rPr sz="840" b="0">
                <a:solidFill>
                  <a:srgbClr val="070707"/>
                </a:solidFill>
              </a:rPr>
              <a:t>Google describes enterprise agents as systems that connect models with company data, tools, memory, orchestration, and runtime infrastructure.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EFE091CF-1DC1-471A-9231-02E6AAD6F0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8354854"/>
            <a:ext cx="104775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70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9D91C02C-33AD-40A7-814B-90C5C0A45F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8172450"/>
            <a:ext cx="6305550" cy="371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840" b="0">
                <a:solidFill>
                  <a:srgbClr val="070707"/>
                </a:solidFill>
              </a:defRPr>
            </a:pPr>
            <a:r>
              <a:rPr sz="840" b="0">
                <a:solidFill>
                  <a:srgbClr val="070707"/>
                </a:solidFill>
              </a:rPr>
              <a:t>Anthropic’s research suggests that people tend to decide what should be done, while agents make more of the execution decisions about how to do it.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9F0BB2E8-6931-488C-8D14-473F98C972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8572500"/>
            <a:ext cx="6534150" cy="8573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70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DB14E9CB-6887-4AFD-B879-75BA34C444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8839200"/>
            <a:ext cx="653415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425" b="1">
                <a:solidFill>
                  <a:srgbClr val="070707"/>
                </a:solidFill>
              </a:defRPr>
            </a:pPr>
            <a:r>
              <a:rPr sz="1425" b="1">
                <a:solidFill>
                  <a:srgbClr val="070707"/>
                </a:solidFill>
              </a:rPr>
              <a:t>Operating efficiency will diverge with how AI-native a company becomes.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887D600F-C585-4D23-B061-933F47501C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0287000"/>
            <a:ext cx="38100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660" b="0">
                <a:solidFill>
                  <a:srgbClr val="656563"/>
                </a:solidFill>
              </a:defRPr>
            </a:pPr>
            <a:r>
              <a:rPr sz="660" b="0">
                <a:solidFill>
                  <a:srgbClr val="656563"/>
                </a:solidFill>
              </a:rPr>
              <a:t>2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43F7AC05-8B83-4BC5-B3D2-1301BC959D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48250" y="10287000"/>
            <a:ext cx="200025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buNone/>
              <a:defRPr sz="660" b="0">
                <a:solidFill>
                  <a:srgbClr val="656563"/>
                </a:solidFill>
              </a:defRPr>
            </a:pPr>
            <a:r>
              <a:rPr sz="660" b="0">
                <a:solidFill>
                  <a:srgbClr val="656563"/>
                </a:solidFill>
              </a:rPr>
              <a:t>FDE enterprise AI upgrade</a:t>
            </a:r>
          </a:p>
        </p:txBody>
      </p:sp>
      <p:pic>
        <p:nvPicPr>
          <p:cNvPr id="51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baff014cdb84e58"/>
          <a:stretch xmlns:a="http://schemas.openxmlformats.org/drawingml/2006/main"/>
        </p:blipFill>
        <p:spPr>
          <a:xfrm xmlns:a="http://schemas.openxmlformats.org/drawingml/2006/main">
            <a:off x="4810125" y="10258425"/>
            <a:ext cx="171450" cy="17145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06239534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DAA41D9D-B1E9-4402-8B9B-DB9EF72C39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514350"/>
            <a:ext cx="65341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3150" b="0">
                <a:solidFill>
                  <a:srgbClr val="070707"/>
                </a:solidFill>
              </a:defRPr>
            </a:pPr>
            <a:r>
              <a:rPr sz="3150" b="0">
                <a:solidFill>
                  <a:srgbClr val="070707"/>
                </a:solidFill>
              </a:rPr>
              <a:t>The numbers are already moving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A96FFC7-79DA-46A8-84B9-A37617DEB4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524000"/>
            <a:ext cx="1571625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3825" b="0">
                <a:solidFill>
                  <a:srgbClr val="070707"/>
                </a:solidFill>
              </a:defRPr>
            </a:pPr>
            <a:r>
              <a:rPr sz="3825" b="0">
                <a:solidFill>
                  <a:srgbClr val="070707"/>
                </a:solidFill>
              </a:rPr>
              <a:t>81%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0CE5CFC-3974-431F-82C6-E0680FE7F8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38375" y="1524000"/>
            <a:ext cx="3667125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073" b="1">
                <a:solidFill>
                  <a:srgbClr val="070707"/>
                </a:solidFill>
              </a:defRPr>
            </a:pPr>
            <a:r>
              <a:rPr sz="1073" b="1">
                <a:solidFill>
                  <a:srgbClr val="070707"/>
                </a:solidFill>
              </a:rPr>
              <a:t>Microsoft’s 2025 Work Trend Index surveyed 31,000 workers across 31 countries. 81% of surveyed leaders expected agents to enter their company’s AI strategy within 12–18 months.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94BBB4A-B36B-4248-8A06-C6E100918A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1552575"/>
            <a:ext cx="952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buNone/>
              <a:defRPr sz="690" b="0">
                <a:solidFill>
                  <a:srgbClr val="656563"/>
                </a:solidFill>
              </a:defRPr>
            </a:pPr>
            <a:r>
              <a:rPr sz="690" b="0">
                <a:solidFill>
                  <a:srgbClr val="656563"/>
                </a:solidFill>
              </a:rPr>
              <a:t>Microsoft · 2025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836BB50-9244-4C4C-BC5C-F06A04A9A7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724150"/>
            <a:ext cx="6534150" cy="428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8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DCC3C4F-2E6E-43A6-846C-BEEF2423DC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086100"/>
            <a:ext cx="1571625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3825" b="0">
                <a:solidFill>
                  <a:srgbClr val="070707"/>
                </a:solidFill>
              </a:defRPr>
            </a:pPr>
            <a:r>
              <a:rPr sz="3825" b="0">
                <a:solidFill>
                  <a:srgbClr val="070707"/>
                </a:solidFill>
              </a:rPr>
              <a:t>1M+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098CC75-ADBC-4035-8D67-8E06916349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38375" y="3086100"/>
            <a:ext cx="3667125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073" b="1">
                <a:solidFill>
                  <a:srgbClr val="070707"/>
                </a:solidFill>
              </a:defRPr>
            </a:pPr>
            <a:r>
              <a:rPr sz="1073" b="1">
                <a:solidFill>
                  <a:srgbClr val="070707"/>
                </a:solidFill>
              </a:rPr>
              <a:t>In 2025, OpenAI reported more than one million business customers.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92CA252-0A26-4ED8-BF2F-0BB4AF2260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3114675"/>
            <a:ext cx="952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buNone/>
              <a:defRPr sz="690" b="0">
                <a:solidFill>
                  <a:srgbClr val="656563"/>
                </a:solidFill>
              </a:defRPr>
            </a:pPr>
            <a:r>
              <a:rPr sz="690" b="0">
                <a:solidFill>
                  <a:srgbClr val="656563"/>
                </a:solidFill>
              </a:rPr>
              <a:t>OpenAI · 2025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9E0D8C5-1E17-438E-B53E-B6B812C923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4286250"/>
            <a:ext cx="6534150" cy="428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8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BCB7E5E-4DF8-4DDD-9138-16E2F0BC5A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4648200"/>
            <a:ext cx="1571625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3825" b="0">
                <a:solidFill>
                  <a:srgbClr val="070707"/>
                </a:solidFill>
              </a:defRPr>
            </a:pPr>
            <a:r>
              <a:rPr sz="3825" b="0">
                <a:solidFill>
                  <a:srgbClr val="070707"/>
                </a:solidFill>
              </a:rPr>
              <a:t>108×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B0FEC66-96D3-4F41-BC47-DBD3651AA5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38375" y="4648200"/>
            <a:ext cx="3667125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073" b="1">
                <a:solidFill>
                  <a:srgbClr val="070707"/>
                </a:solidFill>
              </a:defRPr>
            </a:pPr>
            <a:r>
              <a:rPr sz="1073" b="1">
                <a:solidFill>
                  <a:srgbClr val="070707"/>
                </a:solidFill>
              </a:rPr>
              <a:t>Since February, weekly active Codex users grew 108× in legal, 41× in sales, 41× in recruiting, and 26× in marketing.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A1517C2-F84B-4DF8-8ED1-30E9673652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4676775"/>
            <a:ext cx="952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buNone/>
              <a:defRPr sz="690" b="0">
                <a:solidFill>
                  <a:srgbClr val="656563"/>
                </a:solidFill>
              </a:defRPr>
            </a:pPr>
            <a:r>
              <a:rPr sz="690" b="0">
                <a:solidFill>
                  <a:srgbClr val="656563"/>
                </a:solidFill>
              </a:rPr>
              <a:t>OpenAI · 2026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8AD62D6-E7E8-4B5A-A7AC-1E2FFF813C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5848350"/>
            <a:ext cx="6534150" cy="428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8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0433D8B-4583-4B65-BEFD-61A139E1F8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400800"/>
            <a:ext cx="17145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E3C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CB96F57-34BF-48E4-A402-DAD9088A07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6400800"/>
            <a:ext cx="3238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788" b="1">
                <a:solidFill>
                  <a:srgbClr val="070707"/>
                </a:solidFill>
              </a:defRPr>
            </a:pPr>
            <a:r>
              <a:rPr sz="788" b="1">
                <a:solidFill>
                  <a:srgbClr val="070707"/>
                </a:solidFill>
              </a:rPr>
              <a:t>PUBLIC EXAMPLES ALREADY IN PRODUCTION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0F7B9025-D16A-4C2A-89D7-5985DFAA9C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7000875"/>
            <a:ext cx="80962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900" b="1">
                <a:solidFill>
                  <a:srgbClr val="070707"/>
                </a:solidFill>
              </a:defRPr>
            </a:pPr>
            <a:r>
              <a:rPr sz="900" b="1">
                <a:solidFill>
                  <a:srgbClr val="070707"/>
                </a:solidFill>
              </a:rPr>
              <a:t>Cisco: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52841BD7-A747-4AE9-AE83-2E722C24E5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7000875"/>
            <a:ext cx="2381250" cy="933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855" b="0">
                <a:solidFill>
                  <a:srgbClr val="070707"/>
                </a:solidFill>
              </a:defRPr>
            </a:pPr>
            <a:r>
              <a:rPr sz="855" b="0">
                <a:solidFill>
                  <a:srgbClr val="070707"/>
                </a:solidFill>
              </a:rPr>
              <a:t>OpenAI reports that Codex reduced code review time by 50% and shortened some projects from weeks to days.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EFC64831-4FE7-42D1-9384-4CBAC0DA6B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67150" y="7000875"/>
            <a:ext cx="80962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900" b="1">
                <a:solidFill>
                  <a:srgbClr val="070707"/>
                </a:solidFill>
              </a:defRPr>
            </a:pPr>
            <a:r>
              <a:rPr sz="900" b="1">
                <a:solidFill>
                  <a:srgbClr val="070707"/>
                </a:solidFill>
              </a:rPr>
              <a:t>Carlyle: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5BB8ACF1-275F-434D-BD86-0D6D57C506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86300" y="7000875"/>
            <a:ext cx="2381250" cy="933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855" b="0">
                <a:solidFill>
                  <a:srgbClr val="070707"/>
                </a:solidFill>
              </a:defRPr>
            </a:pPr>
            <a:r>
              <a:rPr sz="855" b="0">
                <a:solidFill>
                  <a:srgbClr val="070707"/>
                </a:solidFill>
              </a:rPr>
              <a:t>Its multi-agent due diligence framework reportedly cut development time by more than 50% and improved agent accuracy by 30%.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F7306452-7062-4B90-AEC9-472D4C2C5C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8124825"/>
            <a:ext cx="80962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900" b="1">
                <a:solidFill>
                  <a:srgbClr val="070707"/>
                </a:solidFill>
              </a:defRPr>
            </a:pPr>
            <a:r>
              <a:rPr sz="900" b="1">
                <a:solidFill>
                  <a:srgbClr val="070707"/>
                </a:solidFill>
              </a:rPr>
              <a:t>TELUS: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F5DDE42C-F9F8-45A8-9AFA-839DCBBF20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8124825"/>
            <a:ext cx="2381250" cy="933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855" b="0">
                <a:solidFill>
                  <a:srgbClr val="070707"/>
                </a:solidFill>
              </a:defRPr>
            </a:pPr>
            <a:r>
              <a:rPr sz="855" b="0">
                <a:solidFill>
                  <a:srgbClr val="070707"/>
                </a:solidFill>
              </a:rPr>
              <a:t>A Google Cloud customer story reports $53.9 million in annual savings, 87% faster issue resolution, and 30% of calls resolved proactively with AI.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0F9D1744-2138-4642-9D8E-7F0C898EC3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67150" y="8124825"/>
            <a:ext cx="80962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900" b="1">
                <a:solidFill>
                  <a:srgbClr val="070707"/>
                </a:solidFill>
              </a:defRPr>
            </a:pPr>
            <a:r>
              <a:rPr sz="900" b="1">
                <a:solidFill>
                  <a:srgbClr val="070707"/>
                </a:solidFill>
              </a:rPr>
              <a:t>Lowe’s: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8AFA207E-4F42-4965-AB66-18DCB423D9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86300" y="8124825"/>
            <a:ext cx="2381250" cy="933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855" b="0">
                <a:solidFill>
                  <a:srgbClr val="070707"/>
                </a:solidFill>
              </a:defRPr>
            </a:pPr>
            <a:r>
              <a:rPr sz="855" b="0">
                <a:solidFill>
                  <a:srgbClr val="070707"/>
                </a:solidFill>
              </a:rPr>
              <a:t>OpenAI reports that Lowe’s provides AI-powered project guidance to associates across more than 1,700 stores.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9F8518B4-BF33-45EA-8177-9A2EB4297F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0287000"/>
            <a:ext cx="38100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660" b="0">
                <a:solidFill>
                  <a:srgbClr val="656563"/>
                </a:solidFill>
              </a:defRPr>
            </a:pPr>
            <a:r>
              <a:rPr sz="660" b="0">
                <a:solidFill>
                  <a:srgbClr val="656563"/>
                </a:solidFill>
              </a:rPr>
              <a:t>3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A0FF1B0A-CA8B-4E88-8387-171A9FAF68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48250" y="10287000"/>
            <a:ext cx="200025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buNone/>
              <a:defRPr sz="660" b="0">
                <a:solidFill>
                  <a:srgbClr val="656563"/>
                </a:solidFill>
              </a:defRPr>
            </a:pPr>
            <a:r>
              <a:rPr sz="660" b="0">
                <a:solidFill>
                  <a:srgbClr val="656563"/>
                </a:solidFill>
              </a:rPr>
              <a:t>FDE enterprise AI upgrade</a:t>
            </a:r>
          </a:p>
        </p:txBody>
      </p:sp>
      <p:pic>
        <p:nvPicPr>
          <p:cNvPr id="5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1674404265243a9"/>
          <a:stretch xmlns:a="http://schemas.openxmlformats.org/drawingml/2006/main"/>
        </p:blipFill>
        <p:spPr>
          <a:xfrm xmlns:a="http://schemas.openxmlformats.org/drawingml/2006/main">
            <a:off x="4810125" y="10258425"/>
            <a:ext cx="171450" cy="17145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17003285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9082551A-3177-4478-8288-84952B09A3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514350"/>
            <a:ext cx="653415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2775" b="0">
                <a:solidFill>
                  <a:srgbClr val="070707"/>
                </a:solidFill>
              </a:defRPr>
            </a:pPr>
            <a:r>
              <a:rPr sz="2775" b="0">
                <a:solidFill>
                  <a:srgbClr val="070707"/>
                </a:solidFill>
              </a:rPr>
              <a:t>Leaders want higher efficiency,</a:t>
            </a:r>
          </a:p>
          <a:p xmlns:a="http://schemas.openxmlformats.org/drawingml/2006/main">
            <a:pPr algn="l">
              <a:buNone/>
              <a:defRPr sz="2775" b="0">
                <a:solidFill>
                  <a:srgbClr val="070707"/>
                </a:solidFill>
              </a:defRPr>
            </a:pPr>
            <a:r>
              <a:rPr sz="2775" b="0">
                <a:solidFill>
                  <a:srgbClr val="070707"/>
                </a:solidFill>
              </a:rPr>
              <a:t>but do not know where to begin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1669C03-9532-4122-B139-C4A9CAD399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809750"/>
            <a:ext cx="65341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885" b="1">
                <a:solidFill>
                  <a:srgbClr val="070707"/>
                </a:solidFill>
              </a:defRPr>
            </a:pPr>
            <a:r>
              <a:rPr sz="885" b="1">
                <a:solidFill>
                  <a:srgbClr val="070707"/>
                </a:solidFill>
              </a:rPr>
              <a:t>MANY COMPANIES HAVE ALREADY TRIED AI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EBC8C3F-EC34-465D-8AD4-FD088981F9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287429"/>
            <a:ext cx="104775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70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6A0B92E-AA9D-4816-AD86-3C144A1DA8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152650"/>
            <a:ext cx="630555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863" b="0">
                <a:solidFill>
                  <a:srgbClr val="070707"/>
                </a:solidFill>
              </a:defRPr>
            </a:pPr>
            <a:r>
              <a:rPr sz="863" b="0">
                <a:solidFill>
                  <a:srgbClr val="070707"/>
                </a:solidFill>
              </a:rPr>
              <a:t>Employees have subscriptions but use them only occasionally.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7607B19-81D9-4A85-8625-AD680B2219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582704"/>
            <a:ext cx="104775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70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B7E73B8-E97D-4A23-BB0D-FF373BACEC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447925"/>
            <a:ext cx="630555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863" b="0">
                <a:solidFill>
                  <a:srgbClr val="070707"/>
                </a:solidFill>
              </a:defRPr>
            </a:pPr>
            <a:r>
              <a:rPr sz="863" b="0">
                <a:solidFill>
                  <a:srgbClr val="070707"/>
                </a:solidFill>
              </a:rPr>
              <a:t>A demo looked good, but nobody used it after launch.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EA924D8-FB93-4098-B0CA-34FC6EA12C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877979"/>
            <a:ext cx="104775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70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96BA9A2-7269-4540-8062-7409F38196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743200"/>
            <a:ext cx="630555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863" b="0">
                <a:solidFill>
                  <a:srgbClr val="070707"/>
                </a:solidFill>
              </a:defRPr>
            </a:pPr>
            <a:r>
              <a:rPr sz="863" b="0">
                <a:solidFill>
                  <a:srgbClr val="070707"/>
                </a:solidFill>
              </a:rPr>
              <a:t>Other companies’ cases do not fit the way this company works.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5002381-0B5A-42A1-9118-F628BDFFE7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173254"/>
            <a:ext cx="104775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70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164E307-6241-458F-9E2C-12B7DDFE04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038475"/>
            <a:ext cx="630555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863" b="0">
                <a:solidFill>
                  <a:srgbClr val="070707"/>
                </a:solidFill>
              </a:defRPr>
            </a:pPr>
            <a:r>
              <a:rPr sz="863" b="0">
                <a:solidFill>
                  <a:srgbClr val="070707"/>
                </a:solidFill>
              </a:rPr>
              <a:t>Every department has ideas, but nobody can set priorities.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3A05453-BB3F-4FA3-B617-F990FF0201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468529"/>
            <a:ext cx="104775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70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A62AC54-9719-4A1F-AAEB-BB54C0E07D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333750"/>
            <a:ext cx="630555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863" b="0">
                <a:solidFill>
                  <a:srgbClr val="070707"/>
                </a:solidFill>
              </a:defRPr>
            </a:pPr>
            <a:r>
              <a:rPr sz="863" b="0">
                <a:solidFill>
                  <a:srgbClr val="070707"/>
                </a:solidFill>
              </a:rPr>
              <a:t>Information is scattered across chat, spreadsheets, PDFs, drives, and personal computers.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78CF6F3-C60C-4669-A964-87E4BAC7CC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763804"/>
            <a:ext cx="104775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70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8643AAC-720A-4887-AB9A-AD52EC5826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629025"/>
            <a:ext cx="630555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863" b="0">
                <a:solidFill>
                  <a:srgbClr val="070707"/>
                </a:solidFill>
              </a:defRPr>
            </a:pPr>
            <a:r>
              <a:rPr sz="863" b="0">
                <a:solidFill>
                  <a:srgbClr val="070707"/>
                </a:solidFill>
              </a:rPr>
              <a:t>Leaders worry about security and do not know how much authority an agent should have.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ABFA7815-894D-41DD-8773-675A1552B5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4057650"/>
            <a:ext cx="65341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885" b="1">
                <a:solidFill>
                  <a:srgbClr val="070707"/>
                </a:solidFill>
              </a:defRPr>
            </a:pPr>
            <a:r>
              <a:rPr sz="885" b="1">
                <a:solidFill>
                  <a:srgbClr val="070707"/>
                </a:solidFill>
              </a:rPr>
              <a:t>AI transformation crosses four boundaries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43C79B02-FACB-49D5-BECF-D901A96579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4400550"/>
            <a:ext cx="65341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005" b="1">
                <a:solidFill>
                  <a:srgbClr val="070707"/>
                </a:solidFill>
              </a:defRPr>
            </a:pPr>
            <a:r>
              <a:rPr sz="1005" b="1">
                <a:solidFill>
                  <a:srgbClr val="070707"/>
                </a:solidFill>
              </a:rPr>
              <a:t>The outcome leadership wants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12299F4A-6C02-41CF-8179-4158151390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4705350"/>
            <a:ext cx="6534150" cy="428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8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AE7EDED3-060F-49A9-A6B1-0F4E9E2779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4743450"/>
            <a:ext cx="65341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005" b="1">
                <a:solidFill>
                  <a:srgbClr val="070707"/>
                </a:solidFill>
              </a:defRPr>
            </a:pPr>
            <a:r>
              <a:rPr sz="1005" b="1">
                <a:solidFill>
                  <a:srgbClr val="070707"/>
                </a:solidFill>
              </a:rPr>
              <a:t>How frontline work actually happens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96220E28-2255-4503-ACAF-5FB8036245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5048250"/>
            <a:ext cx="6534150" cy="428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8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CAF23E11-1341-4F90-AC74-795B9712B1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5086350"/>
            <a:ext cx="65341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005" b="1">
                <a:solidFill>
                  <a:srgbClr val="070707"/>
                </a:solidFill>
              </a:defRPr>
            </a:pPr>
            <a:r>
              <a:rPr sz="1005" b="1">
                <a:solidFill>
                  <a:srgbClr val="070707"/>
                </a:solidFill>
              </a:rPr>
              <a:t>Where the data and systems live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CA4FA846-236F-4AEE-8793-EECFC9AD20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5391150"/>
            <a:ext cx="6534150" cy="428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8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B9DB3E0C-8C00-4F66-96D6-F357805E51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5429250"/>
            <a:ext cx="65341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005" b="1">
                <a:solidFill>
                  <a:srgbClr val="070707"/>
                </a:solidFill>
              </a:defRPr>
            </a:pPr>
            <a:r>
              <a:rPr sz="1005" b="1">
                <a:solidFill>
                  <a:srgbClr val="070707"/>
                </a:solidFill>
              </a:rPr>
              <a:t>How the solution gets built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E2964490-5FB2-4AD4-8DBA-932C21E9BB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5848350"/>
            <a:ext cx="65341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907" b="1">
                <a:solidFill>
                  <a:srgbClr val="070707"/>
                </a:solidFill>
              </a:defRPr>
            </a:pPr>
            <a:r>
              <a:rPr sz="907" b="1">
                <a:solidFill>
                  <a:srgbClr val="070707"/>
                </a:solidFill>
              </a:rPr>
              <a:t>Leave out one layer and the project often stalls.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FF300AF1-FF09-486D-8EDF-6D29752E17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343650"/>
            <a:ext cx="65341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885" b="1">
                <a:solidFill>
                  <a:srgbClr val="070707"/>
                </a:solidFill>
              </a:defRPr>
            </a:pPr>
            <a:r>
              <a:rPr sz="885" b="1">
                <a:solidFill>
                  <a:srgbClr val="070707"/>
                </a:solidFill>
              </a:rPr>
              <a:t>WHY INTERNAL PROJECTS STALL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690B3F10-BB82-4B9D-9025-1F351F02B0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705600"/>
            <a:ext cx="1619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900" b="1">
                <a:solidFill>
                  <a:srgbClr val="070707"/>
                </a:solidFill>
              </a:defRPr>
            </a:pPr>
            <a:r>
              <a:rPr sz="900" b="1">
                <a:solidFill>
                  <a:srgbClr val="070707"/>
                </a:solidFill>
              </a:rPr>
              <a:t>Listen only to leadership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2EAC064A-5026-409A-9C2C-CA916C33F2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33625" y="6705600"/>
            <a:ext cx="4714875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863" b="0">
                <a:solidFill>
                  <a:srgbClr val="070707"/>
                </a:solidFill>
              </a:defRPr>
            </a:pPr>
            <a:r>
              <a:rPr sz="863" b="0">
                <a:solidFill>
                  <a:srgbClr val="070707"/>
                </a:solidFill>
              </a:rPr>
              <a:t>The ambition is broad, but the first practical job remains unclear.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D6BF782E-8CC7-4FD5-82A1-AA9C24BCAD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7153275"/>
            <a:ext cx="6534150" cy="428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8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CDC6EC97-42B0-498B-96C0-9686EA0ED7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7200900"/>
            <a:ext cx="1619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900" b="1">
                <a:solidFill>
                  <a:srgbClr val="070707"/>
                </a:solidFill>
              </a:defRPr>
            </a:pPr>
            <a:r>
              <a:rPr sz="900" b="1">
                <a:solidFill>
                  <a:srgbClr val="070707"/>
                </a:solidFill>
              </a:rPr>
              <a:t>Listen only to frontline teams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2E1B945E-9AA4-47DE-A3E9-68BA09F58F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33625" y="7200900"/>
            <a:ext cx="4714875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863" b="0">
                <a:solidFill>
                  <a:srgbClr val="070707"/>
                </a:solidFill>
              </a:defRPr>
            </a:pPr>
            <a:r>
              <a:rPr sz="863" b="0">
                <a:solidFill>
                  <a:srgbClr val="070707"/>
                </a:solidFill>
              </a:rPr>
              <a:t>You collect scattered requests but cannot identify the best investment.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178F3C16-57E2-4254-A5ED-37E1372D79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7648575"/>
            <a:ext cx="6534150" cy="428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8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E11FA649-0679-4AF8-86F2-3A04ACE2E7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7696200"/>
            <a:ext cx="1619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900" b="1">
                <a:solidFill>
                  <a:srgbClr val="070707"/>
                </a:solidFill>
              </a:defRPr>
            </a:pPr>
            <a:r>
              <a:rPr sz="900" b="1">
                <a:solidFill>
                  <a:srgbClr val="070707"/>
                </a:solidFill>
              </a:rPr>
              <a:t>Start with a software vendor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F68B1C6B-FBCF-423C-83D4-5CDF31B1A5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33625" y="7696200"/>
            <a:ext cx="4714875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863" b="0">
                <a:solidFill>
                  <a:srgbClr val="070707"/>
                </a:solidFill>
              </a:defRPr>
            </a:pPr>
            <a:r>
              <a:rPr sz="863" b="0">
                <a:solidFill>
                  <a:srgbClr val="070707"/>
                </a:solidFill>
              </a:rPr>
              <a:t>The vendor needs clear requirements—the thing the company still lacks.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EA2F3A24-080D-4BB3-AA6D-93C957FF07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8143875"/>
            <a:ext cx="6534150" cy="428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8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0F831BC0-C003-4D47-94E6-D73284DF64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8191500"/>
            <a:ext cx="1619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900" b="1">
                <a:solidFill>
                  <a:srgbClr val="070707"/>
                </a:solidFill>
              </a:defRPr>
            </a:pPr>
            <a:r>
              <a:rPr sz="900" b="1">
                <a:solidFill>
                  <a:srgbClr val="070707"/>
                </a:solidFill>
              </a:rPr>
              <a:t>Buy a standard product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4F0A8932-2DC2-436E-920C-7314791D13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33625" y="8191500"/>
            <a:ext cx="4714875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863" b="0">
                <a:solidFill>
                  <a:srgbClr val="070707"/>
                </a:solidFill>
              </a:defRPr>
            </a:pPr>
            <a:r>
              <a:rPr sz="863" b="0">
                <a:solidFill>
                  <a:srgbClr val="070707"/>
                </a:solidFill>
              </a:rPr>
              <a:t>Deployment is fast, but the workflow may not fit.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93366AC2-AEBC-47A3-AD14-8535FEE3F6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8639175"/>
            <a:ext cx="6534150" cy="428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8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BA3EB13C-0D71-4E43-8491-D511E15B49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8686800"/>
            <a:ext cx="1619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900" b="1">
                <a:solidFill>
                  <a:srgbClr val="070707"/>
                </a:solidFill>
              </a:defRPr>
            </a:pPr>
            <a:r>
              <a:rPr sz="900" b="1">
                <a:solidFill>
                  <a:srgbClr val="070707"/>
                </a:solidFill>
              </a:rPr>
              <a:t>Build a large platform first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4FE99549-D4D1-44C6-8BCD-491704E6A5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33625" y="8686800"/>
            <a:ext cx="4714875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863" b="0">
                <a:solidFill>
                  <a:srgbClr val="070707"/>
                </a:solidFill>
              </a:defRPr>
            </a:pPr>
            <a:r>
              <a:rPr sz="863" b="0">
                <a:solidFill>
                  <a:srgbClr val="070707"/>
                </a:solidFill>
              </a:rPr>
              <a:t>Time and money are committed before business value is tested.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DCD4E6F0-E51D-4B32-A49F-A53377D176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9353550"/>
            <a:ext cx="65341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923" b="1">
                <a:solidFill>
                  <a:srgbClr val="070707"/>
                </a:solidFill>
              </a:defRPr>
            </a:pPr>
            <a:r>
              <a:rPr sz="923" b="1">
                <a:solidFill>
                  <a:srgbClr val="070707"/>
                </a:solidFill>
              </a:rPr>
              <a:t>A company needs someone who can connect business, product, and technology. That is the FDE’s role.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A22D9760-3FE5-406D-86CF-959B71FE0F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0287000"/>
            <a:ext cx="38100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660" b="0">
                <a:solidFill>
                  <a:srgbClr val="656563"/>
                </a:solidFill>
              </a:defRPr>
            </a:pPr>
            <a:r>
              <a:rPr sz="660" b="0">
                <a:solidFill>
                  <a:srgbClr val="656563"/>
                </a:solidFill>
              </a:rPr>
              <a:t>4</a:t>
            </a:r>
          </a:p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4D09688F-79CC-4C11-BA8D-9002BA143C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48250" y="10287000"/>
            <a:ext cx="200025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buNone/>
              <a:defRPr sz="660" b="0">
                <a:solidFill>
                  <a:srgbClr val="656563"/>
                </a:solidFill>
              </a:defRPr>
            </a:pPr>
            <a:r>
              <a:rPr sz="660" b="0">
                <a:solidFill>
                  <a:srgbClr val="656563"/>
                </a:solidFill>
              </a:rPr>
              <a:t>FDE enterprise AI upgrade</a:t>
            </a:r>
          </a:p>
        </p:txBody>
      </p:sp>
      <p:pic>
        <p:nvPicPr>
          <p:cNvPr id="85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2d8fdab28af4a45"/>
          <a:stretch xmlns:a="http://schemas.openxmlformats.org/drawingml/2006/main"/>
        </p:blipFill>
        <p:spPr>
          <a:xfrm xmlns:a="http://schemas.openxmlformats.org/drawingml/2006/main">
            <a:off x="4810125" y="10258425"/>
            <a:ext cx="171450" cy="17145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32836457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AB66D293-CC18-45DA-8C45-FA20F17195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552450"/>
            <a:ext cx="6534150" cy="1285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2775" b="0">
                <a:solidFill>
                  <a:srgbClr val="070707"/>
                </a:solidFill>
              </a:defRPr>
            </a:pPr>
            <a:r>
              <a:rPr sz="2775" b="0">
                <a:solidFill>
                  <a:srgbClr val="070707"/>
                </a:solidFill>
              </a:rPr>
              <a:t>An FDE starts with ambiguity</a:t>
            </a:r>
          </a:p>
          <a:p xmlns:a="http://schemas.openxmlformats.org/drawingml/2006/main">
            <a:pPr algn="l">
              <a:buNone/>
              <a:defRPr sz="2775" b="0">
                <a:solidFill>
                  <a:srgbClr val="070707"/>
                </a:solidFill>
              </a:defRPr>
            </a:pPr>
            <a:r>
              <a:rPr sz="2775" b="0">
                <a:solidFill>
                  <a:srgbClr val="070707"/>
                </a:solidFill>
              </a:rPr>
              <a:t>and stays until results can be tested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D051C7A-3AB2-4D4C-A00A-2B7DB3F144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238375"/>
            <a:ext cx="6534150" cy="1762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095" b="0">
                <a:solidFill>
                  <a:srgbClr val="070707"/>
                </a:solidFill>
              </a:defRPr>
            </a:pPr>
            <a:r>
              <a:rPr sz="1095" b="0">
                <a:solidFill>
                  <a:srgbClr val="070707"/>
                </a:solidFill>
              </a:rPr>
              <a:t>A Forward Deployed Engineer does more than write code at a customer site.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buNone/>
              <a:defRPr sz="1095" b="0">
                <a:solidFill>
                  <a:srgbClr val="070707"/>
                </a:solidFill>
              </a:defRPr>
            </a:pPr>
            <a:r>
              <a:rPr sz="1095" b="0">
                <a:solidFill>
                  <a:srgbClr val="070707"/>
                </a:solidFill>
              </a:rPr>
              <a:t>The work starts by observing the business: why leadership wants AI, what employees do each day, where the data lives, and where time, errors, or slow response hurt the company.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B378AFB-0DC1-41A1-A248-6BAA41426D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4257675"/>
            <a:ext cx="6534150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E3C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DA9430B-2994-421D-BA86-0A950D2E58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438650"/>
            <a:ext cx="6191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013" b="1">
                <a:solidFill>
                  <a:srgbClr val="070707"/>
                </a:solidFill>
              </a:defRPr>
            </a:pPr>
            <a:r>
              <a:rPr sz="1013" b="1">
                <a:solidFill>
                  <a:srgbClr val="070707"/>
                </a:solidFill>
              </a:rPr>
              <a:t>Once the problem is clear, the FDE chooses how to solve it: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AA18334-98EF-4860-B444-552E33A6BA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5702141"/>
            <a:ext cx="104775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70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7F56634-FFC6-462E-9ED1-262CAEEC02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5286375"/>
            <a:ext cx="630555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020" b="0">
                <a:solidFill>
                  <a:srgbClr val="070707"/>
                </a:solidFill>
              </a:defRPr>
            </a:pPr>
            <a:r>
              <a:rPr sz="1020" b="0">
                <a:solidFill>
                  <a:srgbClr val="070707"/>
                </a:solidFill>
              </a:rPr>
              <a:t>Use an existing product when it already solves the problem.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FEBFCCA-77AC-4E82-B953-4C7F2F0B19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6105525"/>
            <a:ext cx="6305550" cy="428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8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66C8820-3BF1-4F9A-9DC2-42DD7AA71B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568916"/>
            <a:ext cx="104775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70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3FC2FCD-046A-4604-848F-78FF4A2B51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6153150"/>
            <a:ext cx="630555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020" b="0">
                <a:solidFill>
                  <a:srgbClr val="070707"/>
                </a:solidFill>
              </a:defRPr>
            </a:pPr>
            <a:r>
              <a:rPr sz="1020" b="0">
                <a:solidFill>
                  <a:srgbClr val="070707"/>
                </a:solidFill>
              </a:rPr>
              <a:t>Build a Skill when a Skill is enough.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B2A0B29-EC03-46A6-9E83-7B5A49E15B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6972300"/>
            <a:ext cx="6305550" cy="428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8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F86DAF9-99C6-43F4-A618-76E43B2129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7435691"/>
            <a:ext cx="104775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70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B1036E0-539F-440E-912D-83BA6E3110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7019925"/>
            <a:ext cx="630555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020" b="0">
                <a:solidFill>
                  <a:srgbClr val="070707"/>
                </a:solidFill>
              </a:defRPr>
            </a:pPr>
            <a:r>
              <a:rPr sz="1020" b="0">
                <a:solidFill>
                  <a:srgbClr val="070707"/>
                </a:solidFill>
              </a:rPr>
              <a:t>Integrate with existing systems when the workflow crosses tools.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26134B8-FCB9-497F-ADC3-17BE48F78E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7839075"/>
            <a:ext cx="6305550" cy="428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8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EBC4E9C-4084-430E-833A-2343E98B85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8302466"/>
            <a:ext cx="104775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70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653A4518-551D-4C83-8BFB-D51449F20B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7886700"/>
            <a:ext cx="630555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020" b="0">
                <a:solidFill>
                  <a:srgbClr val="070707"/>
                </a:solidFill>
              </a:defRPr>
            </a:pPr>
            <a:r>
              <a:rPr sz="1020" b="0">
                <a:solidFill>
                  <a:srgbClr val="070707"/>
                </a:solidFill>
              </a:rPr>
              <a:t>Create a database or knowledge base when the data must be organized first.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AC52F5E6-11A1-4F97-BBC2-3253821F8B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8705850"/>
            <a:ext cx="6305550" cy="428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8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1A3F4290-9321-430D-B420-9E12761DAB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9169241"/>
            <a:ext cx="104775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70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9BC09567-C15A-44B6-A22B-5062D20404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8753475"/>
            <a:ext cx="630555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020" b="0">
                <a:solidFill>
                  <a:srgbClr val="070707"/>
                </a:solidFill>
              </a:defRPr>
            </a:pPr>
            <a:r>
              <a:rPr sz="1020" b="0">
                <a:solidFill>
                  <a:srgbClr val="070707"/>
                </a:solidFill>
              </a:rPr>
              <a:t>Design the division of work between people and agents when the workflow is suitable.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460013E1-F511-4A75-B777-DD30BA63F2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0287000"/>
            <a:ext cx="38100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660" b="0">
                <a:solidFill>
                  <a:srgbClr val="656563"/>
                </a:solidFill>
              </a:defRPr>
            </a:pPr>
            <a:r>
              <a:rPr sz="660" b="0">
                <a:solidFill>
                  <a:srgbClr val="656563"/>
                </a:solidFill>
              </a:rPr>
              <a:t>5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E76A85D2-98EF-483C-BF0B-F604DF9225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48250" y="10287000"/>
            <a:ext cx="200025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buNone/>
              <a:defRPr sz="660" b="0">
                <a:solidFill>
                  <a:srgbClr val="656563"/>
                </a:solidFill>
              </a:defRPr>
            </a:pPr>
            <a:r>
              <a:rPr sz="660" b="0">
                <a:solidFill>
                  <a:srgbClr val="656563"/>
                </a:solidFill>
              </a:rPr>
              <a:t>FDE enterprise AI upgrade</a:t>
            </a:r>
          </a:p>
        </p:txBody>
      </p:sp>
      <p:pic>
        <p:nvPicPr>
          <p:cNvPr id="4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b14975511404d64"/>
          <a:stretch xmlns:a="http://schemas.openxmlformats.org/drawingml/2006/main"/>
        </p:blipFill>
        <p:spPr>
          <a:xfrm xmlns:a="http://schemas.openxmlformats.org/drawingml/2006/main">
            <a:off x="4810125" y="10258425"/>
            <a:ext cx="171450" cy="17145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28235902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9" name="">
            <a:extLst xmlns:a="http://schemas.openxmlformats.org/drawingml/2006/main">
              <a:ext uri="{FF2B5EF4-FFF2-40B4-BE49-F238E27FC236}">
                <a16:creationId xmlns:a16="http://schemas.microsoft.com/office/drawing/2014/main" id="{5BA23301-5D76-4643-8493-EF4EF5D0EB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495300"/>
            <a:ext cx="6534150" cy="1285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2850" b="0">
                <a:solidFill>
                  <a:srgbClr val="070707"/>
                </a:solidFill>
              </a:defRPr>
            </a:pPr>
            <a:r>
              <a:rPr sz="2850" b="0">
                <a:solidFill>
                  <a:srgbClr val="070707"/>
                </a:solidFill>
              </a:rPr>
              <a:t>From one small tool</a:t>
            </a:r>
          </a:p>
          <a:p xmlns:a="http://schemas.openxmlformats.org/drawingml/2006/main">
            <a:pPr algn="l">
              <a:buNone/>
              <a:defRPr sz="2850" b="0">
                <a:solidFill>
                  <a:srgbClr val="070707"/>
                </a:solidFill>
              </a:defRPr>
            </a:pPr>
            <a:r>
              <a:rPr sz="2850" b="0">
                <a:solidFill>
                  <a:srgbClr val="070707"/>
                </a:solidFill>
              </a:rPr>
              <a:t>to a company-wide AI upgrade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38C3C7D-C118-424D-905D-A05AFADFC8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800350"/>
            <a:ext cx="3667125" cy="76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70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8A5DD41-9C88-45C5-83A7-A209622C90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038475"/>
            <a:ext cx="3667125" cy="314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238" b="1">
                <a:solidFill>
                  <a:srgbClr val="070707"/>
                </a:solidFill>
              </a:defRPr>
            </a:pPr>
            <a:r>
              <a:rPr sz="1238" b="1">
                <a:solidFill>
                  <a:srgbClr val="070707"/>
                </a:solidFill>
              </a:rPr>
              <a:t>One specific problem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128C932-FA23-4714-8F70-DB9D28541F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587591"/>
            <a:ext cx="85725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70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346918B-6626-48A7-8639-248CD1EBCB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476625"/>
            <a:ext cx="343852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832" b="0">
                <a:solidFill>
                  <a:srgbClr val="070707"/>
                </a:solidFill>
              </a:defRPr>
            </a:pPr>
            <a:r>
              <a:rPr sz="832" b="0">
                <a:solidFill>
                  <a:srgbClr val="070707"/>
                </a:solidFill>
              </a:rPr>
              <a:t>Company-specific Skills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3193663-8F63-4B76-B053-593CD639E6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4082891"/>
            <a:ext cx="85725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70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A365F96-9A79-4B25-8B09-3CADE0D06C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971925"/>
            <a:ext cx="343852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832" b="0">
                <a:solidFill>
                  <a:srgbClr val="070707"/>
                </a:solidFill>
              </a:defRPr>
            </a:pPr>
            <a:r>
              <a:rPr sz="832" b="0">
                <a:solidFill>
                  <a:srgbClr val="070707"/>
                </a:solidFill>
              </a:rPr>
              <a:t>Quotation, entry, reconciliation, and reporting automation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833DDD4-70C8-458E-AE1E-5A04BD405A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835241"/>
            <a:ext cx="85725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70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4B92183-4D5D-4DA8-A48B-EAA784A5C0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724275"/>
            <a:ext cx="343852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832" b="0">
                <a:solidFill>
                  <a:srgbClr val="070707"/>
                </a:solidFill>
              </a:defRPr>
            </a:pPr>
            <a:r>
              <a:rPr sz="832" b="0">
                <a:solidFill>
                  <a:srgbClr val="070707"/>
                </a:solidFill>
              </a:rPr>
              <a:t>Document, spreadsheet, and image processing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DDE1B32-ADD2-472B-B5A0-60051C2EC3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4330541"/>
            <a:ext cx="85725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70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C3268C4-0396-4CE5-A176-EDF77DBD4D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219575"/>
            <a:ext cx="343852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832" b="0">
                <a:solidFill>
                  <a:srgbClr val="070707"/>
                </a:solidFill>
              </a:defRPr>
            </a:pPr>
            <a:r>
              <a:rPr sz="832" b="0">
                <a:solidFill>
                  <a:srgbClr val="070707"/>
                </a:solidFill>
              </a:rPr>
              <a:t>Small custom SaaS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03D4290-E322-47F8-BD4A-124B6AEC3D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4533900"/>
            <a:ext cx="3667125" cy="428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8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CBAEF88-EF3A-4446-AB75-E99A07AB5E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4686300"/>
            <a:ext cx="366712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810" b="0">
                <a:solidFill>
                  <a:srgbClr val="070707"/>
                </a:solidFill>
              </a:defRPr>
            </a:pPr>
            <a:r>
              <a:rPr sz="810" b="0">
                <a:solidFill>
                  <a:srgbClr val="070707"/>
                </a:solidFill>
              </a:rPr>
              <a:t>Best when the problem is clear and results are needed quickly.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0B27C6A-59A1-4817-A908-49758992F5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5057775"/>
            <a:ext cx="3667125" cy="76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70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07B3941-FFBC-40B3-89D3-4CF83343A1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5295900"/>
            <a:ext cx="3667125" cy="314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238" b="1">
                <a:solidFill>
                  <a:srgbClr val="070707"/>
                </a:solidFill>
              </a:defRPr>
            </a:pPr>
            <a:r>
              <a:rPr sz="1238" b="1">
                <a:solidFill>
                  <a:srgbClr val="070707"/>
                </a:solidFill>
              </a:rPr>
              <a:t>One business workflow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5AFD2955-F690-4114-8A3A-312E488028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5802154"/>
            <a:ext cx="85725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70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36FEED9C-D229-4E90-A262-970A110C60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5695950"/>
            <a:ext cx="3438525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832" b="0">
                <a:solidFill>
                  <a:srgbClr val="070707"/>
                </a:solidFill>
              </a:defRPr>
            </a:pPr>
            <a:r>
              <a:rPr sz="832" b="0">
                <a:solidFill>
                  <a:srgbClr val="070707"/>
                </a:solidFill>
              </a:rPr>
              <a:t>Interviews and workflow mapping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B381509E-7C8B-4DB2-92CE-81AAB1CB7E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278404"/>
            <a:ext cx="85725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70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1361D74A-CAC8-41F3-9959-A9D11CED34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6172200"/>
            <a:ext cx="3438525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832" b="0">
                <a:solidFill>
                  <a:srgbClr val="070707"/>
                </a:solidFill>
              </a:defRPr>
            </a:pPr>
            <a:r>
              <a:rPr sz="832" b="0">
                <a:solidFill>
                  <a:srgbClr val="070707"/>
                </a:solidFill>
              </a:rPr>
              <a:t>ERP, CRM, collaboration, and messaging integrations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1CDA7777-92CF-4C99-9CD7-6FD8BD9250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754654"/>
            <a:ext cx="85725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70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3AACD471-E9EE-4D08-9170-84AD0A7223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6648450"/>
            <a:ext cx="3438525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832" b="0">
                <a:solidFill>
                  <a:srgbClr val="070707"/>
                </a:solidFill>
              </a:defRPr>
            </a:pPr>
            <a:r>
              <a:rPr sz="832" b="0">
                <a:solidFill>
                  <a:srgbClr val="070707"/>
                </a:solidFill>
              </a:rPr>
              <a:t>Progress, result, and activity records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0396B310-A599-43C1-84DF-723D572D00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040279"/>
            <a:ext cx="85725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70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5D2E991F-49AC-4DFB-9207-223E2DADA2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5934075"/>
            <a:ext cx="3438525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832" b="0">
                <a:solidFill>
                  <a:srgbClr val="070707"/>
                </a:solidFill>
              </a:defRPr>
            </a:pPr>
            <a:r>
              <a:rPr sz="832" b="0">
                <a:solidFill>
                  <a:srgbClr val="070707"/>
                </a:solidFill>
              </a:rPr>
              <a:t>Role-specific agents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CA116E84-8886-49CC-BF26-E3673E4A52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516529"/>
            <a:ext cx="85725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70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EB680156-2AD2-4332-B6C6-0335550C0F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6410325"/>
            <a:ext cx="3438525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832" b="0">
                <a:solidFill>
                  <a:srgbClr val="070707"/>
                </a:solidFill>
              </a:defRPr>
            </a:pPr>
            <a:r>
              <a:rPr sz="832" b="0">
                <a:solidFill>
                  <a:srgbClr val="070707"/>
                </a:solidFill>
              </a:rPr>
              <a:t>Exception handling and human approval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FC9D6008-507E-46E7-B7AF-CAED1BC511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924675"/>
            <a:ext cx="3667125" cy="428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8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A94C13C6-A3BC-4CAE-8C22-4F75966854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7029450"/>
            <a:ext cx="3667125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810" b="0">
                <a:solidFill>
                  <a:srgbClr val="070707"/>
                </a:solidFill>
              </a:defRPr>
            </a:pPr>
            <a:r>
              <a:rPr sz="810" b="0">
                <a:solidFill>
                  <a:srgbClr val="070707"/>
                </a:solidFill>
              </a:rPr>
              <a:t>Best when work crosses people and systems through manual handoffs.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478073BD-B02E-408F-B4DB-6DAB70B244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7315200"/>
            <a:ext cx="3667125" cy="76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70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B2443021-4B9C-4AB3-AC6C-0C11823F50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7553325"/>
            <a:ext cx="3667125" cy="314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238" b="1">
                <a:solidFill>
                  <a:srgbClr val="070707"/>
                </a:solidFill>
              </a:defRPr>
            </a:pPr>
            <a:r>
              <a:rPr sz="1238" b="1">
                <a:solidFill>
                  <a:srgbClr val="070707"/>
                </a:solidFill>
              </a:rPr>
              <a:t>A data foundation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D537C323-8CBE-4F23-A2B1-1132C58190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8069104"/>
            <a:ext cx="85725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70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2D70B4E3-292E-42C6-91ED-D81CDE69A1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7962900"/>
            <a:ext cx="3438525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832" b="0">
                <a:solidFill>
                  <a:srgbClr val="070707"/>
                </a:solidFill>
              </a:defRPr>
            </a:pPr>
            <a:r>
              <a:rPr sz="832" b="0">
                <a:solidFill>
                  <a:srgbClr val="070707"/>
                </a:solidFill>
              </a:rPr>
              <a:t>Operational databases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3AA1CFD2-6EB1-47F3-BB5F-C86C428A78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8545354"/>
            <a:ext cx="85725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70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69333FE1-EA94-49E7-8F04-78BF048F3B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8439150"/>
            <a:ext cx="3438525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832" b="0">
                <a:solidFill>
                  <a:srgbClr val="070707"/>
                </a:solidFill>
              </a:defRPr>
            </a:pPr>
            <a:r>
              <a:rPr sz="832" b="0">
                <a:solidFill>
                  <a:srgbClr val="070707"/>
                </a:solidFill>
              </a:rPr>
              <a:t>Data cleanup and consistent naming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9B4C7860-DECC-4DE7-9181-82887C2BCB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9021604"/>
            <a:ext cx="85725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70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EDAD2F3D-77D4-43D3-AC93-C5C404C459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8915400"/>
            <a:ext cx="3438525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832" b="0">
                <a:solidFill>
                  <a:srgbClr val="070707"/>
                </a:solidFill>
              </a:defRPr>
            </a:pPr>
            <a:r>
              <a:rPr sz="832" b="0">
                <a:solidFill>
                  <a:srgbClr val="070707"/>
                </a:solidFill>
              </a:rPr>
              <a:t>Trusted data for agents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A30068F3-1DC4-4A51-9F94-007A4CFA42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8307229"/>
            <a:ext cx="85725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70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7582CFA6-E4BA-4F96-9C05-12DF90991C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8201025"/>
            <a:ext cx="3438525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832" b="0">
                <a:solidFill>
                  <a:srgbClr val="070707"/>
                </a:solidFill>
              </a:defRPr>
            </a:pPr>
            <a:r>
              <a:rPr sz="832" b="0">
                <a:solidFill>
                  <a:srgbClr val="070707"/>
                </a:solidFill>
              </a:rPr>
              <a:t>Enterprise knowledge bases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D915227A-16F9-47CD-A200-9BB7123562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8783479"/>
            <a:ext cx="85725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70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99E34BA1-158F-4645-AC88-64DACA381D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8677275"/>
            <a:ext cx="3438525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832" b="0">
                <a:solidFill>
                  <a:srgbClr val="070707"/>
                </a:solidFill>
              </a:defRPr>
            </a:pPr>
            <a:r>
              <a:rPr sz="832" b="0">
                <a:solidFill>
                  <a:srgbClr val="070707"/>
                </a:solidFill>
              </a:rPr>
              <a:t>Permissions and usage boundaries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EAB3C513-64D6-425B-B99F-E17A6EB813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9182100"/>
            <a:ext cx="3667125" cy="428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8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FB4FD7CC-C2E9-48F1-9AB1-ECA0044915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9267825"/>
            <a:ext cx="3667125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810" b="0">
                <a:solidFill>
                  <a:srgbClr val="070707"/>
                </a:solidFill>
              </a:defRPr>
            </a:pPr>
            <a:r>
              <a:rPr sz="810" b="0">
                <a:solidFill>
                  <a:srgbClr val="070707"/>
                </a:solidFill>
              </a:rPr>
              <a:t>Best when information is hard to find, share, or trust.</a:t>
            </a:r>
          </a:p>
        </p:txBody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D089E954-C9CB-4693-BC10-D31F49BC5C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14850" y="2800350"/>
            <a:ext cx="2533650" cy="6781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E3C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8AD10527-254D-4D45-BAC2-1EF52B379C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24400" y="2800350"/>
            <a:ext cx="21145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70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422C2C23-8A6A-4D15-A850-5B8C5476D9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43450" y="3200400"/>
            <a:ext cx="207645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650" b="1">
                <a:solidFill>
                  <a:srgbClr val="070707"/>
                </a:solidFill>
              </a:defRPr>
            </a:pPr>
            <a:r>
              <a:rPr sz="1650" b="1">
                <a:solidFill>
                  <a:srgbClr val="070707"/>
                </a:solidFill>
              </a:rPr>
              <a:t>A company-wide upgrade</a:t>
            </a:r>
          </a:p>
        </p:txBody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E6C05674-6CEB-4E1F-AD7E-521FCFB6A4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43450" y="4830604"/>
            <a:ext cx="95250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70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CE605551-11E8-4BDB-98DB-6A0E951E89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72050" y="4476750"/>
            <a:ext cx="184785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893" b="0">
                <a:solidFill>
                  <a:srgbClr val="070707"/>
                </a:solidFill>
              </a:defRPr>
            </a:pPr>
            <a:r>
              <a:rPr sz="893" b="0">
                <a:solidFill>
                  <a:srgbClr val="070707"/>
                </a:solidFill>
              </a:rPr>
              <a:t>Identify work suitable for AI across departments</a:t>
            </a:r>
          </a:p>
        </p:txBody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50DF3CA0-8DB0-46E3-AE5D-7643605FEA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43450" y="5573554"/>
            <a:ext cx="95250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70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3E9C4C9A-F90E-4448-928D-71FDF5DB14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72050" y="5219700"/>
            <a:ext cx="184785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893" b="0">
                <a:solidFill>
                  <a:srgbClr val="070707"/>
                </a:solidFill>
              </a:defRPr>
            </a:pPr>
            <a:r>
              <a:rPr sz="893" b="0">
                <a:solidFill>
                  <a:srgbClr val="070707"/>
                </a:solidFill>
              </a:rPr>
              <a:t>Redesign how people and agents divide the work</a:t>
            </a:r>
          </a:p>
        </p:txBody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CE4E4A4C-A2B4-4A05-8112-AC730B1A3A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43450" y="6316504"/>
            <a:ext cx="95250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70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ADAC99DD-059D-4307-A6F0-EAB8EB32F2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72050" y="5962650"/>
            <a:ext cx="184785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893" b="0">
                <a:solidFill>
                  <a:srgbClr val="070707"/>
                </a:solidFill>
              </a:defRPr>
            </a:pPr>
            <a:r>
              <a:rPr sz="893" b="0">
                <a:solidFill>
                  <a:srgbClr val="070707"/>
                </a:solidFill>
              </a:rPr>
              <a:t>Set permissions, approvals, and accountability</a:t>
            </a:r>
          </a:p>
        </p:txBody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80F610FD-6733-4CB0-A8E0-E4F5BAE604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43450" y="7059454"/>
            <a:ext cx="95250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70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C53F37C9-C965-47F1-900F-76AC3DCEC7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72050" y="6705600"/>
            <a:ext cx="184785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893" b="0">
                <a:solidFill>
                  <a:srgbClr val="070707"/>
                </a:solidFill>
              </a:defRPr>
            </a:pPr>
            <a:r>
              <a:rPr sz="893" b="0">
                <a:solidFill>
                  <a:srgbClr val="070707"/>
                </a:solidFill>
              </a:rPr>
              <a:t>Define the pilot sequence and expansion plan</a:t>
            </a:r>
          </a:p>
        </p:txBody>
      </p:sp>
      <p:sp>
        <p:nvSpPr>
          <p:cNvPr id="53" name="">
            <a:extLst xmlns:a="http://schemas.openxmlformats.org/drawingml/2006/main">
              <a:ext uri="{FF2B5EF4-FFF2-40B4-BE49-F238E27FC236}">
                <a16:creationId xmlns:a16="http://schemas.microsoft.com/office/drawing/2014/main" id="{F528B9C4-73B7-4B46-9E96-244CEC4026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43450" y="7802404"/>
            <a:ext cx="95250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70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4" name="">
            <a:extLst xmlns:a="http://schemas.openxmlformats.org/drawingml/2006/main">
              <a:ext uri="{FF2B5EF4-FFF2-40B4-BE49-F238E27FC236}">
                <a16:creationId xmlns:a16="http://schemas.microsoft.com/office/drawing/2014/main" id="{26F236A6-A534-4231-9DA6-EA7560E145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72050" y="7448550"/>
            <a:ext cx="184785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893" b="0">
                <a:solidFill>
                  <a:srgbClr val="070707"/>
                </a:solidFill>
              </a:defRPr>
            </a:pPr>
            <a:r>
              <a:rPr sz="893" b="0">
                <a:solidFill>
                  <a:srgbClr val="070707"/>
                </a:solidFill>
              </a:rPr>
              <a:t>Train the company’s own Agent Bosses</a:t>
            </a:r>
          </a:p>
        </p:txBody>
      </p:sp>
      <p:sp>
        <p:nvSpPr>
          <p:cNvPr id="55" name="">
            <a:extLst xmlns:a="http://schemas.openxmlformats.org/drawingml/2006/main">
              <a:ext uri="{FF2B5EF4-FFF2-40B4-BE49-F238E27FC236}">
                <a16:creationId xmlns:a16="http://schemas.microsoft.com/office/drawing/2014/main" id="{7E59E06B-B7C7-43C3-9A53-47DAAFE051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43450" y="8858250"/>
            <a:ext cx="2076450" cy="428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FA9A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6" name="">
            <a:extLst xmlns:a="http://schemas.openxmlformats.org/drawingml/2006/main">
              <a:ext uri="{FF2B5EF4-FFF2-40B4-BE49-F238E27FC236}">
                <a16:creationId xmlns:a16="http://schemas.microsoft.com/office/drawing/2014/main" id="{B3A7CEBC-95C3-48F0-B8CB-AFA364CF1B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43450" y="9067800"/>
            <a:ext cx="207645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818" b="0">
                <a:solidFill>
                  <a:srgbClr val="070707"/>
                </a:solidFill>
              </a:defRPr>
            </a:pPr>
            <a:r>
              <a:rPr sz="818" b="0">
                <a:solidFill>
                  <a:srgbClr val="070707"/>
                </a:solidFill>
              </a:rPr>
              <a:t>Best when leadership wants one coordinated program.</a:t>
            </a:r>
          </a:p>
        </p:txBody>
      </p:sp>
      <p:sp>
        <p:nvSpPr>
          <p:cNvPr id="57" name="">
            <a:extLst xmlns:a="http://schemas.openxmlformats.org/drawingml/2006/main">
              <a:ext uri="{FF2B5EF4-FFF2-40B4-BE49-F238E27FC236}">
                <a16:creationId xmlns:a16="http://schemas.microsoft.com/office/drawing/2014/main" id="{15864354-200E-498C-AE8B-985DB2E9DD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0287000"/>
            <a:ext cx="38100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660" b="0">
                <a:solidFill>
                  <a:srgbClr val="656563"/>
                </a:solidFill>
              </a:defRPr>
            </a:pPr>
            <a:r>
              <a:rPr sz="660" b="0">
                <a:solidFill>
                  <a:srgbClr val="656563"/>
                </a:solidFill>
              </a:rPr>
              <a:t>6</a:t>
            </a:r>
          </a:p>
        </p:txBody>
      </p:sp>
      <p:sp>
        <p:nvSpPr>
          <p:cNvPr id="58" name="">
            <a:extLst xmlns:a="http://schemas.openxmlformats.org/drawingml/2006/main">
              <a:ext uri="{FF2B5EF4-FFF2-40B4-BE49-F238E27FC236}">
                <a16:creationId xmlns:a16="http://schemas.microsoft.com/office/drawing/2014/main" id="{F4483A95-6817-4467-8E1F-49524A56C9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48250" y="10287000"/>
            <a:ext cx="200025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buNone/>
              <a:defRPr sz="660" b="0">
                <a:solidFill>
                  <a:srgbClr val="656563"/>
                </a:solidFill>
              </a:defRPr>
            </a:pPr>
            <a:r>
              <a:rPr sz="660" b="0">
                <a:solidFill>
                  <a:srgbClr val="656563"/>
                </a:solidFill>
              </a:rPr>
              <a:t>FDE enterprise AI upgrade</a:t>
            </a:r>
          </a:p>
        </p:txBody>
      </p:sp>
      <p:pic>
        <p:nvPicPr>
          <p:cNvPr id="119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33cd4799b4840a9"/>
          <a:stretch xmlns:a="http://schemas.openxmlformats.org/drawingml/2006/main"/>
        </p:blipFill>
        <p:spPr>
          <a:xfrm xmlns:a="http://schemas.openxmlformats.org/drawingml/2006/main">
            <a:off x="4810125" y="10258425"/>
            <a:ext cx="171450" cy="17145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54819663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D0035BA1-03E2-4CBE-8BD4-ED9637D9C8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552450"/>
            <a:ext cx="6534150" cy="1333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2850" b="0">
                <a:solidFill>
                  <a:srgbClr val="070707"/>
                </a:solidFill>
              </a:defRPr>
            </a:pPr>
            <a:r>
              <a:rPr sz="2850" b="0">
                <a:solidFill>
                  <a:srgbClr val="070707"/>
                </a:solidFill>
              </a:rPr>
              <a:t>Assess first.</a:t>
            </a:r>
          </a:p>
          <a:p xmlns:a="http://schemas.openxmlformats.org/drawingml/2006/main">
            <a:pPr algn="l">
              <a:buNone/>
              <a:defRPr sz="2850" b="0">
                <a:solidFill>
                  <a:srgbClr val="070707"/>
                </a:solidFill>
              </a:defRPr>
            </a:pPr>
            <a:r>
              <a:rPr sz="2850" b="0">
                <a:solidFill>
                  <a:srgbClr val="070707"/>
                </a:solidFill>
              </a:rPr>
              <a:t>Build only if it is worth building.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1E1EC75-0837-4973-A33B-3CA043DE6D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409825"/>
            <a:ext cx="2857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788" b="0">
                <a:solidFill>
                  <a:srgbClr val="070707"/>
                </a:solidFill>
              </a:defRPr>
            </a:pPr>
            <a:r>
              <a:rPr sz="788" b="0">
                <a:solidFill>
                  <a:srgbClr val="070707"/>
                </a:solidFill>
              </a:rPr>
              <a:t>1.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F754C5F-92F0-455C-A734-B03733A897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" y="2400300"/>
            <a:ext cx="6086475" cy="1381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028" b="0">
                <a:solidFill>
                  <a:srgbClr val="070707"/>
                </a:solidFill>
              </a:defRPr>
            </a:pPr>
            <a:r>
              <a:rPr sz="1028" b="0">
                <a:solidFill>
                  <a:srgbClr val="070707"/>
                </a:solidFill>
              </a:rPr>
              <a:t>Clarify why the company wants AI: save time, reduce errors, increase revenue, or change how the company works.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53F8960-C551-4C4B-AC5D-70B0B7973A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" y="3800475"/>
            <a:ext cx="6086475" cy="428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8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4AE0803-2FCB-4231-BADC-0BC6FA11AE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867150"/>
            <a:ext cx="2857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788" b="0">
                <a:solidFill>
                  <a:srgbClr val="070707"/>
                </a:solidFill>
              </a:defRPr>
            </a:pPr>
            <a:r>
              <a:rPr sz="788" b="0">
                <a:solidFill>
                  <a:srgbClr val="070707"/>
                </a:solidFill>
              </a:rPr>
              <a:t>2.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8E00FA1-1CA9-4C71-A8EC-F0E47019DE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" y="3857625"/>
            <a:ext cx="6086475" cy="1381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028" b="0">
                <a:solidFill>
                  <a:srgbClr val="070707"/>
                </a:solidFill>
              </a:defRPr>
            </a:pPr>
            <a:r>
              <a:rPr sz="1028" b="0">
                <a:solidFill>
                  <a:srgbClr val="070707"/>
                </a:solidFill>
              </a:rPr>
              <a:t>Observe the spreadsheets, files, messages, and business systems employees really use—including exceptions outside the official process.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9625F96-EE8A-4FD1-9557-034977E777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" y="5257800"/>
            <a:ext cx="6086475" cy="428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8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B743597-7EAD-452A-8C7A-8D054CDC23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5324475"/>
            <a:ext cx="2857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788" b="0">
                <a:solidFill>
                  <a:srgbClr val="070707"/>
                </a:solidFill>
              </a:defRPr>
            </a:pPr>
            <a:r>
              <a:rPr sz="788" b="0">
                <a:solidFill>
                  <a:srgbClr val="070707"/>
                </a:solidFill>
              </a:rPr>
              <a:t>3.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FE7FDD7-900D-4201-A972-6D22516C58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" y="5314950"/>
            <a:ext cx="6086475" cy="1381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028" b="0">
                <a:solidFill>
                  <a:srgbClr val="070707"/>
                </a:solidFill>
              </a:defRPr>
            </a:pPr>
            <a:r>
              <a:rPr sz="1028" b="0">
                <a:solidFill>
                  <a:srgbClr val="070707"/>
                </a:solidFill>
              </a:rPr>
              <a:t>Rank opportunities by value, difficulty, data readiness, risk, and time to validation. Not every problem needs AI.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063C021-F2C7-40FA-9BF6-7017B4F118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" y="6715125"/>
            <a:ext cx="6086475" cy="428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8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C24A63F-F9C0-44C8-A9CD-31B03B0C22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781800"/>
            <a:ext cx="2857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788" b="0">
                <a:solidFill>
                  <a:srgbClr val="070707"/>
                </a:solidFill>
              </a:defRPr>
            </a:pPr>
            <a:r>
              <a:rPr sz="788" b="0">
                <a:solidFill>
                  <a:srgbClr val="070707"/>
                </a:solidFill>
              </a:rPr>
              <a:t>4.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0957F8C-6FC9-4B19-B332-6D4382C115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" y="6772275"/>
            <a:ext cx="6086475" cy="1381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028" b="0">
                <a:solidFill>
                  <a:srgbClr val="070707"/>
                </a:solidFill>
              </a:defRPr>
            </a:pPr>
            <a:r>
              <a:rPr sz="1028" b="0">
                <a:solidFill>
                  <a:srgbClr val="070707"/>
                </a:solidFill>
              </a:rPr>
              <a:t>Choose one job. Agree on the owner, data, scope, and result metric before building a usable version.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3BE5AD8-B29B-4945-B6AB-0D83ED7721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" y="8172450"/>
            <a:ext cx="6086475" cy="428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8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5ED2E70-567D-4B5B-A258-DF6D23F226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8239125"/>
            <a:ext cx="2857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788" b="0">
                <a:solidFill>
                  <a:srgbClr val="070707"/>
                </a:solidFill>
              </a:defRPr>
            </a:pPr>
            <a:r>
              <a:rPr sz="788" b="0">
                <a:solidFill>
                  <a:srgbClr val="070707"/>
                </a:solidFill>
              </a:rPr>
              <a:t>5.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836904B-DC13-4CCE-9078-56416226F6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" y="8229600"/>
            <a:ext cx="6086475" cy="1381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028" b="0">
                <a:solidFill>
                  <a:srgbClr val="070707"/>
                </a:solidFill>
              </a:defRPr>
            </a:pPr>
            <a:r>
              <a:rPr sz="1028" b="0">
                <a:solidFill>
                  <a:srgbClr val="070707"/>
                </a:solidFill>
              </a:rPr>
              <a:t>After real users have tried it, decide whether to improve it, expand it, or stop.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9FF07762-6886-4E30-8CB6-A27D77E7B0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0287000"/>
            <a:ext cx="38100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660" b="0">
                <a:solidFill>
                  <a:srgbClr val="656563"/>
                </a:solidFill>
              </a:defRPr>
            </a:pPr>
            <a:r>
              <a:rPr sz="660" b="0">
                <a:solidFill>
                  <a:srgbClr val="656563"/>
                </a:solidFill>
              </a:rPr>
              <a:t>7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1F37251D-74F9-4FF0-9ADF-49B5EA4692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48250" y="10287000"/>
            <a:ext cx="200025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buNone/>
              <a:defRPr sz="660" b="0">
                <a:solidFill>
                  <a:srgbClr val="656563"/>
                </a:solidFill>
              </a:defRPr>
            </a:pPr>
            <a:r>
              <a:rPr sz="660" b="0">
                <a:solidFill>
                  <a:srgbClr val="656563"/>
                </a:solidFill>
              </a:rPr>
              <a:t>FDE enterprise AI upgrade</a:t>
            </a:r>
          </a:p>
        </p:txBody>
      </p:sp>
      <p:pic>
        <p:nvPicPr>
          <p:cNvPr id="37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01d5034edb24852"/>
          <a:stretch xmlns:a="http://schemas.openxmlformats.org/drawingml/2006/main"/>
        </p:blipFill>
        <p:spPr>
          <a:xfrm xmlns:a="http://schemas.openxmlformats.org/drawingml/2006/main">
            <a:off x="4810125" y="10258425"/>
            <a:ext cx="171450" cy="17145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1976845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5A1E096B-CCE6-4E52-817F-CE03A3BF33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523875"/>
            <a:ext cx="6534150" cy="1200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2850" b="0">
                <a:solidFill>
                  <a:srgbClr val="070707"/>
                </a:solidFill>
              </a:defRPr>
            </a:pPr>
            <a:r>
              <a:rPr sz="2850" b="0">
                <a:solidFill>
                  <a:srgbClr val="070707"/>
                </a:solidFill>
              </a:rPr>
              <a:t>Not a demo.</a:t>
            </a:r>
          </a:p>
          <a:p xmlns:a="http://schemas.openxmlformats.org/drawingml/2006/main">
            <a:pPr algn="l">
              <a:buNone/>
              <a:defRPr sz="2850" b="0">
                <a:solidFill>
                  <a:srgbClr val="070707"/>
                </a:solidFill>
              </a:defRPr>
            </a:pPr>
            <a:r>
              <a:rPr sz="2850" b="0">
                <a:solidFill>
                  <a:srgbClr val="070707"/>
                </a:solidFill>
              </a:rPr>
              <a:t>A working test with evidence.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CB3AFE8-6C43-4C08-AD20-77F4257133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866900"/>
            <a:ext cx="65341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013" b="0">
                <a:solidFill>
                  <a:srgbClr val="070707"/>
                </a:solidFill>
              </a:defRPr>
            </a:pPr>
            <a:r>
              <a:rPr sz="1013" b="0">
                <a:solidFill>
                  <a:srgbClr val="070707"/>
                </a:solidFill>
              </a:rPr>
              <a:t>Depending on the agreed scope, a pilot may include: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290CD50-39F0-4FE0-AE6F-0A1B9DA0C7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768441"/>
            <a:ext cx="104775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70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E9E1A3C-EBF1-4617-A491-EF673AB546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533650"/>
            <a:ext cx="3000375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968" b="1">
                <a:solidFill>
                  <a:srgbClr val="070707"/>
                </a:solidFill>
              </a:defRPr>
            </a:pPr>
            <a:r>
              <a:rPr sz="968" b="1">
                <a:solidFill>
                  <a:srgbClr val="070707"/>
                </a:solidFill>
              </a:rPr>
              <a:t>A map of the current workflow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8E14DAB-5011-47B7-9BFD-E1F62B7ED6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190875"/>
            <a:ext cx="3000375" cy="428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8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C05E8C3-2E8A-4A7F-98F9-941683696C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3825" y="2768441"/>
            <a:ext cx="104775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70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853FE26-12A1-44FC-8B69-40760C04FF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62425" y="2533650"/>
            <a:ext cx="3000375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968" b="1">
                <a:solidFill>
                  <a:srgbClr val="070707"/>
                </a:solidFill>
              </a:defRPr>
            </a:pPr>
            <a:r>
              <a:rPr sz="968" b="1">
                <a:solidFill>
                  <a:srgbClr val="070707"/>
                </a:solidFill>
              </a:rPr>
              <a:t>The problem and pilot boundary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49ED051-59A9-4FA8-8854-F7530D8778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62425" y="3190875"/>
            <a:ext cx="3000375" cy="428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8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25DD4CE-B94E-43CA-A286-BB58F08B8C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749516"/>
            <a:ext cx="104775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70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335147B-7A7C-46A1-B370-FA97E335B1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514725"/>
            <a:ext cx="3000375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968" b="1">
                <a:solidFill>
                  <a:srgbClr val="070707"/>
                </a:solidFill>
              </a:defRPr>
            </a:pPr>
            <a:r>
              <a:rPr sz="968" b="1">
                <a:solidFill>
                  <a:srgbClr val="070707"/>
                </a:solidFill>
              </a:rPr>
              <a:t>A working prototype or system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9530F88-E76E-4742-9978-989FC75619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171950"/>
            <a:ext cx="3000375" cy="428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8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B8197F8-5959-46B9-AB43-42F890649F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3825" y="3749516"/>
            <a:ext cx="104775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70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857A2EE-5397-47B9-9F97-0A6184535A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62425" y="3514725"/>
            <a:ext cx="3000375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968" b="1">
                <a:solidFill>
                  <a:srgbClr val="070707"/>
                </a:solidFill>
              </a:defRPr>
            </a:pPr>
            <a:r>
              <a:rPr sz="968" b="1">
                <a:solidFill>
                  <a:srgbClr val="070707"/>
                </a:solidFill>
              </a:rPr>
              <a:t>The data and permissions used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278F896-A7D4-41E5-A95E-A72359FDF1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62425" y="4171950"/>
            <a:ext cx="3000375" cy="428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8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55C38557-0B4C-4798-9604-91E2C74B5D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4730591"/>
            <a:ext cx="104775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70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E9AF8EA5-2236-4D80-A5E7-FF942D2091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495800"/>
            <a:ext cx="3000375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968" b="1">
                <a:solidFill>
                  <a:srgbClr val="070707"/>
                </a:solidFill>
              </a:defRPr>
            </a:pPr>
            <a:r>
              <a:rPr sz="968" b="1">
                <a:solidFill>
                  <a:srgbClr val="070707"/>
                </a:solidFill>
              </a:rPr>
              <a:t>Responsibilities for people and agents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AE0F527E-6498-4E4D-96A7-404926B642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5153025"/>
            <a:ext cx="3000375" cy="428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8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45AD0512-8FA0-4516-8157-B3EEE785D5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3825" y="4730591"/>
            <a:ext cx="104775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70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D70EC57E-F4AD-48BF-9796-2D83760E5A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62425" y="4495800"/>
            <a:ext cx="3000375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968" b="1">
                <a:solidFill>
                  <a:srgbClr val="070707"/>
                </a:solidFill>
              </a:defRPr>
            </a:pPr>
            <a:r>
              <a:rPr sz="968" b="1">
                <a:solidFill>
                  <a:srgbClr val="070707"/>
                </a:solidFill>
              </a:rPr>
              <a:t>Human approval points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53B12CDA-03CA-4A6E-902E-9611C0729A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62425" y="5153025"/>
            <a:ext cx="3000375" cy="428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8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76B14732-5C68-4676-AFE9-4FE463DAD0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5711666"/>
            <a:ext cx="104775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70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071E00AD-5DCE-411A-8071-5676CF0725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5476875"/>
            <a:ext cx="3000375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968" b="1">
                <a:solidFill>
                  <a:srgbClr val="070707"/>
                </a:solidFill>
              </a:defRPr>
            </a:pPr>
            <a:r>
              <a:rPr sz="968" b="1">
                <a:solidFill>
                  <a:srgbClr val="070707"/>
                </a:solidFill>
              </a:rPr>
              <a:t>A before-and-after comparison method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DC0779C2-A610-4DF9-81AB-1426CAFE0F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6134100"/>
            <a:ext cx="3000375" cy="428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8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C1B9891C-8494-4079-940F-743051BBEB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3825" y="5711666"/>
            <a:ext cx="104775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70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DB599995-4E2D-4667-B479-0307F2EF5B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62425" y="5476875"/>
            <a:ext cx="3000375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968" b="1">
                <a:solidFill>
                  <a:srgbClr val="070707"/>
                </a:solidFill>
              </a:defRPr>
            </a:pPr>
            <a:r>
              <a:rPr sz="968" b="1">
                <a:solidFill>
                  <a:srgbClr val="070707"/>
                </a:solidFill>
              </a:rPr>
              <a:t>A recommendation to continue, adjust, or stop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C474E775-7D63-4829-A8DE-291D9C02B3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62425" y="6134100"/>
            <a:ext cx="3000375" cy="428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8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FAA8A02A-2FC2-4375-90EB-C35721B9F8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905625"/>
            <a:ext cx="6534150" cy="2476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E3C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8C72708A-0CB0-4EC3-9370-9BDD1742CD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7219950"/>
            <a:ext cx="4000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885" b="1">
                <a:solidFill>
                  <a:srgbClr val="070707"/>
                </a:solidFill>
              </a:defRPr>
            </a:pPr>
            <a:r>
              <a:rPr sz="885" b="1">
                <a:solidFill>
                  <a:srgbClr val="070707"/>
                </a:solidFill>
              </a:rPr>
              <a:t>BEFORE WORK BEGINS, WE AGREE ON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212F23F8-DE13-473C-B4B5-0548F0171C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8026241"/>
            <a:ext cx="104775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70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62C13122-C398-41BC-93B5-6542AB0407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7829550"/>
            <a:ext cx="2667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960" b="1">
                <a:solidFill>
                  <a:srgbClr val="070707"/>
                </a:solidFill>
              </a:defRPr>
            </a:pPr>
            <a:r>
              <a:rPr sz="960" b="1">
                <a:solidFill>
                  <a:srgbClr val="070707"/>
                </a:solidFill>
              </a:rPr>
              <a:t>Who owns the outcome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B9B2E7B9-AD84-4430-B0B0-982B7465E4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52875" y="8026241"/>
            <a:ext cx="104775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70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B46D5851-0D0F-47A6-A2D8-619DE544AA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0" y="7829550"/>
            <a:ext cx="2667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960" b="1">
                <a:solidFill>
                  <a:srgbClr val="070707"/>
                </a:solidFill>
              </a:defRPr>
            </a:pPr>
            <a:r>
              <a:rPr sz="960" b="1">
                <a:solidFill>
                  <a:srgbClr val="070707"/>
                </a:solidFill>
              </a:rPr>
              <a:t>What completion means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9119F8BD-CAEF-49E4-82B2-5834E0A701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8750141"/>
            <a:ext cx="104775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70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96F384F4-3386-49A4-89E1-02312581EC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8553450"/>
            <a:ext cx="2667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960" b="1">
                <a:solidFill>
                  <a:srgbClr val="070707"/>
                </a:solidFill>
              </a:defRPr>
            </a:pPr>
            <a:r>
              <a:rPr sz="960" b="1">
                <a:solidFill>
                  <a:srgbClr val="070707"/>
                </a:solidFill>
              </a:rPr>
              <a:t>What is outside this pilot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6AA6F454-3CA8-4B29-A8AA-1DA59C623A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52875" y="8750141"/>
            <a:ext cx="104775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70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C6D281AF-DF6F-4280-922D-5AF298C5B1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0" y="8553450"/>
            <a:ext cx="2667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960" b="1">
                <a:solidFill>
                  <a:srgbClr val="070707"/>
                </a:solidFill>
              </a:defRPr>
            </a:pPr>
            <a:r>
              <a:rPr sz="960" b="1">
                <a:solidFill>
                  <a:srgbClr val="070707"/>
                </a:solidFill>
              </a:rPr>
              <a:t>How the result will be judged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167978A2-24BC-4265-9FA5-38DEA7B24D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0287000"/>
            <a:ext cx="38100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660" b="0">
                <a:solidFill>
                  <a:srgbClr val="656563"/>
                </a:solidFill>
              </a:defRPr>
            </a:pPr>
            <a:r>
              <a:rPr sz="660" b="0">
                <a:solidFill>
                  <a:srgbClr val="656563"/>
                </a:solidFill>
              </a:rPr>
              <a:t>8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860F6C5F-28CE-4A61-BCBF-07D12BCB25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48250" y="10287000"/>
            <a:ext cx="200025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buNone/>
              <a:defRPr sz="660" b="0">
                <a:solidFill>
                  <a:srgbClr val="656563"/>
                </a:solidFill>
              </a:defRPr>
            </a:pPr>
            <a:r>
              <a:rPr sz="660" b="0">
                <a:solidFill>
                  <a:srgbClr val="656563"/>
                </a:solidFill>
              </a:rPr>
              <a:t>FDE enterprise AI upgrade</a:t>
            </a:r>
          </a:p>
        </p:txBody>
      </p:sp>
      <p:pic>
        <p:nvPicPr>
          <p:cNvPr id="79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9ef43ce3ee14e3d"/>
          <a:stretch xmlns:a="http://schemas.openxmlformats.org/drawingml/2006/main"/>
        </p:blipFill>
        <p:spPr>
          <a:xfrm xmlns:a="http://schemas.openxmlformats.org/drawingml/2006/main">
            <a:off x="4810125" y="10258425"/>
            <a:ext cx="171450" cy="17145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87225861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E2784A2C-EE57-417F-967C-0C8A2F716A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457200"/>
            <a:ext cx="6534150" cy="1123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2400" b="0">
                <a:solidFill>
                  <a:srgbClr val="070707"/>
                </a:solidFill>
              </a:defRPr>
            </a:pPr>
            <a:r>
              <a:rPr sz="2400" b="0">
                <a:solidFill>
                  <a:srgbClr val="070707"/>
                </a:solidFill>
              </a:rPr>
              <a:t>Show what changed in the business,</a:t>
            </a:r>
          </a:p>
          <a:p xmlns:a="http://schemas.openxmlformats.org/drawingml/2006/main">
            <a:pPr algn="l">
              <a:buNone/>
              <a:defRPr sz="2400" b="0">
                <a:solidFill>
                  <a:srgbClr val="070707"/>
                </a:solidFill>
              </a:defRPr>
            </a:pPr>
            <a:r>
              <a:rPr sz="2400" b="0">
                <a:solidFill>
                  <a:srgbClr val="070707"/>
                </a:solidFill>
              </a:rPr>
              <a:t>not only what the system looks like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634FD60-A06D-47E6-B675-C75291423E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695450"/>
            <a:ext cx="653415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E3C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34BA76E-ABC9-4EE2-8012-4AD533E19E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857375"/>
            <a:ext cx="62293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832" b="1">
                <a:solidFill>
                  <a:srgbClr val="070707"/>
                </a:solidFill>
              </a:defRPr>
            </a:pPr>
            <a:r>
              <a:rPr sz="832" b="1">
                <a:solidFill>
                  <a:srgbClr val="070707"/>
                </a:solidFill>
              </a:rPr>
              <a:t>Case details are pending customer confirmation. No company name, logo, or performance figure will be used without permission and evidence.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755FABF-8ED0-443E-9FBC-58A2132709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628900"/>
            <a:ext cx="65341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885" b="1">
                <a:solidFill>
                  <a:srgbClr val="070707"/>
                </a:solidFill>
              </a:defRPr>
            </a:pPr>
            <a:r>
              <a:rPr sz="885" b="1">
                <a:solidFill>
                  <a:srgbClr val="070707"/>
                </a:solidFill>
              </a:rPr>
              <a:t>COMPANIES WE HAVE SERVED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9A4C355-CD7C-4E5C-AB67-A86005A803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990850"/>
            <a:ext cx="146685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F5F2"/>
          </a:solidFill>
          <a:ln xmlns:a="http://schemas.openxmlformats.org/drawingml/2006/main" w="4286">
            <a:solidFill>
              <a:srgbClr val="D8D8D3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530B5D1-A571-4D48-9C80-78C8B3DD3C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181350"/>
            <a:ext cx="14668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buNone/>
              <a:defRPr sz="713" b="0">
                <a:solidFill>
                  <a:srgbClr val="656563"/>
                </a:solidFill>
              </a:defRPr>
            </a:pPr>
            <a:r>
              <a:rPr sz="713" b="0">
                <a:solidFill>
                  <a:srgbClr val="656563"/>
                </a:solidFill>
              </a:rPr>
              <a:t>[Client logo 1]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FAA089D-F3B3-4E20-BC7C-97C737B773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00275" y="2990850"/>
            <a:ext cx="146685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F5F2"/>
          </a:solidFill>
          <a:ln xmlns:a="http://schemas.openxmlformats.org/drawingml/2006/main" w="4286">
            <a:solidFill>
              <a:srgbClr val="D8D8D3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B197AEF-44BE-4A47-A0DE-EC6DFA60DD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00275" y="3181350"/>
            <a:ext cx="14668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buNone/>
              <a:defRPr sz="713" b="0">
                <a:solidFill>
                  <a:srgbClr val="656563"/>
                </a:solidFill>
              </a:defRPr>
            </a:pPr>
            <a:r>
              <a:rPr sz="713" b="0">
                <a:solidFill>
                  <a:srgbClr val="656563"/>
                </a:solidFill>
              </a:rPr>
              <a:t>[Client logo 2]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9C601FE-59C3-4D61-8E46-300EA36BAC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86200" y="2990850"/>
            <a:ext cx="146685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F5F2"/>
          </a:solidFill>
          <a:ln xmlns:a="http://schemas.openxmlformats.org/drawingml/2006/main" w="4286">
            <a:solidFill>
              <a:srgbClr val="D8D8D3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ED7320C-DA0A-41DB-A752-E8C9B41982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86200" y="3181350"/>
            <a:ext cx="14668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buNone/>
              <a:defRPr sz="713" b="0">
                <a:solidFill>
                  <a:srgbClr val="656563"/>
                </a:solidFill>
              </a:defRPr>
            </a:pPr>
            <a:r>
              <a:rPr sz="713" b="0">
                <a:solidFill>
                  <a:srgbClr val="656563"/>
                </a:solidFill>
              </a:rPr>
              <a:t>[Client logo 3]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0073293-5EE9-4A73-90C5-09C70ABE2C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72125" y="2990850"/>
            <a:ext cx="146685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F5F2"/>
          </a:solidFill>
          <a:ln xmlns:a="http://schemas.openxmlformats.org/drawingml/2006/main" w="4286">
            <a:solidFill>
              <a:srgbClr val="D8D8D3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8C071BF-9877-45C0-A445-F8A9F6B34D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72125" y="3181350"/>
            <a:ext cx="14668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buNone/>
              <a:defRPr sz="713" b="0">
                <a:solidFill>
                  <a:srgbClr val="656563"/>
                </a:solidFill>
              </a:defRPr>
            </a:pPr>
            <a:r>
              <a:rPr sz="713" b="0">
                <a:solidFill>
                  <a:srgbClr val="656563"/>
                </a:solidFill>
              </a:rPr>
              <a:t>[Client logo 4]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4FE349E-6D2C-487B-92BB-8CC2AFBF61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781425"/>
            <a:ext cx="18097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825" b="1">
                <a:solidFill>
                  <a:srgbClr val="070707"/>
                </a:solidFill>
              </a:defRPr>
            </a:pPr>
            <a:r>
              <a:rPr sz="825" b="1">
                <a:solidFill>
                  <a:srgbClr val="070707"/>
                </a:solidFill>
              </a:rPr>
              <a:t>One line under each logo: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2E8169D-0A45-4368-A620-D8D7ED68CF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81250" y="3781425"/>
            <a:ext cx="4667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810" b="0">
                <a:solidFill>
                  <a:srgbClr val="070707"/>
                </a:solidFill>
              </a:defRPr>
            </a:pPr>
            <a:r>
              <a:rPr sz="810" b="0">
                <a:solidFill>
                  <a:srgbClr val="070707"/>
                </a:solidFill>
              </a:rPr>
              <a:t>[Company or industry] | We helped the team [one-sentence description of the actual service].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497E28B-BBE4-4275-AACE-064D4D01BB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4257675"/>
            <a:ext cx="653415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810" b="0">
                <a:solidFill>
                  <a:srgbClr val="656563"/>
                </a:solidFill>
              </a:defRPr>
            </a:pPr>
            <a:r>
              <a:rPr sz="810" b="0">
                <a:solidFill>
                  <a:srgbClr val="656563"/>
                </a:solidFill>
              </a:rPr>
              <a:t>Include a logo only when the service was actually delivered, the client has approved public use of its name and logo, and the work can be verified. A sales conversation, proposal, or public vendor case study is not a client engagement.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1D553105-0040-43AF-A035-2A8F007DB6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5048250"/>
            <a:ext cx="65341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885" b="1">
                <a:solidFill>
                  <a:srgbClr val="070707"/>
                </a:solidFill>
              </a:defRPr>
            </a:pPr>
            <a:r>
              <a:rPr sz="885" b="1">
                <a:solidFill>
                  <a:srgbClr val="070707"/>
                </a:solidFill>
              </a:rPr>
              <a:t>CASE STUDY 1 | [Factory type / business function]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BE9BB987-EA99-438F-8A78-8E262F7BA1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5448300"/>
            <a:ext cx="30670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885" b="1">
                <a:solidFill>
                  <a:srgbClr val="070707"/>
                </a:solidFill>
              </a:defRPr>
            </a:pPr>
            <a:r>
              <a:rPr sz="885" b="1">
                <a:solidFill>
                  <a:srgbClr val="070707"/>
                </a:solidFill>
              </a:rPr>
              <a:t>Before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37673BDB-4B47-4C1A-8333-F0FA784BDF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5791200"/>
            <a:ext cx="3067050" cy="971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825" b="0">
                <a:solidFill>
                  <a:srgbClr val="070707"/>
                </a:solidFill>
              </a:defRPr>
            </a:pPr>
            <a:r>
              <a:rPr sz="825" b="0">
                <a:solidFill>
                  <a:srgbClr val="070707"/>
                </a:solidFill>
              </a:rPr>
              <a:t>[Role] used [chat / spreadsheets / PDFs / ERP / email] to complete [specific task]. It happened [frequency], required [people or time], and often caused [specific issue].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192FB366-0999-471F-906A-833A43893C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7010400"/>
            <a:ext cx="30670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885" b="1">
                <a:solidFill>
                  <a:srgbClr val="070707"/>
                </a:solidFill>
              </a:defRPr>
            </a:pPr>
            <a:r>
              <a:rPr sz="885" b="1">
                <a:solidFill>
                  <a:srgbClr val="070707"/>
                </a:solidFill>
              </a:rPr>
              <a:t>What we found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2006B2C2-BD39-40C5-A46B-78141564B4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7353300"/>
            <a:ext cx="306705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825" b="0">
                <a:solidFill>
                  <a:srgbClr val="070707"/>
                </a:solidFill>
              </a:defRPr>
            </a:pPr>
            <a:r>
              <a:rPr sz="825" b="0">
                <a:solidFill>
                  <a:srgbClr val="070707"/>
                </a:solidFill>
              </a:rPr>
              <a:t>The initial request was [customer’s original request]. After observing the workflow, the problem affecting the business was [confirmed problem].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910963C9-B007-499A-A1C8-B5CD61A4F1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81450" y="5448300"/>
            <a:ext cx="30670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885" b="1">
                <a:solidFill>
                  <a:srgbClr val="070707"/>
                </a:solidFill>
              </a:defRPr>
            </a:pPr>
            <a:r>
              <a:rPr sz="885" b="1">
                <a:solidFill>
                  <a:srgbClr val="070707"/>
                </a:solidFill>
              </a:rPr>
              <a:t>What we delivered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D1F7E032-AAF3-43B1-BBF8-588BF0B2E3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81450" y="5791200"/>
            <a:ext cx="306705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825" b="0">
                <a:solidFill>
                  <a:srgbClr val="070707"/>
                </a:solidFill>
              </a:defRPr>
            </a:pPr>
            <a:r>
              <a:rPr sz="825" b="0">
                <a:solidFill>
                  <a:srgbClr val="070707"/>
                </a:solidFill>
              </a:rPr>
              <a:t>[Skill / custom SaaS / automation / database / agent workflow], connected to [existing systems or data].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988AFAD8-8022-4CC7-BD4F-CE30E02C05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81450" y="6848475"/>
            <a:ext cx="30670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885" b="1">
                <a:solidFill>
                  <a:srgbClr val="070707"/>
                </a:solidFill>
              </a:defRPr>
            </a:pPr>
            <a:r>
              <a:rPr sz="885" b="1">
                <a:solidFill>
                  <a:srgbClr val="070707"/>
                </a:solidFill>
              </a:rPr>
              <a:t>What changed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5CA07331-7567-4FF1-A466-AE3B98C7E4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81450" y="7388066"/>
            <a:ext cx="76200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70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79941565-D516-4CB9-AC36-61AE0CB313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10050" y="7219950"/>
            <a:ext cx="28384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818" b="0">
                <a:solidFill>
                  <a:srgbClr val="070707"/>
                </a:solidFill>
              </a:defRPr>
            </a:pPr>
            <a:r>
              <a:rPr sz="818" b="0">
                <a:solidFill>
                  <a:srgbClr val="070707"/>
                </a:solidFill>
              </a:rPr>
              <a:t>Processing time: [before] → [after]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07C05985-261B-4B44-AD8A-3EE42C68D6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81450" y="7759541"/>
            <a:ext cx="76200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70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47136A48-11C6-468F-B35C-F08695F938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10050" y="7591425"/>
            <a:ext cx="28384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818" b="0">
                <a:solidFill>
                  <a:srgbClr val="070707"/>
                </a:solidFill>
              </a:defRPr>
            </a:pPr>
            <a:r>
              <a:rPr sz="818" b="0">
                <a:solidFill>
                  <a:srgbClr val="070707"/>
                </a:solidFill>
              </a:rPr>
              <a:t>Manual steps: [before] → [after]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8E6727AD-6AF4-4128-83B8-97C4BB9DC6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81450" y="8131016"/>
            <a:ext cx="76200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70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F861DFEB-BC9A-4965-895C-DD7BF8A443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10050" y="7962900"/>
            <a:ext cx="28384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818" b="0">
                <a:solidFill>
                  <a:srgbClr val="070707"/>
                </a:solidFill>
              </a:defRPr>
            </a:pPr>
            <a:r>
              <a:rPr sz="818" b="0">
                <a:solidFill>
                  <a:srgbClr val="070707"/>
                </a:solidFill>
              </a:rPr>
              <a:t>Errors or rework: [before] → [after]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726404CE-9495-4239-9390-55FBCCA5DC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81450" y="8502491"/>
            <a:ext cx="76200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70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B2353371-7BC8-4E13-A3D3-33E79E2E36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10050" y="8334375"/>
            <a:ext cx="28384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818" b="0">
                <a:solidFill>
                  <a:srgbClr val="070707"/>
                </a:solidFill>
              </a:defRPr>
            </a:pPr>
            <a:r>
              <a:rPr sz="818" b="0">
                <a:solidFill>
                  <a:srgbClr val="070707"/>
                </a:solidFill>
              </a:rPr>
              <a:t>Business result: [customer-confirmed result]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0CC88A77-C536-45D5-86DB-D41982AC66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8820150"/>
            <a:ext cx="6534150" cy="428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8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E5077B3A-65FE-4470-A5FC-D91F869698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9105900"/>
            <a:ext cx="2762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885" b="1">
                <a:solidFill>
                  <a:srgbClr val="070707"/>
                </a:solidFill>
              </a:defRPr>
            </a:pPr>
            <a:r>
              <a:rPr sz="885" b="1">
                <a:solidFill>
                  <a:srgbClr val="070707"/>
                </a:solidFill>
              </a:rPr>
              <a:t>CASE STUDY 2 | [Factory type / business function]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72E4BFB6-70A6-4D3A-817E-95719BF1EB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9086850"/>
            <a:ext cx="371475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818" b="0">
                <a:solidFill>
                  <a:srgbClr val="070707"/>
                </a:solidFill>
              </a:defRPr>
            </a:pPr>
            <a:r>
              <a:rPr sz="818" b="0">
                <a:solidFill>
                  <a:srgbClr val="070707"/>
                </a:solidFill>
              </a:rPr>
              <a:t>Use the same structure. A useful set would include one small tool, one end-to-end workflow, and one database or company-wide transformation.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1054CC22-BBE7-4C5E-B802-E885356C6C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0287000"/>
            <a:ext cx="38100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660" b="0">
                <a:solidFill>
                  <a:srgbClr val="656563"/>
                </a:solidFill>
              </a:defRPr>
            </a:pPr>
            <a:r>
              <a:rPr sz="660" b="0">
                <a:solidFill>
                  <a:srgbClr val="656563"/>
                </a:solidFill>
              </a:rPr>
              <a:t>9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A0AF4F7F-19E4-44F2-8095-AA66BCA61B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48250" y="10287000"/>
            <a:ext cx="200025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buNone/>
              <a:defRPr sz="660" b="0">
                <a:solidFill>
                  <a:srgbClr val="656563"/>
                </a:solidFill>
              </a:defRPr>
            </a:pPr>
            <a:r>
              <a:rPr sz="660" b="0">
                <a:solidFill>
                  <a:srgbClr val="656563"/>
                </a:solidFill>
              </a:rPr>
              <a:t>FDE enterprise AI upgrade</a:t>
            </a:r>
          </a:p>
        </p:txBody>
      </p:sp>
      <p:pic>
        <p:nvPicPr>
          <p:cNvPr id="75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24889601eee4445"/>
          <a:stretch xmlns:a="http://schemas.openxmlformats.org/drawingml/2006/main"/>
        </p:blipFill>
        <p:spPr>
          <a:xfrm xmlns:a="http://schemas.openxmlformats.org/drawingml/2006/main">
            <a:off x="4810125" y="10258425"/>
            <a:ext cx="171450" cy="17145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73150996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488C1B1F-3C23-4B6A-B4ED-7877BEB71D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523875"/>
            <a:ext cx="6534150" cy="1238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2700" b="0">
                <a:solidFill>
                  <a:srgbClr val="070707"/>
                </a:solidFill>
              </a:defRPr>
            </a:pPr>
            <a:r>
              <a:rPr sz="2700" b="0">
                <a:solidFill>
                  <a:srgbClr val="070707"/>
                </a:solidFill>
              </a:rPr>
              <a:t>A working agent still needs</a:t>
            </a:r>
          </a:p>
          <a:p xmlns:a="http://schemas.openxmlformats.org/drawingml/2006/main">
            <a:pPr algn="l">
              <a:buNone/>
              <a:defRPr sz="2700" b="0">
                <a:solidFill>
                  <a:srgbClr val="070707"/>
                </a:solidFill>
              </a:defRPr>
            </a:pPr>
            <a:r>
              <a:rPr sz="2700" b="0">
                <a:solidFill>
                  <a:srgbClr val="070707"/>
                </a:solidFill>
              </a:rPr>
              <a:t>someone who knows how to lead it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6AC3B93-F5C3-439F-8F72-57B97312EE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333625"/>
            <a:ext cx="2857500" cy="1333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028" b="0">
                <a:solidFill>
                  <a:srgbClr val="070707"/>
                </a:solidFill>
              </a:defRPr>
            </a:pPr>
            <a:r>
              <a:rPr sz="1028" b="0">
                <a:solidFill>
                  <a:srgbClr val="070707"/>
                </a:solidFill>
              </a:rPr>
              <a:t>FDE delivery builds the company’s AI upgrade.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buNone/>
              <a:defRPr sz="1028" b="0">
                <a:solidFill>
                  <a:srgbClr val="070707"/>
                </a:solidFill>
              </a:defRPr>
            </a:pPr>
            <a:r>
              <a:rPr sz="1028" b="0">
                <a:solidFill>
                  <a:srgbClr val="070707"/>
                </a:solidFill>
              </a:rPr>
              <a:t>After launch, managers and employees need to know how to: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9904EB3-884D-43DC-ABBE-BC3FB6F841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4476750"/>
            <a:ext cx="28575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238" b="1">
                <a:solidFill>
                  <a:srgbClr val="070707"/>
                </a:solidFill>
              </a:defRPr>
            </a:pPr>
            <a:r>
              <a:rPr sz="1238" b="1">
                <a:solidFill>
                  <a:srgbClr val="070707"/>
                </a:solidFill>
              </a:rPr>
              <a:t>We call this training Agent Boss.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5D43942-B6F4-4E68-85F3-1DA9ED8B1F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5429250"/>
            <a:ext cx="2857500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990" b="0">
                <a:solidFill>
                  <a:srgbClr val="070707"/>
                </a:solidFill>
              </a:defRPr>
            </a:pPr>
            <a:r>
              <a:rPr sz="990" b="0">
                <a:solidFill>
                  <a:srgbClr val="070707"/>
                </a:solidFill>
              </a:rPr>
              <a:t>It is not a prompt-writing class or a tour of AI tools. It teaches people how to lead work carried out by both humans and agents.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4DF1CB9-BC56-4DBB-A2A8-EF57F7A148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0" y="2716054"/>
            <a:ext cx="104775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70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0AE3363-3911-4A43-9C97-A4A7CD7144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29100" y="2333625"/>
            <a:ext cx="2819400" cy="771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885" b="0">
                <a:solidFill>
                  <a:srgbClr val="070707"/>
                </a:solidFill>
              </a:defRPr>
            </a:pPr>
            <a:r>
              <a:rPr sz="885" b="0">
                <a:solidFill>
                  <a:srgbClr val="070707"/>
                </a:solidFill>
              </a:rPr>
              <a:t>Give agents clear goals and completion criteria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CCEE6BC-2AA7-40FA-B1EB-2B52BE5F5B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29100" y="3086100"/>
            <a:ext cx="2819400" cy="428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8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92F9B22-832F-4E88-B300-DF154B6613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0" y="3516154"/>
            <a:ext cx="104775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70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751E1C9-36B7-4FEB-BDCB-E64DCA6CEB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29100" y="3133725"/>
            <a:ext cx="2819400" cy="771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885" b="0">
                <a:solidFill>
                  <a:srgbClr val="070707"/>
                </a:solidFill>
              </a:defRPr>
            </a:pPr>
            <a:r>
              <a:rPr sz="885" b="0">
                <a:solidFill>
                  <a:srgbClr val="070707"/>
                </a:solidFill>
              </a:rPr>
              <a:t>Decide which work can be delegated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591D651-F152-4F1A-AB0B-BD16A2FD6E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29100" y="3886200"/>
            <a:ext cx="2819400" cy="428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8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6CBDD7A-F856-47FD-B724-0015F51AAF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0" y="4316254"/>
            <a:ext cx="104775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70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7CCF648-8DD2-4EB6-B7D8-330A2150C7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29100" y="3933825"/>
            <a:ext cx="2819400" cy="771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885" b="0">
                <a:solidFill>
                  <a:srgbClr val="070707"/>
                </a:solidFill>
              </a:defRPr>
            </a:pPr>
            <a:r>
              <a:rPr sz="885" b="0">
                <a:solidFill>
                  <a:srgbClr val="070707"/>
                </a:solidFill>
              </a:rPr>
              <a:t>Review the process and the result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D113FE5-7A2A-447B-89F6-9EA1CBDC71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29100" y="4686300"/>
            <a:ext cx="2819400" cy="428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8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BC42396-B7E4-4B6C-876D-75B8A0D10E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0" y="5116354"/>
            <a:ext cx="104775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70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62F5153-C8FD-4811-91A9-A48815787C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29100" y="4733925"/>
            <a:ext cx="2819400" cy="771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885" b="0">
                <a:solidFill>
                  <a:srgbClr val="070707"/>
                </a:solidFill>
              </a:defRPr>
            </a:pPr>
            <a:r>
              <a:rPr sz="885" b="0">
                <a:solidFill>
                  <a:srgbClr val="070707"/>
                </a:solidFill>
              </a:rPr>
              <a:t>Handle exceptions, request changes, or stop a task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2F1AE992-548D-428A-A9E2-0CFDCF09A6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29100" y="5486400"/>
            <a:ext cx="2819400" cy="428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8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D7716C22-2CC6-4DDD-ABB4-944E79BE05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0" y="5916454"/>
            <a:ext cx="104775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70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9609DC8D-3D34-4F09-93BD-B4C96D4EFB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29100" y="5534025"/>
            <a:ext cx="2819400" cy="771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885" b="0">
                <a:solidFill>
                  <a:srgbClr val="070707"/>
                </a:solidFill>
              </a:defRPr>
            </a:pPr>
            <a:r>
              <a:rPr sz="885" b="0">
                <a:solidFill>
                  <a:srgbClr val="070707"/>
                </a:solidFill>
              </a:rPr>
              <a:t>Manage data, tools, and permissions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0EBE5F67-03B5-4C2B-9FA4-78E6BA27C8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29100" y="6286500"/>
            <a:ext cx="2819400" cy="428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8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F946598F-6C0A-4FA3-B5C3-6B501AF48F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0" y="6716554"/>
            <a:ext cx="104775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70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8E9DD25E-356D-4473-A558-CD6604A5FC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29100" y="6334125"/>
            <a:ext cx="2819400" cy="771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885" b="0">
                <a:solidFill>
                  <a:srgbClr val="070707"/>
                </a:solidFill>
              </a:defRPr>
            </a:pPr>
            <a:r>
              <a:rPr sz="885" b="0">
                <a:solidFill>
                  <a:srgbClr val="070707"/>
                </a:solidFill>
              </a:rPr>
              <a:t>Turn good practices into shared Skills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2B4CEAEC-3A58-4C97-846E-4EA34F347E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29100" y="7086600"/>
            <a:ext cx="2819400" cy="428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8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948E4060-D5EF-4220-9C76-85144FC413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0" y="7516654"/>
            <a:ext cx="104775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70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7ED98FB9-130F-4091-9972-B091900162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29100" y="7134225"/>
            <a:ext cx="2819400" cy="771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885" b="0">
                <a:solidFill>
                  <a:srgbClr val="070707"/>
                </a:solidFill>
              </a:defRPr>
            </a:pPr>
            <a:r>
              <a:rPr sz="885" b="0">
                <a:solidFill>
                  <a:srgbClr val="070707"/>
                </a:solidFill>
              </a:rPr>
              <a:t>Remain accountable for the business outcome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78B547FD-898E-4D94-B864-0A5A27FF66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8620125"/>
            <a:ext cx="6534150" cy="971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E3C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1473AF11-C5FA-46D2-B959-11DEFE00CC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" y="8963025"/>
            <a:ext cx="2619375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960" b="1">
                <a:solidFill>
                  <a:srgbClr val="070707"/>
                </a:solidFill>
              </a:defRPr>
            </a:pPr>
            <a:r>
              <a:rPr sz="960" b="1">
                <a:solidFill>
                  <a:srgbClr val="070707"/>
                </a:solidFill>
              </a:rPr>
              <a:t>FDE: build and launch the system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DF10632D-8A36-4E42-AD5E-E37B5C15A6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0" y="8963025"/>
            <a:ext cx="3143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863" b="1">
                <a:solidFill>
                  <a:srgbClr val="070707"/>
                </a:solidFill>
              </a:defRPr>
            </a:pPr>
            <a:r>
              <a:rPr sz="863" b="1">
                <a:solidFill>
                  <a:srgbClr val="070707"/>
                </a:solidFill>
              </a:rPr>
              <a:t>Agent Boss: help the team take ownership and keep improving it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1D41C5F4-ACB7-44D4-8343-0743CF34AB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0287000"/>
            <a:ext cx="38100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660" b="0">
                <a:solidFill>
                  <a:srgbClr val="656563"/>
                </a:solidFill>
              </a:defRPr>
            </a:pPr>
            <a:r>
              <a:rPr sz="660" b="0">
                <a:solidFill>
                  <a:srgbClr val="656563"/>
                </a:solidFill>
              </a:rPr>
              <a:t>10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D4909BF3-1A28-41AC-839E-A5932EBC0D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48250" y="10287000"/>
            <a:ext cx="200025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buNone/>
              <a:defRPr sz="660" b="0">
                <a:solidFill>
                  <a:srgbClr val="656563"/>
                </a:solidFill>
              </a:defRPr>
            </a:pPr>
            <a:r>
              <a:rPr sz="660" b="0">
                <a:solidFill>
                  <a:srgbClr val="656563"/>
                </a:solidFill>
              </a:rPr>
              <a:t>FDE enterprise AI upgrade</a:t>
            </a:r>
          </a:p>
        </p:txBody>
      </p:sp>
      <p:pic>
        <p:nvPicPr>
          <p:cNvPr id="61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5139aa361d242f3"/>
          <a:stretch xmlns:a="http://schemas.openxmlformats.org/drawingml/2006/main"/>
        </p:blipFill>
        <p:spPr>
          <a:xfrm xmlns:a="http://schemas.openxmlformats.org/drawingml/2006/main">
            <a:off x="4810125" y="10258425"/>
            <a:ext cx="171450" cy="17145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8536477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888E94CE-2573-4A28-9B66-4FB6DAC6C3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590550"/>
            <a:ext cx="653415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3150" b="0">
                <a:solidFill>
                  <a:srgbClr val="070707"/>
                </a:solidFill>
              </a:defRPr>
            </a:pPr>
            <a:r>
              <a:rPr sz="3150" b="0">
                <a:solidFill>
                  <a:srgbClr val="070707"/>
                </a:solidFill>
              </a:rPr>
              <a:t>Find the right first step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1C1D633-506D-4719-8CF0-DCE4BA6EF0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771650"/>
            <a:ext cx="65341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050" b="0">
                <a:solidFill>
                  <a:srgbClr val="070707"/>
                </a:solidFill>
              </a:defRPr>
            </a:pPr>
            <a:r>
              <a:rPr sz="1050" b="0">
                <a:solidFill>
                  <a:srgbClr val="070707"/>
                </a:solidFill>
              </a:rPr>
              <a:t>During the event, we are offering a complimentary enterprise AI assessment.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2A1401B-B41C-4E8B-9AED-C4C23172D4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667000"/>
            <a:ext cx="2857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885" b="1">
                <a:solidFill>
                  <a:srgbClr val="070707"/>
                </a:solidFill>
              </a:defRPr>
            </a:pPr>
            <a:r>
              <a:rPr sz="885" b="1">
                <a:solidFill>
                  <a:srgbClr val="070707"/>
                </a:solidFill>
              </a:rPr>
              <a:t>YOU WILL RECEIVE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5808160-B8E2-4F72-8135-9E79673874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0" y="2667000"/>
            <a:ext cx="3048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885" b="1">
                <a:solidFill>
                  <a:srgbClr val="070707"/>
                </a:solidFill>
              </a:defRPr>
            </a:pPr>
            <a:r>
              <a:rPr sz="885" b="1">
                <a:solidFill>
                  <a:srgbClr val="070707"/>
                </a:solidFill>
              </a:rPr>
              <a:t>WE MAY ALSO TELL YOU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B6C7AC5-0B61-4CA6-9DFF-600E328C99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687604"/>
            <a:ext cx="104775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70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75C7E81-7E21-4DA7-B29D-D9451F086E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143250"/>
            <a:ext cx="2771775" cy="1095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893" b="0">
                <a:solidFill>
                  <a:srgbClr val="070707"/>
                </a:solidFill>
              </a:defRPr>
            </a:pPr>
            <a:r>
              <a:rPr sz="893" b="0">
                <a:solidFill>
                  <a:srgbClr val="070707"/>
                </a:solidFill>
              </a:rPr>
              <a:t>One to three areas worth examining first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2DF3473-A451-4B0D-8681-28F3FFDAFF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219575"/>
            <a:ext cx="2771775" cy="428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8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2592874-ED1D-4355-A702-EA83C70405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4811554"/>
            <a:ext cx="104775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70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55814DB-997B-435C-AFBE-D4296B6FDD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267200"/>
            <a:ext cx="2771775" cy="1095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893" b="0">
                <a:solidFill>
                  <a:srgbClr val="070707"/>
                </a:solidFill>
              </a:defRPr>
            </a:pPr>
            <a:r>
              <a:rPr sz="893" b="0">
                <a:solidFill>
                  <a:srgbClr val="070707"/>
                </a:solidFill>
              </a:rPr>
              <a:t>An initial judgment on whether AI fits the work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633BEC2-878D-47B9-BF0D-7ABEFB523D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5343525"/>
            <a:ext cx="2771775" cy="428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8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213A26B-8EA5-4C4A-B7B3-9354E86EE1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5935504"/>
            <a:ext cx="104775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70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4782C01-7B3C-40B9-8A9B-9EE731BC71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5391150"/>
            <a:ext cx="2771775" cy="1095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893" b="0">
                <a:solidFill>
                  <a:srgbClr val="070707"/>
                </a:solidFill>
              </a:defRPr>
            </a:pPr>
            <a:r>
              <a:rPr sz="893" b="0">
                <a:solidFill>
                  <a:srgbClr val="070707"/>
                </a:solidFill>
              </a:rPr>
              <a:t>The data, systems, and people required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58194C9-33B7-4752-AE31-33EB4FD69C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6467475"/>
            <a:ext cx="2771775" cy="428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8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A5BC9CC-C555-4CD5-9E41-5DD6148EE1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7059454"/>
            <a:ext cx="104775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70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AC2AE48-9369-4D46-8A86-8CCB5663A3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6515100"/>
            <a:ext cx="2771775" cy="1095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893" b="0">
                <a:solidFill>
                  <a:srgbClr val="070707"/>
                </a:solidFill>
              </a:defRPr>
            </a:pPr>
            <a:r>
              <a:rPr sz="893" b="0">
                <a:solidFill>
                  <a:srgbClr val="070707"/>
                </a:solidFill>
              </a:rPr>
              <a:t>A recommendation: buy software, build a Skill, create custom SaaS, organize data, or redesign the workflow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C93F465F-2C53-4B42-8612-D7C1B740B7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7591425"/>
            <a:ext cx="2771775" cy="428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8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922D1B0F-9110-4A9C-B54A-58A0FE02E5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8183404"/>
            <a:ext cx="104775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70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AFE62E19-9C71-4B73-B195-C72502A611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7639050"/>
            <a:ext cx="2771775" cy="1095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893" b="0">
                <a:solidFill>
                  <a:srgbClr val="070707"/>
                </a:solidFill>
              </a:defRPr>
            </a:pPr>
            <a:r>
              <a:rPr sz="893" b="0">
                <a:solidFill>
                  <a:srgbClr val="070707"/>
                </a:solidFill>
              </a:rPr>
              <a:t>An honest view on whether a pilot is worthwhile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E49701CD-8B33-4CE4-AA60-D5BD59DAE0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0" y="3687604"/>
            <a:ext cx="104775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70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1AFC77AF-4559-42C4-8019-9605E6E2B3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29100" y="3143250"/>
            <a:ext cx="2819400" cy="1095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893" b="0">
                <a:solidFill>
                  <a:srgbClr val="070707"/>
                </a:solidFill>
              </a:defRPr>
            </a:pPr>
            <a:r>
              <a:rPr sz="893" b="0">
                <a:solidFill>
                  <a:srgbClr val="070707"/>
                </a:solidFill>
              </a:rPr>
              <a:t>The problem does not need AI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349FE6D0-60ED-4F2A-A45C-3155F5A218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29100" y="4219575"/>
            <a:ext cx="2819400" cy="428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8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11A204D1-1EEE-4736-8936-BDED2C5E2D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0" y="4811554"/>
            <a:ext cx="104775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70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FDF9EBF5-70DE-4BAF-B579-C2BE0008CD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29100" y="4267200"/>
            <a:ext cx="2819400" cy="1095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893" b="0">
                <a:solidFill>
                  <a:srgbClr val="070707"/>
                </a:solidFill>
              </a:defRPr>
            </a:pPr>
            <a:r>
              <a:rPr sz="893" b="0">
                <a:solidFill>
                  <a:srgbClr val="070707"/>
                </a:solidFill>
              </a:rPr>
              <a:t>The data is not ready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64E6FA3F-D9F8-4560-B051-E3FFD6BA29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29100" y="5343525"/>
            <a:ext cx="2819400" cy="428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8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DDCF7D8D-31AC-441F-87AF-AC8A296C3A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0" y="5935504"/>
            <a:ext cx="104775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70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CED41C5A-5B1D-4D3A-B5C9-2C6C0A00AB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29100" y="5391150"/>
            <a:ext cx="2819400" cy="1095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893" b="0">
                <a:solidFill>
                  <a:srgbClr val="070707"/>
                </a:solidFill>
              </a:defRPr>
            </a:pPr>
            <a:r>
              <a:rPr sz="893" b="0">
                <a:solidFill>
                  <a:srgbClr val="070707"/>
                </a:solidFill>
              </a:rPr>
              <a:t>Fix the workflow before building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9CEAD0A8-EBC5-4C75-9F8F-754BCA8A98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29100" y="6467475"/>
            <a:ext cx="2819400" cy="428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8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B8EA95FE-B641-4E28-9025-85EC9FE73C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0" y="7059454"/>
            <a:ext cx="104775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70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CD843255-4279-45FA-AB2F-1FEB9B1294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29100" y="6515100"/>
            <a:ext cx="2819400" cy="1095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893" b="0">
                <a:solidFill>
                  <a:srgbClr val="070707"/>
                </a:solidFill>
              </a:defRPr>
            </a:pPr>
            <a:r>
              <a:rPr sz="893" b="0">
                <a:solidFill>
                  <a:srgbClr val="070707"/>
                </a:solidFill>
              </a:rPr>
              <a:t>An existing product is better value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353AAD80-5461-4F4E-B735-7372E4E00C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0" y="8058150"/>
            <a:ext cx="3048000" cy="1190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E3C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14152198-9B44-402F-ADCA-33FC6E7D5F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48150" y="8410575"/>
            <a:ext cx="25527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870" b="1">
                <a:solidFill>
                  <a:srgbClr val="070707"/>
                </a:solidFill>
              </a:defRPr>
            </a:pPr>
            <a:r>
              <a:rPr sz="870" b="1">
                <a:solidFill>
                  <a:srgbClr val="070707"/>
                </a:solidFill>
              </a:rPr>
              <a:t>The assessment does not include a complete plan and does not require access to unauthorized sensitive data.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62EAF893-4228-4F06-8238-4570E5F43F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0287000"/>
            <a:ext cx="38100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660" b="0">
                <a:solidFill>
                  <a:srgbClr val="656563"/>
                </a:solidFill>
              </a:defRPr>
            </a:pPr>
            <a:r>
              <a:rPr sz="660" b="0">
                <a:solidFill>
                  <a:srgbClr val="656563"/>
                </a:solidFill>
              </a:rPr>
              <a:t>11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9DE2B77E-45DC-45AE-A607-4A05707863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48250" y="10287000"/>
            <a:ext cx="200025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buNone/>
              <a:defRPr sz="660" b="0">
                <a:solidFill>
                  <a:srgbClr val="656563"/>
                </a:solidFill>
              </a:defRPr>
            </a:pPr>
            <a:r>
              <a:rPr sz="660" b="0">
                <a:solidFill>
                  <a:srgbClr val="656563"/>
                </a:solidFill>
              </a:rPr>
              <a:t>FDE enterprise AI upgrade</a:t>
            </a:r>
          </a:p>
        </p:txBody>
      </p:sp>
      <p:pic>
        <p:nvPicPr>
          <p:cNvPr id="69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bb3089448094a6b"/>
          <a:stretch xmlns:a="http://schemas.openxmlformats.org/drawingml/2006/main"/>
        </p:blipFill>
        <p:spPr>
          <a:xfrm xmlns:a="http://schemas.openxmlformats.org/drawingml/2006/main">
            <a:off x="4810125" y="10258425"/>
            <a:ext cx="171450" cy="17145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3455301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FFF4E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37D39CB9-E294-4266-87B6-0A66FC68E0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590550"/>
            <a:ext cx="6534150" cy="1524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3375" b="0">
                <a:solidFill>
                  <a:srgbClr val="070707"/>
                </a:solidFill>
              </a:defRPr>
            </a:pPr>
            <a:r>
              <a:rPr sz="3375" b="0">
                <a:solidFill>
                  <a:srgbClr val="070707"/>
                </a:solidFill>
              </a:rPr>
              <a:t>Which part of your business</a:t>
            </a:r>
          </a:p>
          <a:p xmlns:a="http://schemas.openxmlformats.org/drawingml/2006/main">
            <a:pPr algn="l">
              <a:buNone/>
              <a:defRPr sz="3375" b="0">
                <a:solidFill>
                  <a:srgbClr val="070707"/>
                </a:solidFill>
              </a:defRPr>
            </a:pPr>
            <a:r>
              <a:rPr sz="3375" b="0">
                <a:solidFill>
                  <a:srgbClr val="070707"/>
                </a:solidFill>
              </a:rPr>
              <a:t>should AI improve first?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B1762F2-91BA-4073-ABF8-5A33571914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305050"/>
            <a:ext cx="228600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350" b="1">
                <a:solidFill>
                  <a:srgbClr val="075CFF"/>
                </a:solidFill>
              </a:defRPr>
            </a:pPr>
            <a:r>
              <a:rPr sz="1350" b="1">
                <a:solidFill>
                  <a:srgbClr val="FF7A00"/>
                </a:solidFill>
              </a:rPr>
              <a:t>10 companies per day</a:t>
            </a:r>
          </a:p>
          <a:p xmlns:a="http://schemas.openxmlformats.org/drawingml/2006/main">
            <a:pPr algn="l">
              <a:buNone/>
              <a:defRPr sz="1350" b="1">
                <a:solidFill>
                  <a:srgbClr val="075CFF"/>
                </a:solidFill>
              </a:defRPr>
            </a:pPr>
            <a:r>
              <a:rPr sz="1350" b="1">
                <a:solidFill>
                  <a:srgbClr val="FF7A00"/>
                </a:solidFill>
              </a:rPr>
              <a:t>20 over the two-day event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52E97E6-5C5C-4446-ABFC-0DF18B764F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05400" y="2305050"/>
            <a:ext cx="1943100" cy="1943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6668">
            <a:solidFill>
              <a:srgbClr val="070707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369582B-9AB9-4EEF-B65E-47EB222C3A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05400" y="3171825"/>
            <a:ext cx="19431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buNone/>
              <a:defRPr sz="825" b="0">
                <a:solidFill>
                  <a:srgbClr val="656563"/>
                </a:solidFill>
              </a:defRPr>
            </a:pPr>
            <a:r>
              <a:rPr sz="825" b="0">
                <a:solidFill>
                  <a:srgbClr val="656563"/>
                </a:solidFill>
              </a:rPr>
              <a:t>QR CODE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FD38F76-D83E-4AD0-8DCB-B08645CA64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4476750"/>
            <a:ext cx="2857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885" b="1">
                <a:solidFill>
                  <a:srgbClr val="070707"/>
                </a:solidFill>
              </a:defRPr>
            </a:pPr>
            <a:r>
              <a:rPr sz="885" b="1">
                <a:solidFill>
                  <a:srgbClr val="070707"/>
                </a:solidFill>
              </a:rPr>
              <a:t>SCAN AND TELL US: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962BD2F-2676-47BD-8380-839E4131B9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057775"/>
            <a:ext cx="2857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buNone/>
              <a:defRPr sz="720" b="0">
                <a:solidFill>
                  <a:srgbClr val="070707"/>
                </a:solidFill>
              </a:defRPr>
            </a:pPr>
            <a:r>
              <a:rPr sz="720" b="0">
                <a:solidFill>
                  <a:srgbClr val="070707"/>
                </a:solidFill>
              </a:rPr>
              <a:t>1.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465C943-5E38-45F1-9650-704C7DEA1D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" y="5048250"/>
            <a:ext cx="3267075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915" b="0">
                <a:solidFill>
                  <a:srgbClr val="070707"/>
                </a:solidFill>
              </a:defRPr>
            </a:pPr>
            <a:r>
              <a:rPr sz="915" b="0">
                <a:solidFill>
                  <a:srgbClr val="070707"/>
                </a:solidFill>
              </a:rPr>
              <a:t>Your company and industry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D035E45-6EAA-40C5-8941-418B6C1D98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" y="5734050"/>
            <a:ext cx="3267075" cy="428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8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41B3B63-C51B-40B2-98B2-6CA9889A0C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800725"/>
            <a:ext cx="2857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buNone/>
              <a:defRPr sz="720" b="0">
                <a:solidFill>
                  <a:srgbClr val="070707"/>
                </a:solidFill>
              </a:defRPr>
            </a:pPr>
            <a:r>
              <a:rPr sz="720" b="0">
                <a:solidFill>
                  <a:srgbClr val="070707"/>
                </a:solidFill>
              </a:rPr>
              <a:t>2.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35A5C89-8F76-4AE1-A0BE-3550057129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" y="5791200"/>
            <a:ext cx="3267075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915" b="0">
                <a:solidFill>
                  <a:srgbClr val="070707"/>
                </a:solidFill>
              </a:defRPr>
            </a:pPr>
            <a:r>
              <a:rPr sz="915" b="0">
                <a:solidFill>
                  <a:srgbClr val="070707"/>
                </a:solidFill>
              </a:rPr>
              <a:t>The one area you most want to improve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5236D70-4659-4EC6-B406-943B011BB7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" y="6477000"/>
            <a:ext cx="3267075" cy="428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8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F2CFF60-8DC4-4B11-9364-40D297D7DB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43675"/>
            <a:ext cx="2857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buNone/>
              <a:defRPr sz="720" b="0">
                <a:solidFill>
                  <a:srgbClr val="070707"/>
                </a:solidFill>
              </a:defRPr>
            </a:pPr>
            <a:r>
              <a:rPr sz="720" b="0">
                <a:solidFill>
                  <a:srgbClr val="070707"/>
                </a:solidFill>
              </a:rPr>
              <a:t>3.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4BAC7B2-CBD2-4758-864B-7BF564048E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" y="6534150"/>
            <a:ext cx="3267075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915" b="0">
                <a:solidFill>
                  <a:srgbClr val="070707"/>
                </a:solidFill>
              </a:defRPr>
            </a:pPr>
            <a:r>
              <a:rPr sz="915" b="0">
                <a:solidFill>
                  <a:srgbClr val="070707"/>
                </a:solidFill>
              </a:rPr>
              <a:t>How the work is done today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BE663D2-7833-44EF-9988-26C1640972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" y="7219950"/>
            <a:ext cx="3267075" cy="428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8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87E1A02-3A2F-4543-B756-D459F6A14A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286625"/>
            <a:ext cx="2857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buNone/>
              <a:defRPr sz="720" b="0">
                <a:solidFill>
                  <a:srgbClr val="070707"/>
                </a:solidFill>
              </a:defRPr>
            </a:pPr>
            <a:r>
              <a:rPr sz="720" b="0">
                <a:solidFill>
                  <a:srgbClr val="070707"/>
                </a:solidFill>
              </a:rPr>
              <a:t>4.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25A4B519-0CB2-426F-8B9B-01ED11CADB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" y="7277100"/>
            <a:ext cx="3267075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915" b="0">
                <a:solidFill>
                  <a:srgbClr val="070707"/>
                </a:solidFill>
              </a:defRPr>
            </a:pPr>
            <a:r>
              <a:rPr sz="915" b="0">
                <a:solidFill>
                  <a:srgbClr val="070707"/>
                </a:solidFill>
              </a:rPr>
              <a:t>Who owns that part of the business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C0856AF9-7456-481C-898F-F7250F13C0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" y="7962900"/>
            <a:ext cx="3267075" cy="428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8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F4B5A47F-A535-4499-A638-DEA48220D9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029575"/>
            <a:ext cx="2857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buNone/>
              <a:defRPr sz="720" b="0">
                <a:solidFill>
                  <a:srgbClr val="070707"/>
                </a:solidFill>
              </a:defRPr>
            </a:pPr>
            <a:r>
              <a:rPr sz="720" b="0">
                <a:solidFill>
                  <a:srgbClr val="070707"/>
                </a:solidFill>
              </a:rPr>
              <a:t>5.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5A1867D2-E51B-4227-B294-473F2CEB6C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" y="8020050"/>
            <a:ext cx="3267075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915" b="0">
                <a:solidFill>
                  <a:srgbClr val="070707"/>
                </a:solidFill>
              </a:defRPr>
            </a:pPr>
            <a:r>
              <a:rPr sz="915" b="0">
                <a:solidFill>
                  <a:srgbClr val="070707"/>
                </a:solidFill>
              </a:rPr>
              <a:t>Your contact details and preferred time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FFAA8C86-F28A-4B24-A66E-9948E0D610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8953500"/>
            <a:ext cx="3143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013" b="1">
                <a:solidFill>
                  <a:srgbClr val="070707"/>
                </a:solidFill>
              </a:defRPr>
            </a:pPr>
            <a:r>
              <a:rPr sz="1013" b="1">
                <a:solidFill>
                  <a:srgbClr val="070707"/>
                </a:solidFill>
              </a:rPr>
              <a:t>SCAN TO RESERVE · AVAILABLE UNTIL FULL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19B55993-3392-462F-A5FB-3E6B3A46CB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8782050"/>
            <a:ext cx="2286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buNone/>
              <a:defRPr sz="788" b="0">
                <a:solidFill>
                  <a:srgbClr val="070707"/>
                </a:solidFill>
              </a:defRPr>
            </a:pPr>
            <a:r>
              <a:rPr sz="788" b="0">
                <a:solidFill>
                  <a:srgbClr val="070707"/>
                </a:solidFill>
              </a:rPr>
              <a:t>[Brand name]</a:t>
            </a:r>
          </a:p>
          <a:p xmlns:a="http://schemas.openxmlformats.org/drawingml/2006/main">
            <a:pPr algn="r">
              <a:buNone/>
              <a:defRPr sz="788" b="0">
                <a:solidFill>
                  <a:srgbClr val="070707"/>
                </a:solidFill>
              </a:defRPr>
            </a:pPr>
            <a:r>
              <a:rPr sz="788" b="0">
                <a:solidFill>
                  <a:srgbClr val="070707"/>
                </a:solidFill>
              </a:rPr>
              <a:t>[Name / phone / WeChat / website]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61F87D01-2D15-42D3-A914-768AD6EA71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9620250"/>
            <a:ext cx="6534150" cy="8573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70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6266AF9F-AB1B-4850-9534-809B336731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9829800"/>
            <a:ext cx="65341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990" b="1">
                <a:solidFill>
                  <a:srgbClr val="070707"/>
                </a:solidFill>
              </a:defRPr>
            </a:pPr>
            <a:r>
              <a:rPr sz="990" b="1">
                <a:solidFill>
                  <a:srgbClr val="070707"/>
                </a:solidFill>
              </a:rPr>
              <a:t>Start with one problem you can understand, complete, and measure.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EFBEA5B1-1E51-489E-811C-06F130D28C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0287000"/>
            <a:ext cx="38100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660" b="0">
                <a:solidFill>
                  <a:srgbClr val="656563"/>
                </a:solidFill>
              </a:defRPr>
            </a:pPr>
            <a:r>
              <a:rPr sz="660" b="0">
                <a:solidFill>
                  <a:srgbClr val="656563"/>
                </a:solidFill>
              </a:rPr>
              <a:t>12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C5999C20-149E-4827-96ED-44D95D00C3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48250" y="10287000"/>
            <a:ext cx="200025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buNone/>
              <a:defRPr sz="660" b="0">
                <a:solidFill>
                  <a:srgbClr val="656563"/>
                </a:solidFill>
              </a:defRPr>
            </a:pPr>
            <a:r>
              <a:rPr sz="660" b="0">
                <a:solidFill>
                  <a:srgbClr val="656563"/>
                </a:solidFill>
              </a:rPr>
              <a:t>FDE enterprise AI upgrade</a:t>
            </a:r>
          </a:p>
        </p:txBody>
      </p:sp>
      <p:pic>
        <p:nvPicPr>
          <p:cNvPr id="5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bc5163d2f1a4034"/>
          <a:stretch xmlns:a="http://schemas.openxmlformats.org/drawingml/2006/main"/>
        </p:blipFill>
        <p:spPr>
          <a:xfrm xmlns:a="http://schemas.openxmlformats.org/drawingml/2006/main">
            <a:off x="4810125" y="10258425"/>
            <a:ext cx="171450" cy="17145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99150031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2026-08-24T08:35:33.1800000Z</dcterms:created>
  <dcterms:modified xsi:type="dcterms:W3CDTF">2026-08-24T08:35:33.1800000Z</dcterms:modified>
</coreProperties>
</file>