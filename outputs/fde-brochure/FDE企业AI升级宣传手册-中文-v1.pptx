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bfcb913f9b4741" /><Relationship Type="http://schemas.openxmlformats.org/officeDocument/2006/relationships/extended-properties" Target="/docProps/app.xml" Id="R21805d8123fe4eaa" /><Relationship Type="http://schemas.openxmlformats.org/officeDocument/2006/relationships/officeDocument" Target="/ppt/presentation.xml" Id="Re5a1d7c9c12c4d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a215b3f92e4ef2"/>
  </p:sldMasterIdLst>
  <p:notesMasterIdLst>
    <p:notesMasterId xmlns:r="http://schemas.openxmlformats.org/officeDocument/2006/relationships" r:id="R0621d9b3188d4aec"/>
  </p:notesMasterIdLst>
  <p:sldIdLst>
    <p:sldId xmlns:r="http://schemas.openxmlformats.org/officeDocument/2006/relationships" id="256" r:id="R561e5616fa974812"/>
    <p:sldId xmlns:r="http://schemas.openxmlformats.org/officeDocument/2006/relationships" id="257" r:id="Rbb725bb15efd4df9"/>
    <p:sldId xmlns:r="http://schemas.openxmlformats.org/officeDocument/2006/relationships" id="258" r:id="R3786b6bb623f42de"/>
    <p:sldId xmlns:r="http://schemas.openxmlformats.org/officeDocument/2006/relationships" id="259" r:id="Re24eae2a71e34a2a"/>
    <p:sldId xmlns:r="http://schemas.openxmlformats.org/officeDocument/2006/relationships" id="260" r:id="R769dcb818b3744b9"/>
    <p:sldId xmlns:r="http://schemas.openxmlformats.org/officeDocument/2006/relationships" id="261" r:id="R86e7eed9a377496b"/>
    <p:sldId xmlns:r="http://schemas.openxmlformats.org/officeDocument/2006/relationships" id="262" r:id="Rc42dc576f133453d"/>
    <p:sldId xmlns:r="http://schemas.openxmlformats.org/officeDocument/2006/relationships" id="263" r:id="R757c44d0cfd0466a"/>
    <p:sldId xmlns:r="http://schemas.openxmlformats.org/officeDocument/2006/relationships" id="264" r:id="Rdc0f5652828d4c29"/>
    <p:sldId xmlns:r="http://schemas.openxmlformats.org/officeDocument/2006/relationships" id="265" r:id="Rc2bb5ba560654133"/>
    <p:sldId xmlns:r="http://schemas.openxmlformats.org/officeDocument/2006/relationships" id="266" r:id="R29e525084a9742ab"/>
    <p:sldId xmlns:r="http://schemas.openxmlformats.org/officeDocument/2006/relationships" id="267" r:id="R18ae13ea2dce4630"/>
  </p:sldIdLst>
  <p:sldSz cx="5324475" cy="75628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173d7e681f4df7" /><Relationship Type="http://schemas.openxmlformats.org/officeDocument/2006/relationships/slideMaster" Target="/ppt/slideMasters/slideMaster1.xml" Id="R27a215b3f92e4ef2" /><Relationship Type="http://schemas.openxmlformats.org/officeDocument/2006/relationships/notesMaster" Target="/ppt/notesMasters/notesMaster1.xml" Id="R0621d9b3188d4aec" /><Relationship Type="http://schemas.openxmlformats.org/officeDocument/2006/relationships/presProps" Target="/ppt/presProps.xml" Id="R5f524564660e48cc" /><Relationship Type="http://schemas.openxmlformats.org/officeDocument/2006/relationships/tableStyles" Target="/ppt/tableStyles.xml" Id="Rf1952cacc6b649ae" /><Relationship Type="http://schemas.openxmlformats.org/officeDocument/2006/relationships/slide" Target="/ppt/slides/slide1.xml" Id="R561e5616fa974812" /><Relationship Type="http://schemas.openxmlformats.org/officeDocument/2006/relationships/slide" Target="/ppt/slides/slide2.xml" Id="Rbb725bb15efd4df9" /><Relationship Type="http://schemas.openxmlformats.org/officeDocument/2006/relationships/slide" Target="/ppt/slides/slide3.xml" Id="R3786b6bb623f42de" /><Relationship Type="http://schemas.openxmlformats.org/officeDocument/2006/relationships/slide" Target="/ppt/slides/slide4.xml" Id="Re24eae2a71e34a2a" /><Relationship Type="http://schemas.openxmlformats.org/officeDocument/2006/relationships/slide" Target="/ppt/slides/slide5.xml" Id="R769dcb818b3744b9" /><Relationship Type="http://schemas.openxmlformats.org/officeDocument/2006/relationships/slide" Target="/ppt/slides/slide6.xml" Id="R86e7eed9a377496b" /><Relationship Type="http://schemas.openxmlformats.org/officeDocument/2006/relationships/slide" Target="/ppt/slides/slide7.xml" Id="Rc42dc576f133453d" /><Relationship Type="http://schemas.openxmlformats.org/officeDocument/2006/relationships/slide" Target="/ppt/slides/slide8.xml" Id="R757c44d0cfd0466a" /><Relationship Type="http://schemas.openxmlformats.org/officeDocument/2006/relationships/slide" Target="/ppt/slides/slide9.xml" Id="Rdc0f5652828d4c29" /><Relationship Type="http://schemas.openxmlformats.org/officeDocument/2006/relationships/slide" Target="/ppt/slides/slide10.xml" Id="Rc2bb5ba560654133" /><Relationship Type="http://schemas.openxmlformats.org/officeDocument/2006/relationships/slide" Target="/ppt/slides/slide11.xml" Id="R29e525084a9742ab" /><Relationship Type="http://schemas.openxmlformats.org/officeDocument/2006/relationships/slide" Target="/ppt/slides/slide12.xml" Id="R18ae13ea2dce46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f105943b8e4f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b82e2d7c5c4e1a" /><Relationship Type="http://schemas.openxmlformats.org/officeDocument/2006/relationships/notesMaster" Target="/ppt/notesMasters/notesMaster1.xml" Id="R5a51c8e5a25941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df694453d54b27" /><Relationship Type="http://schemas.openxmlformats.org/officeDocument/2006/relationships/notesMaster" Target="/ppt/notesMasters/notesMaster1.xml" Id="Reaf798137ad944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a2ba136edc4db1" /><Relationship Type="http://schemas.openxmlformats.org/officeDocument/2006/relationships/notesMaster" Target="/ppt/notesMasters/notesMaster1.xml" Id="Re031dc4d13fa46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b646466dd44f19" /><Relationship Type="http://schemas.openxmlformats.org/officeDocument/2006/relationships/notesMaster" Target="/ppt/notesMasters/notesMaster1.xml" Id="Rf53e47ddecd446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92cdbfb2cc443b" /><Relationship Type="http://schemas.openxmlformats.org/officeDocument/2006/relationships/notesMaster" Target="/ppt/notesMasters/notesMaster1.xml" Id="R163bb6daedc743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4ec00480274542" /><Relationship Type="http://schemas.openxmlformats.org/officeDocument/2006/relationships/notesMaster" Target="/ppt/notesMasters/notesMaster1.xml" Id="Rda6cb980f04547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86b8fa03e74bfe" /><Relationship Type="http://schemas.openxmlformats.org/officeDocument/2006/relationships/notesMaster" Target="/ppt/notesMasters/notesMaster1.xml" Id="Rc218f7fddd974e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44307b16ac4c49" /><Relationship Type="http://schemas.openxmlformats.org/officeDocument/2006/relationships/notesMaster" Target="/ppt/notesMasters/notesMaster1.xml" Id="R22dee741d0dc4a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e5bd2706444d54" /><Relationship Type="http://schemas.openxmlformats.org/officeDocument/2006/relationships/notesMaster" Target="/ppt/notesMasters/notesMaster1.xml" Id="Rdc17eb9ad11147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3064f48c6640ec" /><Relationship Type="http://schemas.openxmlformats.org/officeDocument/2006/relationships/notesMaster" Target="/ppt/notesMasters/notesMaster1.xml" Id="R804d3eb064b84b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7279897c8b4e86" /><Relationship Type="http://schemas.openxmlformats.org/officeDocument/2006/relationships/notesMaster" Target="/ppt/notesMasters/notesMaster1.xml" Id="Rbb7b043fbad447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ac40f1b2b64106" /><Relationship Type="http://schemas.openxmlformats.org/officeDocument/2006/relationships/notesMaster" Target="/ppt/notesMasters/notesMaster1.xml" Id="Rb0daf867035346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6a7938fc8140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9f0d05a35846c9" /><Relationship Type="http://schemas.openxmlformats.org/officeDocument/2006/relationships/slideLayout" Target="/ppt/slideLayouts/slideLayout1.xml" Id="Re8a0ca599f8d4d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a0ca599f8d4d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837f6a3ed410b" /><Relationship Type="http://schemas.openxmlformats.org/officeDocument/2006/relationships/image" Target="/ppt/media/image.png" Id="R4b72a0b2ef254ed8" /><Relationship Type="http://schemas.openxmlformats.org/officeDocument/2006/relationships/notesSlide" Target="/ppt/notesSlides/notesSlide1.xml" Id="R1ecace8cdf5b4b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77bd6e92c4054" /><Relationship Type="http://schemas.openxmlformats.org/officeDocument/2006/relationships/image" Target="/ppt/media/image2.png" Id="R1c5a3cfed27942b7" /><Relationship Type="http://schemas.openxmlformats.org/officeDocument/2006/relationships/notesSlide" Target="/ppt/notesSlides/notesSlide2.xml" Id="R86b8cf11739c47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1a0e9655e4b38" /><Relationship Type="http://schemas.openxmlformats.org/officeDocument/2006/relationships/notesSlide" Target="/ppt/notesSlides/notesSlide3.xml" Id="R01359f9b66164c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e3b1e78334770" /><Relationship Type="http://schemas.openxmlformats.org/officeDocument/2006/relationships/notesSlide" Target="/ppt/notesSlides/notesSlide4.xml" Id="R0d51139554dc4c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9168d6bfe4673" /><Relationship Type="http://schemas.openxmlformats.org/officeDocument/2006/relationships/image" Target="/ppt/media/image3.png" Id="Rfd9335a2600544da" /><Relationship Type="http://schemas.openxmlformats.org/officeDocument/2006/relationships/notesSlide" Target="/ppt/notesSlides/notesSlide5.xml" Id="Rc0c220f8272544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636d3b8c44ad9" /><Relationship Type="http://schemas.openxmlformats.org/officeDocument/2006/relationships/notesSlide" Target="/ppt/notesSlides/notesSlide6.xml" Id="R65e650ab87d542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c04230c2c4fdd" /><Relationship Type="http://schemas.openxmlformats.org/officeDocument/2006/relationships/notesSlide" Target="/ppt/notesSlides/notesSlide7.xml" Id="R91cdf842ee2d40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a4eb2b4224b1d" /><Relationship Type="http://schemas.openxmlformats.org/officeDocument/2006/relationships/notesSlide" Target="/ppt/notesSlides/notesSlide8.xml" Id="Rd75e5a5307bf49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00a06b119428f" /><Relationship Type="http://schemas.openxmlformats.org/officeDocument/2006/relationships/notesSlide" Target="/ppt/notesSlides/notesSlide9.xml" Id="Rf3b4a40c13454c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ac73cdbb448f6" /><Relationship Type="http://schemas.openxmlformats.org/officeDocument/2006/relationships/image" Target="/ppt/media/image4.png" Id="Rd7d3f395b0d34c14" /><Relationship Type="http://schemas.openxmlformats.org/officeDocument/2006/relationships/notesSlide" Target="/ppt/notesSlides/notesSlide10.xml" Id="R33b684941bb845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d6af3e2de4e59" /><Relationship Type="http://schemas.openxmlformats.org/officeDocument/2006/relationships/notesSlide" Target="/ppt/notesSlides/notesSlide11.xml" Id="R57a76d85f31c4d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a99d364c646bf" /><Relationship Type="http://schemas.openxmlformats.org/officeDocument/2006/relationships/image" Target="/ppt/media/image5.png" Id="Rafcef28107124e79" /><Relationship Type="http://schemas.openxmlformats.org/officeDocument/2006/relationships/notesSlide" Target="/ppt/notesSlides/notesSlide12.xml" Id="R43085faf48f542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987AC-364F-4FF2-A1B4-2E75A46F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7676B"/>
                </a:solidFill>
              </a:defRPr>
            </a:pPr>
            <a:r>
              <a:rPr sz="675" b="1">
                <a:solidFill>
                  <a:srgbClr val="67676B"/>
                </a:solidFill>
              </a:rPr>
              <a:t>FDE / 企业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FFDB3-502D-4A04-8550-E14C3642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BEEE6-D62D-48D9-87F3-D904F378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B1EFC-7C50-4C38-8C26-2DCF9292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4524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C0C0D"/>
                </a:solidFill>
              </a:defRPr>
            </a:pPr>
            <a:r>
              <a:rPr sz="3150" b="1">
                <a:solidFill>
                  <a:srgbClr val="0C0C0D"/>
                </a:solidFill>
              </a:rPr>
              <a:t>企业想做 AI 升级，</a:t>
            </a:r>
          </a:p>
          <a:p xmlns:a="http://schemas.openxmlformats.org/drawingml/2006/main">
            <a:pPr algn="l">
              <a:defRPr sz="3150" b="1">
                <a:solidFill>
                  <a:srgbClr val="0C0C0D"/>
                </a:solidFill>
              </a:defRPr>
            </a:pPr>
            <a:r>
              <a:rPr sz="3150" b="1">
                <a:solidFill>
                  <a:srgbClr val="0C0C0D"/>
                </a:solidFill>
              </a:rPr>
              <a:t>第一步从哪里开始？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95721-6752-491B-A8C5-DBE661E2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4524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67676B"/>
                </a:solidFill>
              </a:defRPr>
            </a:pPr>
            <a:r>
              <a:rPr sz="1313" b="0">
                <a:solidFill>
                  <a:srgbClr val="67676B"/>
                </a:solidFill>
              </a:rPr>
              <a:t>FDE 走进业务现场，帮你找准第一个问题，</a:t>
            </a:r>
          </a:p>
          <a:p xmlns:a="http://schemas.openxmlformats.org/drawingml/2006/main">
            <a:pPr algn="l">
              <a:defRPr sz="1313" b="0">
                <a:solidFill>
                  <a:srgbClr val="67676B"/>
                </a:solidFill>
              </a:defRPr>
            </a:pPr>
            <a:r>
              <a:rPr sz="1313" b="0">
                <a:solidFill>
                  <a:srgbClr val="67676B"/>
                </a:solidFill>
              </a:rPr>
              <a:t>再把它做成有人用、看得到结果的系统。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2C82B-EE85-4B83-B9F2-3D1D39B7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C0C0D"/>
                </a:solidFill>
              </a:defRPr>
            </a:pPr>
            <a:r>
              <a:rPr sz="1013" b="1">
                <a:solidFill>
                  <a:srgbClr val="0C0C0D"/>
                </a:solidFill>
              </a:rPr>
              <a:t>业务诊断｜流程改造｜Skill｜定制 SaaS｜数据库｜Agent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2a0b2ef254ed8"/>
          <a:srcRect xmlns:a="http://schemas.openxmlformats.org/drawingml/2006/main" l="0" t="6263" r="0" b="6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3752850"/>
            <a:ext cx="4524375" cy="26384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7E405-34BC-4488-BD2A-FAB68FD3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4524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3BC30-1E19-4755-813F-B7CC16DF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705600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展会限定：免费企业 AI 诊断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00E72-5C45-4914-B6EF-55D874D1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670560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每天 10 家</a:t>
            </a:r>
          </a:p>
        </p:txBody>
      </p:sp>
    </p:spTree>
    <p:extLst>
      <p:ext uri="{BB962C8B-B14F-4D97-AF65-F5344CB8AC3E}">
        <p14:creationId xmlns:p14="http://schemas.microsoft.com/office/powerpoint/2010/main" val="19094173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D7AD89-BE57-47A9-8D4F-88512832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7676B"/>
                </a:solidFill>
              </a:defRPr>
            </a:pPr>
            <a:r>
              <a:rPr sz="675" b="1">
                <a:solidFill>
                  <a:srgbClr val="67676B"/>
                </a:solidFill>
              </a:rPr>
              <a:t>未来正在发生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6E929-46F1-42BC-B0B0-7DEA994C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B0452-1D05-4BAA-BC34-5DC67DF7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3D115-2D02-4FBB-98C8-B1742AF1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C0C0D"/>
                </a:solidFill>
              </a:defRPr>
            </a:pPr>
            <a:r>
              <a:rPr sz="3375" b="1">
                <a:solidFill>
                  <a:srgbClr val="0C0C0D"/>
                </a:solidFill>
              </a:rPr>
              <a:t>AI 已经可以</a:t>
            </a:r>
          </a:p>
          <a:p xmlns:a="http://schemas.openxmlformats.org/drawingml/2006/main">
            <a:pPr algn="l">
              <a:defRPr sz="3375" b="1">
                <a:solidFill>
                  <a:srgbClr val="0C0C0D"/>
                </a:solidFill>
              </a:defRPr>
            </a:pPr>
            <a:r>
              <a:rPr sz="3375" b="1">
                <a:solidFill>
                  <a:srgbClr val="0C0C0D"/>
                </a:solidFill>
              </a:rPr>
              <a:t>自己干活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1C46D-D9DE-419C-88A6-7FE53AC8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452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C0C0D"/>
                </a:solidFill>
              </a:defRPr>
            </a:pPr>
            <a:r>
              <a:rPr sz="1200" b="1">
                <a:solidFill>
                  <a:srgbClr val="0C0C0D"/>
                </a:solidFill>
              </a:rPr>
              <a:t>过去，我们手动完成工作每一步。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1F351-8E65-4EE3-8DD9-117C358F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452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7676B"/>
                </a:solidFill>
              </a:defRPr>
            </a:pPr>
            <a:r>
              <a:rPr sz="1088" b="0">
                <a:solidFill>
                  <a:srgbClr val="67676B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a3cfed27942b7"/>
          <a:srcRect xmlns:a="http://schemas.openxmlformats.org/drawingml/2006/main" l="0" t="29158" r="0" b="291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943225"/>
            <a:ext cx="4524375" cy="12573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6F6DC-E9FF-448A-B97A-C3C3653B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910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45458-E617-4DE4-9C98-D3B9E893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4162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C0C0D"/>
                </a:solidFill>
              </a:defRPr>
            </a:pPr>
            <a:r>
              <a:rPr sz="1088" b="0">
                <a:solidFill>
                  <a:srgbClr val="0C0C0D"/>
                </a:solidFill>
              </a:rPr>
              <a:t>重复工作交给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A592B-AB38-4834-95CD-55878AD5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7CFBD-AC7E-41E3-AE9E-F5AD707F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27C1D-4365-4626-91DB-BAF28934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162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C0C0D"/>
                </a:solidFill>
              </a:defRPr>
            </a:pPr>
            <a:r>
              <a:rPr sz="1088" b="0">
                <a:solidFill>
                  <a:srgbClr val="0C0C0D"/>
                </a:solidFill>
              </a:rPr>
              <a:t>人负责目标、判断和审核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9B56A-8045-4C34-AA9A-9D26B325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89768-003D-4711-B3E8-4AD8736F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0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AE111-63C1-465F-B478-7163E33C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4162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C0C0D"/>
                </a:solidFill>
              </a:defRPr>
            </a:pPr>
            <a:r>
              <a:rPr sz="1088" b="0">
                <a:solidFill>
                  <a:srgbClr val="0C0C0D"/>
                </a:solidFill>
              </a:rPr>
              <a:t>一个负责人可以带多个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0D2A60-1967-4F0C-8392-2895F07B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FEB63B-35B5-4013-B0F4-952DCCF4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15B2A6-D539-4DD0-ACBB-6A95F9A6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0225"/>
            <a:ext cx="4162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C0C0D"/>
                </a:solidFill>
              </a:defRPr>
            </a:pPr>
            <a:r>
              <a:rPr sz="1088" b="0">
                <a:solidFill>
                  <a:srgbClr val="0C0C0D"/>
                </a:solidFill>
              </a:rPr>
              <a:t>公司积累能反复使用的流程和 Skill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AE64A7-1F56-4F69-9F92-F3E77183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D318EC-155A-436F-BFF4-A25D435E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24575"/>
            <a:ext cx="4524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676B"/>
                </a:solidFill>
              </a:defRPr>
            </a:pPr>
            <a:r>
              <a:rPr sz="788" b="0">
                <a:solidFill>
                  <a:srgbClr val="67676B"/>
                </a:solidFill>
              </a:rPr>
              <a:t>Microsoft：员工将开始构建、分配和管理 Agent。</a:t>
            </a:r>
          </a:p>
          <a:p xmlns:a="http://schemas.openxmlformats.org/drawingml/2006/main">
            <a:pPr algn="l">
              <a:defRPr sz="788" b="0">
                <a:solidFill>
                  <a:srgbClr val="67676B"/>
                </a:solidFill>
              </a:defRPr>
            </a:pPr>
            <a:r>
              <a:rPr sz="788" b="0">
                <a:solidFill>
                  <a:srgbClr val="67676B"/>
                </a:solidFill>
              </a:rPr>
              <a:t>OpenAI：Agent 能代表用户完成工作流。</a:t>
            </a:r>
          </a:p>
          <a:p xmlns:a="http://schemas.openxmlformats.org/drawingml/2006/main">
            <a:pPr algn="l">
              <a:defRPr sz="788" b="0">
                <a:solidFill>
                  <a:srgbClr val="67676B"/>
                </a:solidFill>
              </a:defRPr>
            </a:pPr>
            <a:r>
              <a:rPr sz="788" b="0">
                <a:solidFill>
                  <a:srgbClr val="67676B"/>
                </a:solidFill>
              </a:rPr>
              <a:t>Google：企业 Agent 要连接数据、工具、记忆和运行环境。</a:t>
            </a:r>
          </a:p>
          <a:p xmlns:a="http://schemas.openxmlformats.org/drawingml/2006/main">
            <a:pPr algn="l">
              <a:defRPr sz="788" b="0">
                <a:solidFill>
                  <a:srgbClr val="67676B"/>
                </a:solidFill>
              </a:defRPr>
            </a:pPr>
            <a:r>
              <a:rPr sz="788" b="0">
                <a:solidFill>
                  <a:srgbClr val="67676B"/>
                </a:solidFill>
              </a:rPr>
              <a:t>Anthropic：人更多决定做什么，Agent 更多负责怎么做。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98DE9E-2B07-4235-B6BE-3A171306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9723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0C0C0D"/>
                </a:solidFill>
              </a:defRPr>
            </a:pPr>
            <a:r>
              <a:rPr sz="1163" b="1">
                <a:solidFill>
                  <a:srgbClr val="0C0C0D"/>
                </a:solidFill>
              </a:rPr>
              <a:t>公司的运作效率，会随着 AI Native 程度拉开差距。</a:t>
            </a:r>
          </a:p>
        </p:txBody>
      </p:sp>
    </p:spTree>
    <p:extLst>
      <p:ext uri="{BB962C8B-B14F-4D97-AF65-F5344CB8AC3E}">
        <p14:creationId xmlns:p14="http://schemas.microsoft.com/office/powerpoint/2010/main" val="3674649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37339D-A124-4CB9-B602-12BDB836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7676B"/>
                </a:solidFill>
              </a:defRPr>
            </a:pPr>
            <a:r>
              <a:rPr sz="675" b="1">
                <a:solidFill>
                  <a:srgbClr val="67676B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DD996-AFEF-4A7F-8ED4-F4F7A85E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1D734-9DA3-492C-92F5-E802F152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064FA-A7DD-4586-B700-A69DC71E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4524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C0C0D"/>
                </a:solidFill>
              </a:defRPr>
            </a:pPr>
            <a:r>
              <a:rPr sz="3075" b="1">
                <a:solidFill>
                  <a:srgbClr val="0C0C0D"/>
                </a:solidFill>
              </a:rPr>
              <a:t>AI 已经进入</a:t>
            </a:r>
          </a:p>
          <a:p xmlns:a="http://schemas.openxmlformats.org/drawingml/2006/main">
            <a:pPr algn="l">
              <a:defRPr sz="3075" b="1">
                <a:solidFill>
                  <a:srgbClr val="0C0C0D"/>
                </a:solidFill>
              </a:defRPr>
            </a:pPr>
            <a:r>
              <a:rPr sz="3075" b="1">
                <a:solidFill>
                  <a:srgbClr val="0C0C0D"/>
                </a:solidFill>
              </a:rPr>
              <a:t>真实业务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4D1BE-839B-480A-99D7-41E6B47C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24025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E9C84-0292-4D63-99C4-DA6ED84A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1419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C0C0D"/>
                </a:solidFill>
              </a:defRPr>
            </a:pPr>
            <a:r>
              <a:rPr sz="3075" b="1">
                <a:solidFill>
                  <a:srgbClr val="0C0C0D"/>
                </a:solidFill>
              </a:rPr>
              <a:t>81%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0D1B2-DC3C-4156-A6AD-F631DC90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47850"/>
            <a:ext cx="2962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C0C0D"/>
                </a:solidFill>
              </a:defRPr>
            </a:pPr>
            <a:r>
              <a:rPr sz="1013" b="1">
                <a:solidFill>
                  <a:srgbClr val="0C0C0D"/>
                </a:solidFill>
              </a:rPr>
              <a:t>的受访领导者预计，未来 12—18 个月 Agent 会进入公司的 AI 战略。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42891-A811-4AB0-80C1-007B78A8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38400"/>
            <a:ext cx="2962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Microsoft · 31 个国家 / 31,000 名员工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2F31F-23D1-483F-8680-890B4DAA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6E261-EF07-435C-9607-4EC440B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1419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65DFF"/>
                </a:solidFill>
              </a:defRPr>
            </a:pPr>
            <a:r>
              <a:rPr sz="3075" b="1">
                <a:solidFill>
                  <a:srgbClr val="165DFF"/>
                </a:solidFill>
              </a:rPr>
              <a:t>100万+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B6998-173B-40AF-BA90-E0C4ED35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00375"/>
            <a:ext cx="2962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C0C0D"/>
                </a:solidFill>
              </a:defRPr>
            </a:pPr>
            <a:r>
              <a:rPr sz="1013" b="1">
                <a:solidFill>
                  <a:srgbClr val="0C0C0D"/>
                </a:solidFill>
              </a:rPr>
              <a:t>家企业客户在使用 OpenAI 产品。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02E79-C9EF-4717-B75C-996C03F3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90925"/>
            <a:ext cx="2962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OpenAI · 2025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9AABC-C4BD-4A59-A6E1-8FA91FAB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29075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65D97-5180-4962-83E8-81E60FB9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1419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C0C0D"/>
                </a:solidFill>
              </a:defRPr>
            </a:pPr>
            <a:r>
              <a:rPr sz="3075" b="1">
                <a:solidFill>
                  <a:srgbClr val="0C0C0D"/>
                </a:solidFill>
              </a:rPr>
              <a:t>108×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3423E5-74CA-4F09-B9BC-FBB1A3AF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52900"/>
            <a:ext cx="2962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C0C0D"/>
                </a:solidFill>
              </a:defRPr>
            </a:pPr>
            <a:r>
              <a:rPr sz="1013" b="1">
                <a:solidFill>
                  <a:srgbClr val="0C0C0D"/>
                </a:solidFill>
              </a:rPr>
              <a:t>自 2 月以来，Codex 在法务部门的周活跃用户增长。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8C766B-11A6-42CD-B905-58FB26E7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43450"/>
            <a:ext cx="2962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销售 41× · 招聘 41× · 市场 26×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78FCB-BC0E-4ED7-9794-FB70BA2B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9590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8089D-FBA7-4ED0-AA26-BA4B487C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4524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5DFF"/>
                </a:solidFill>
              </a:defRPr>
            </a:pPr>
            <a:r>
              <a:rPr sz="825" b="1">
                <a:solidFill>
                  <a:srgbClr val="165DFF"/>
                </a:solidFill>
              </a:rPr>
              <a:t>已经进入生产的公开案例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67487-F378-45D2-A27D-AEEE55C3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0072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0C0D"/>
                </a:solidFill>
              </a:defRPr>
            </a:pPr>
            <a:r>
              <a:rPr sz="900" b="1">
                <a:solidFill>
                  <a:srgbClr val="0C0C0D"/>
                </a:solidFill>
              </a:rPr>
              <a:t>Cisco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55E634-BF32-4E4D-88F1-F967C4E1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0275"/>
            <a:ext cx="2085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676B"/>
                </a:solidFill>
              </a:defRPr>
            </a:pPr>
            <a:r>
              <a:rPr sz="788" b="0">
                <a:solidFill>
                  <a:srgbClr val="67676B"/>
                </a:solidFill>
              </a:rPr>
              <a:t>代码评审时间缩短 50%；部分项目从数周缩短到数天。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B770B9-C7EB-49A4-8BEE-0726D0FE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80072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0C0D"/>
                </a:solidFill>
              </a:defRPr>
            </a:pPr>
            <a:r>
              <a:rPr sz="900" b="1">
                <a:solidFill>
                  <a:srgbClr val="0C0C0D"/>
                </a:solidFill>
              </a:rPr>
              <a:t>Carlyle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05A096-C50B-42FD-8270-E1513D77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010275"/>
            <a:ext cx="2085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676B"/>
                </a:solidFill>
              </a:defRPr>
            </a:pPr>
            <a:r>
              <a:rPr sz="788" b="0">
                <a:solidFill>
                  <a:srgbClr val="67676B"/>
                </a:solidFill>
              </a:rPr>
              <a:t>多 Agent 尽调系统开发时间减少超过 50%，准确率提高 30%。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1A856D-1841-45FF-ADA0-08E67405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0C0D"/>
                </a:solidFill>
              </a:defRPr>
            </a:pPr>
            <a:r>
              <a:rPr sz="900" b="1">
                <a:solidFill>
                  <a:srgbClr val="0C0C0D"/>
                </a:solidFill>
              </a:rPr>
              <a:t>TELUS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5391E7-8BF3-4474-A30B-37C73CBE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77025"/>
            <a:ext cx="2085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676B"/>
                </a:solidFill>
              </a:defRPr>
            </a:pPr>
            <a:r>
              <a:rPr sz="788" b="0">
                <a:solidFill>
                  <a:srgbClr val="67676B"/>
                </a:solidFill>
              </a:rPr>
              <a:t>每年节省 5,390 万美元；问题解决速度提高 87%。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97149B-E132-4747-92E1-9690431B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4674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0C0D"/>
                </a:solidFill>
              </a:defRPr>
            </a:pPr>
            <a:r>
              <a:rPr sz="900" b="1">
                <a:solidFill>
                  <a:srgbClr val="0C0C0D"/>
                </a:solidFill>
              </a:rPr>
              <a:t>Lowe’s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891150-3C60-4A1A-B642-A69A6A4C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677025"/>
            <a:ext cx="2085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676B"/>
                </a:solidFill>
              </a:defRPr>
            </a:pPr>
            <a:r>
              <a:rPr sz="788" b="0">
                <a:solidFill>
                  <a:srgbClr val="67676B"/>
                </a:solidFill>
              </a:rPr>
              <a:t>在 1,700 多家门店为员工提供 AI 项目指导工具。</a:t>
            </a:r>
          </a:p>
        </p:txBody>
      </p:sp>
    </p:spTree>
    <p:extLst>
      <p:ext uri="{BB962C8B-B14F-4D97-AF65-F5344CB8AC3E}">
        <p14:creationId xmlns:p14="http://schemas.microsoft.com/office/powerpoint/2010/main" val="8792910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36CA85-1C2C-4CCE-A18F-F2C2421E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7676B"/>
                </a:solidFill>
              </a:defRPr>
            </a:pPr>
            <a:r>
              <a:rPr sz="675" b="1">
                <a:solidFill>
                  <a:srgbClr val="67676B"/>
                </a:solidFill>
              </a:rPr>
              <a:t>企业现在最常见的状态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97806-0956-4845-AD87-BFFD4357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F92F4-710D-4122-BBB7-E723F87A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506FD-7E38-4C2A-BB5C-7FC3C6B4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33425"/>
            <a:ext cx="4524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C0C0D"/>
                </a:solidFill>
              </a:defRPr>
            </a:pPr>
            <a:r>
              <a:rPr sz="2700" b="1">
                <a:solidFill>
                  <a:srgbClr val="0C0C0D"/>
                </a:solidFill>
              </a:rPr>
              <a:t>想要升级提效，</a:t>
            </a:r>
          </a:p>
          <a:p xmlns:a="http://schemas.openxmlformats.org/drawingml/2006/main">
            <a:pPr algn="l">
              <a:defRPr sz="2700" b="1">
                <a:solidFill>
                  <a:srgbClr val="0C0C0D"/>
                </a:solidFill>
              </a:defRPr>
            </a:pPr>
            <a:r>
              <a:rPr sz="2700" b="1">
                <a:solidFill>
                  <a:srgbClr val="0C0C0D"/>
                </a:solidFill>
              </a:rPr>
              <a:t>但不知道从哪里入手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3E29E-6AFB-4C89-9956-5A1B7E92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19275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5DFF"/>
                </a:solidFill>
              </a:defRPr>
            </a:pPr>
            <a:r>
              <a:rPr sz="825" b="1">
                <a:solidFill>
                  <a:srgbClr val="165DFF"/>
                </a:solidFill>
              </a:rPr>
              <a:t>很多企业已经试过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5C3BA-D8BC-4AD4-B998-C7DE9013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E86D5-D115-4D07-B9DF-B221EDCC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790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买过会员，员工偶尔问几个问题；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19B49-C32C-401E-B775-D0AF1E1D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79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08C9D-8EA9-4EA1-95E8-F135BC05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98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533DF-2B52-469C-A240-CC19E613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790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做过 Demo，演示时很好，上线后没人用；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72AA6-0F4E-446C-B460-95ADEE33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179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D68A9-0D1E-43B8-A4F2-AD337B4E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D6963-D08E-456B-9D2F-B8C7F222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1790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看了很多案例，回到自己公司却套不上；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C777E-A4BB-46DD-8351-BCB52A3E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179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C787C-D471-4FBD-9E18-97A5D8DE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399821-D454-447E-8681-34F976F3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1790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每个部门都说有需求，但排不出先后；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03FBE7-8F2C-4B7E-8AFA-7F44A930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179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D13E7D-8C5B-4B9A-8AFA-27D7E73B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1FA4B3-2189-423E-9039-2FEE1F03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1790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资料散在微信、Excel、PDF、网盘和员工电脑里；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065300-6B55-43DB-A973-86E5AB59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00675"/>
            <a:ext cx="179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EECEC8-C921-4A9F-BDA1-3087856F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45D22A-3D50-4D61-8432-07183BBE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790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担心数据安全，也不知道 Agent 能开放多大权限。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CA4B11-11AC-421B-9C66-DA268361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67425"/>
            <a:ext cx="179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6CD5A7-9E68-48B2-99E0-35DE94F9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19275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C0C0D"/>
                </a:solidFill>
              </a:defRPr>
            </a:pPr>
            <a:r>
              <a:rPr sz="1275" b="1">
                <a:solidFill>
                  <a:srgbClr val="0C0C0D"/>
                </a:solidFill>
              </a:rPr>
              <a:t>AI 升级横跨了四件事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3808EA-9D7C-45C0-82A3-56974FE3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05050"/>
            <a:ext cx="2143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B5270A-310A-4876-9748-1DA895F3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7172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C0C0D"/>
                </a:solidFill>
              </a:defRPr>
            </a:pPr>
            <a:r>
              <a:rPr sz="863" b="1">
                <a:solidFill>
                  <a:srgbClr val="0C0C0D"/>
                </a:solidFill>
              </a:rPr>
              <a:t>老板想要的结果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A840F8-661B-4745-AE88-488D29F5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663" y="2600325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5DFF"/>
                </a:solidFill>
              </a:defRPr>
            </a:pPr>
            <a:r>
              <a:rPr sz="825" b="0">
                <a:solidFill>
                  <a:srgbClr val="165DFF"/>
                </a:solidFill>
              </a:rPr>
              <a:t>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B022E7-5E8C-487B-9293-D0516EC2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33675"/>
            <a:ext cx="2143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A16193-BFC1-4906-8BEA-39F62921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00350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C0C0D"/>
                </a:solidFill>
              </a:defRPr>
            </a:pPr>
            <a:r>
              <a:rPr sz="863" b="1">
                <a:solidFill>
                  <a:srgbClr val="0C0C0D"/>
                </a:solidFill>
              </a:rPr>
              <a:t>一线员工的工作流程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AC72B3-F6AC-409F-91CB-3D8E42A7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663" y="3028950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5DFF"/>
                </a:solidFill>
              </a:defRPr>
            </a:pPr>
            <a:r>
              <a:rPr sz="825" b="0">
                <a:solidFill>
                  <a:srgbClr val="165DFF"/>
                </a:solidFill>
              </a:rPr>
              <a:t>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9D0164-4F3F-40B4-BC31-4771C084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62300"/>
            <a:ext cx="2143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4D17CE-A6E9-4552-A17D-51177FB5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2897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C0C0D"/>
                </a:solidFill>
              </a:defRPr>
            </a:pPr>
            <a:r>
              <a:rPr sz="863" b="1">
                <a:solidFill>
                  <a:srgbClr val="0C0C0D"/>
                </a:solidFill>
              </a:rPr>
              <a:t>数据和系统在哪里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9FF91E-2398-47CF-9DDB-B971F7A0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663" y="3457575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5DFF"/>
                </a:solidFill>
              </a:defRPr>
            </a:pPr>
            <a:r>
              <a:rPr sz="825" b="0">
                <a:solidFill>
                  <a:srgbClr val="165DFF"/>
                </a:solidFill>
              </a:rPr>
              <a:t>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85003F-9E75-4DDE-8999-D0F0BC1F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90925"/>
            <a:ext cx="2143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B043D5-B337-4399-B7A6-8E0B6798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57600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技术怎么做出来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C49C60-DC8B-461D-A169-D0205BE5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29075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0C0D"/>
                </a:solidFill>
              </a:defRPr>
            </a:pPr>
            <a:r>
              <a:rPr sz="900" b="1">
                <a:solidFill>
                  <a:srgbClr val="0C0C0D"/>
                </a:solidFill>
              </a:rPr>
              <a:t>少一层，项目就容易停住。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F0E8F1-DE94-47DC-A14F-EDD2E018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29125"/>
            <a:ext cx="2143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65DFF"/>
                </a:solidFill>
              </a:defRPr>
            </a:pPr>
            <a:r>
              <a:rPr sz="863" b="1">
                <a:solidFill>
                  <a:srgbClr val="165DFF"/>
                </a:solidFill>
              </a:rPr>
              <a:t>只听老板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AE786A-8F80-4206-AA4D-C470CB89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0057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7676B"/>
                </a:solidFill>
              </a:defRPr>
            </a:pPr>
            <a:r>
              <a:rPr sz="713" b="0">
                <a:solidFill>
                  <a:srgbClr val="67676B"/>
                </a:solidFill>
              </a:rPr>
              <a:t>方向很大，但找不到具体从哪项工作开始。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83676D-4382-452F-9D51-14DFC334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05375"/>
            <a:ext cx="2143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65DFF"/>
                </a:solidFill>
              </a:defRPr>
            </a:pPr>
            <a:r>
              <a:rPr sz="863" b="1">
                <a:solidFill>
                  <a:srgbClr val="165DFF"/>
                </a:solidFill>
              </a:rPr>
              <a:t>只听一线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45EE2D-61A1-4429-8D4F-1AAF6944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768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7676B"/>
                </a:solidFill>
              </a:defRPr>
            </a:pPr>
            <a:r>
              <a:rPr sz="713" b="0">
                <a:solidFill>
                  <a:srgbClr val="67676B"/>
                </a:solidFill>
              </a:rPr>
              <a:t>会得到很多零散需求，却不知道哪个最值得投入。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04EA83-1B20-47A0-88FE-215DB148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81625"/>
            <a:ext cx="2143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65DFF"/>
                </a:solidFill>
              </a:defRPr>
            </a:pPr>
            <a:r>
              <a:rPr sz="863" b="1">
                <a:solidFill>
                  <a:srgbClr val="165DFF"/>
                </a:solidFill>
              </a:rPr>
              <a:t>只找软件公司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C3B4AA-C3EF-4A86-9561-CD7CD8AB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5307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7676B"/>
                </a:solidFill>
              </a:defRPr>
            </a:pPr>
            <a:r>
              <a:rPr sz="713" b="0">
                <a:solidFill>
                  <a:srgbClr val="67676B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FE778A-E39B-4115-BE94-80BECDA9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857875"/>
            <a:ext cx="2143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65DFF"/>
                </a:solidFill>
              </a:defRPr>
            </a:pPr>
            <a:r>
              <a:rPr sz="863" b="1">
                <a:solidFill>
                  <a:srgbClr val="165DFF"/>
                </a:solidFill>
              </a:rPr>
              <a:t>直接买标准产品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723B2F-F323-4236-800C-8BC19396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029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7676B"/>
                </a:solidFill>
              </a:defRPr>
            </a:pPr>
            <a:r>
              <a:rPr sz="713" b="0">
                <a:solidFill>
                  <a:srgbClr val="67676B"/>
                </a:solidFill>
              </a:rPr>
              <a:t>上线很快，但公司的流程不一定适合它。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E3A921-0E3F-4468-AD81-7A7254AE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334125"/>
            <a:ext cx="2143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65DFF"/>
                </a:solidFill>
              </a:defRPr>
            </a:pPr>
            <a:r>
              <a:rPr sz="863" b="1">
                <a:solidFill>
                  <a:srgbClr val="165DFF"/>
                </a:solidFill>
              </a:rPr>
              <a:t>一开始就建大平台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96F13E-8017-4AF0-ABDA-F639AA45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50557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7676B"/>
                </a:solidFill>
              </a:defRPr>
            </a:pPr>
            <a:r>
              <a:rPr sz="713" b="0">
                <a:solidFill>
                  <a:srgbClr val="67676B"/>
                </a:solidFill>
              </a:rPr>
              <a:t>钱和时间先花出去了，业务价值还没有验证。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A5C16D-ADF2-4D08-9E0C-46BA4311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962775"/>
            <a:ext cx="4524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E09D8D-C318-4EC4-9384-9B9E9DC1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8025"/>
            <a:ext cx="429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企业需要一个人把业务、产品和技术接在一起。这就是 FDE 的工作。</a:t>
            </a:r>
          </a:p>
        </p:txBody>
      </p:sp>
    </p:spTree>
    <p:extLst>
      <p:ext uri="{BB962C8B-B14F-4D97-AF65-F5344CB8AC3E}">
        <p14:creationId xmlns:p14="http://schemas.microsoft.com/office/powerpoint/2010/main" val="497319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F0577B-4A5E-413B-B562-A00B05EA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7676B"/>
                </a:solidFill>
              </a:defRPr>
            </a:pPr>
            <a:r>
              <a:rPr sz="675" b="1">
                <a:solidFill>
                  <a:srgbClr val="67676B"/>
                </a:solidFill>
              </a:rPr>
              <a:t>What is 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2F1BA-712A-4444-8D8D-71C3AFEC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286DD-B644-4EF5-869F-80B9C34E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7B2DE-104C-4589-AF23-F32137D0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33425"/>
            <a:ext cx="4524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0C0D"/>
                </a:solidFill>
              </a:defRPr>
            </a:pPr>
            <a:r>
              <a:rPr sz="2850" b="1">
                <a:solidFill>
                  <a:srgbClr val="0C0C0D"/>
                </a:solidFill>
              </a:rPr>
              <a:t>FDE 从模糊问题开始，</a:t>
            </a:r>
          </a:p>
          <a:p xmlns:a="http://schemas.openxmlformats.org/drawingml/2006/main">
            <a:pPr algn="l">
              <a:defRPr sz="2850" b="1">
                <a:solidFill>
                  <a:srgbClr val="0C0C0D"/>
                </a:solidFill>
              </a:defRPr>
            </a:pPr>
            <a:r>
              <a:rPr sz="2850" b="1">
                <a:solidFill>
                  <a:srgbClr val="0C0C0D"/>
                </a:solidFill>
              </a:rPr>
              <a:t>做到结果出来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E7328-485D-4A5A-9388-C8156E59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23050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B"/>
                </a:solidFill>
              </a:defRPr>
            </a:pPr>
            <a:r>
              <a:rPr sz="1050" b="0">
                <a:solidFill>
                  <a:srgbClr val="67676B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67676B"/>
                </a:solidFill>
              </a:defRPr>
            </a:pPr>
            <a:r>
              <a:rPr sz="1050" b="0">
                <a:solidFill>
                  <a:srgbClr val="67676B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335a2600544da"/>
          <a:srcRect xmlns:a="http://schemas.openxmlformats.org/drawingml/2006/main" l="12545" t="0" r="125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33700" y="1885950"/>
            <a:ext cx="1990725" cy="1771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7D070-5152-438C-88FF-36213583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452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0C0D"/>
                </a:solidFill>
              </a:defRPr>
            </a:pPr>
            <a:r>
              <a:rPr sz="1125" b="1">
                <a:solidFill>
                  <a:srgbClr val="0C0C0D"/>
                </a:solidFill>
              </a:rPr>
              <a:t>问题看清后，再决定怎么做：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16670-9A5C-423C-853F-7A819572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00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87867-78A0-48BF-A1D7-A7B38530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4162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C0C0D"/>
                </a:solidFill>
              </a:defRPr>
            </a:pPr>
            <a:r>
              <a:rPr sz="1050" b="0">
                <a:solidFill>
                  <a:srgbClr val="0C0C0D"/>
                </a:solidFill>
              </a:rPr>
              <a:t>现成软件能解决，就直接用现成软件；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C01F7-34EB-4789-A459-EB4AB39B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DA294-D5A2-46B9-82F5-ACCEE763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EF87D-13CD-43C4-861C-161D0097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4162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C0C0D"/>
                </a:solidFill>
              </a:defRPr>
            </a:pPr>
            <a:r>
              <a:rPr sz="1050" b="0">
                <a:solidFill>
                  <a:srgbClr val="0C0C0D"/>
                </a:solidFill>
              </a:rPr>
              <a:t>一个 Skill 能解决，就不做大系统；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9AC50-FA0B-43A3-9EF7-4F56A428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49EF6-13FE-4F84-AC94-99FC7E7C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57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C98CF-7073-47D5-A7D8-5C5735B6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4162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C0C0D"/>
                </a:solidFill>
              </a:defRPr>
            </a:pPr>
            <a:r>
              <a:rPr sz="1050" b="0">
                <a:solidFill>
                  <a:srgbClr val="0C0C0D"/>
                </a:solidFill>
              </a:rPr>
              <a:t>需要连接原有系统，就做集成；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BFD7F9-D9B0-436A-ABF7-C6B175B5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8381B5-C9A8-4067-A3B8-BA753F0F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00A26E-3E9C-4368-9D27-58D90263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4162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C0C0D"/>
                </a:solidFill>
              </a:defRPr>
            </a:pPr>
            <a:r>
              <a:rPr sz="1050" b="0">
                <a:solidFill>
                  <a:srgbClr val="0C0C0D"/>
                </a:solidFill>
              </a:rPr>
              <a:t>需要整理数据，就先建数据库或知识库；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808D16-AE78-4E43-9210-507EA292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F27BC7-B552-401E-AD1E-FFC52574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DE6F3C-D899-430B-BEA5-8FCDA66E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96050"/>
            <a:ext cx="4162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C0C0D"/>
                </a:solidFill>
              </a:defRPr>
            </a:pPr>
            <a:r>
              <a:rPr sz="1050" b="0">
                <a:solidFill>
                  <a:srgbClr val="0C0C0D"/>
                </a:solidFill>
              </a:rPr>
              <a:t>一条流程适合 Agent，就把人和 Agent 的分工设计清楚。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C0C585-D796-4CE2-AABE-4AFFEB53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833358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433334-227C-456A-A33E-510A6917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7676B"/>
                </a:solidFill>
              </a:defRPr>
            </a:pPr>
            <a:r>
              <a:rPr sz="675" b="1">
                <a:solidFill>
                  <a:srgbClr val="67676B"/>
                </a:solidFill>
              </a:rPr>
              <a:t>我们能做什么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EF572-76AC-4DF1-B456-A2E66FFD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EA46E-822C-4AE9-BC48-8566F8EC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0AB02-F0C6-494A-96AE-A33DC86D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4524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C0C0D"/>
                </a:solidFill>
              </a:defRPr>
            </a:pPr>
            <a:r>
              <a:rPr sz="2775" b="1">
                <a:solidFill>
                  <a:srgbClr val="0C0C0D"/>
                </a:solidFill>
              </a:rPr>
              <a:t>从一个小工具，</a:t>
            </a:r>
          </a:p>
          <a:p xmlns:a="http://schemas.openxmlformats.org/drawingml/2006/main">
            <a:pPr algn="l">
              <a:defRPr sz="2775" b="1">
                <a:solidFill>
                  <a:srgbClr val="0C0C0D"/>
                </a:solidFill>
              </a:defRPr>
            </a:pPr>
            <a:r>
              <a:rPr sz="2775" b="1">
                <a:solidFill>
                  <a:srgbClr val="0C0C0D"/>
                </a:solidFill>
              </a:rPr>
              <a:t>到一次公司级 AI 升级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B4CBE-47B8-4BC2-835D-FDB8AE3B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24025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F645E-6A84-463E-8721-0DD4F31D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37488-00EA-4BC0-9B2E-126482B8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478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C0C0D"/>
                </a:solidFill>
              </a:defRPr>
            </a:pPr>
            <a:r>
              <a:rPr sz="1275" b="1">
                <a:solidFill>
                  <a:srgbClr val="0C0C0D"/>
                </a:solidFill>
              </a:rPr>
              <a:t>一个具体问题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59013-236B-4991-BB84-7161F5BE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847850"/>
            <a:ext cx="2552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C0C0D"/>
                </a:solidFill>
              </a:defRPr>
            </a:pPr>
            <a:r>
              <a:rPr sz="863" b="0">
                <a:solidFill>
                  <a:srgbClr val="0C0C0D"/>
                </a:solidFill>
              </a:rPr>
              <a:t>— 企业专属 Skill</a:t>
            </a:r>
          </a:p>
          <a:p xmlns:a="http://schemas.openxmlformats.org/drawingml/2006/main">
            <a:pPr algn="l">
              <a:defRPr sz="863" b="0">
                <a:solidFill>
                  <a:srgbClr val="0C0C0D"/>
                </a:solidFill>
              </a:defRPr>
            </a:pPr>
            <a:r>
              <a:rPr sz="863" b="0">
                <a:solidFill>
                  <a:srgbClr val="0C0C0D"/>
                </a:solidFill>
              </a:rPr>
              <a:t>— 文档、表格和图片处理</a:t>
            </a:r>
          </a:p>
          <a:p xmlns:a="http://schemas.openxmlformats.org/drawingml/2006/main">
            <a:pPr algn="l">
              <a:defRPr sz="863" b="0">
                <a:solidFill>
                  <a:srgbClr val="0C0C0D"/>
                </a:solidFill>
              </a:defRPr>
            </a:pPr>
            <a:r>
              <a:rPr sz="863" b="0">
                <a:solidFill>
                  <a:srgbClr val="0C0C0D"/>
                </a:solidFill>
              </a:rPr>
              <a:t>— 报价、录单、对账、报告自动化</a:t>
            </a:r>
          </a:p>
          <a:p xmlns:a="http://schemas.openxmlformats.org/drawingml/2006/main">
            <a:pPr algn="l">
              <a:defRPr sz="863" b="0">
                <a:solidFill>
                  <a:srgbClr val="0C0C0D"/>
                </a:solidFill>
              </a:defRPr>
            </a:pPr>
            <a:r>
              <a:rPr sz="863" b="0">
                <a:solidFill>
                  <a:srgbClr val="0C0C0D"/>
                </a:solidFill>
              </a:rPr>
              <a:t>— 小型定制 SaaS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13EE1-C4E9-4BE9-AF59-D09761F0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146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676B"/>
                </a:solidFill>
              </a:defRPr>
            </a:pPr>
            <a:r>
              <a:rPr sz="788" b="0">
                <a:solidFill>
                  <a:srgbClr val="67676B"/>
                </a:solidFill>
              </a:rPr>
              <a:t>适合：问题明确，希望尽快看到效果。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F159C-2682-44DD-9FCF-D149E20E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055BD-4B9A-4F81-A8F1-4E5B0525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718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4BA5E-9FB1-4F57-80C0-59A4D986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71825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C0C0D"/>
                </a:solidFill>
              </a:defRPr>
            </a:pPr>
            <a:r>
              <a:rPr sz="1275" b="1">
                <a:solidFill>
                  <a:srgbClr val="0C0C0D"/>
                </a:solidFill>
              </a:rPr>
              <a:t>一条业务流程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2DA58B-8D0C-4BC3-BA34-C6A4D605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171825"/>
            <a:ext cx="2552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C0C0D"/>
                </a:solidFill>
              </a:defRPr>
            </a:pPr>
            <a:r>
              <a:rPr sz="863" b="0">
                <a:solidFill>
                  <a:srgbClr val="0C0C0D"/>
                </a:solidFill>
              </a:rPr>
              <a:t>— 访谈和流程整理</a:t>
            </a:r>
          </a:p>
          <a:p xmlns:a="http://schemas.openxmlformats.org/drawingml/2006/main">
            <a:pPr algn="l">
              <a:defRPr sz="863" b="0">
                <a:solidFill>
                  <a:srgbClr val="0C0C0D"/>
                </a:solidFill>
              </a:defRPr>
            </a:pPr>
            <a:r>
              <a:rPr sz="863" b="0">
                <a:solidFill>
                  <a:srgbClr val="0C0C0D"/>
                </a:solidFill>
              </a:rPr>
              <a:t>— 多角色 Agent</a:t>
            </a:r>
          </a:p>
          <a:p xmlns:a="http://schemas.openxmlformats.org/drawingml/2006/main">
            <a:pPr algn="l">
              <a:defRPr sz="863" b="0">
                <a:solidFill>
                  <a:srgbClr val="0C0C0D"/>
                </a:solidFill>
              </a:defRPr>
            </a:pPr>
            <a:r>
              <a:rPr sz="863" b="0">
                <a:solidFill>
                  <a:srgbClr val="0C0C0D"/>
                </a:solidFill>
              </a:rPr>
              <a:t>— ERP、CRM、飞书、钉钉、企微等系统连接</a:t>
            </a:r>
          </a:p>
          <a:p xmlns:a="http://schemas.openxmlformats.org/drawingml/2006/main">
            <a:pPr algn="l">
              <a:defRPr sz="863" b="0">
                <a:solidFill>
                  <a:srgbClr val="0C0C0D"/>
                </a:solidFill>
              </a:defRPr>
            </a:pPr>
            <a:r>
              <a:rPr sz="863" b="0">
                <a:solidFill>
                  <a:srgbClr val="0C0C0D"/>
                </a:solidFill>
              </a:rPr>
              <a:t>— 异常处理和人工确认</a:t>
            </a:r>
          </a:p>
          <a:p xmlns:a="http://schemas.openxmlformats.org/drawingml/2006/main">
            <a:pPr algn="l">
              <a:defRPr sz="863" b="0">
                <a:solidFill>
                  <a:srgbClr val="0C0C0D"/>
                </a:solidFill>
              </a:defRPr>
            </a:pPr>
            <a:r>
              <a:rPr sz="863" b="0">
                <a:solidFill>
                  <a:srgbClr val="0C0C0D"/>
                </a:solidFill>
              </a:rPr>
              <a:t>— 进度、结果和操作记录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C17B0-63C5-4F19-B851-E8AB0196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386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676B"/>
                </a:solidFill>
              </a:defRPr>
            </a:pPr>
            <a:r>
              <a:rPr sz="788" b="0">
                <a:solidFill>
                  <a:srgbClr val="67676B"/>
                </a:solidFill>
              </a:rPr>
              <a:t>适合：工作跨多人、跨系统，靠人工反复传递。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8B3B9B-8C14-407A-93D4-FB045C63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71975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6EA73-8CEB-4229-9C4C-426FB3D1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1E96A-254D-41A4-BF95-61505D0A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9580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C0C0D"/>
                </a:solidFill>
              </a:defRPr>
            </a:pPr>
            <a:r>
              <a:rPr sz="1275" b="1">
                <a:solidFill>
                  <a:srgbClr val="0C0C0D"/>
                </a:solidFill>
              </a:rPr>
              <a:t>一套数据基础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19A5C-6FB3-49A6-93AB-7E91C971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495800"/>
            <a:ext cx="2552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C0C0D"/>
                </a:solidFill>
              </a:defRPr>
            </a:pPr>
            <a:r>
              <a:rPr sz="863" b="0">
                <a:solidFill>
                  <a:srgbClr val="0C0C0D"/>
                </a:solidFill>
              </a:rPr>
              <a:t>— 业务数据库</a:t>
            </a:r>
          </a:p>
          <a:p xmlns:a="http://schemas.openxmlformats.org/drawingml/2006/main">
            <a:pPr algn="l">
              <a:defRPr sz="863" b="0">
                <a:solidFill>
                  <a:srgbClr val="0C0C0D"/>
                </a:solidFill>
              </a:defRPr>
            </a:pPr>
            <a:r>
              <a:rPr sz="863" b="0">
                <a:solidFill>
                  <a:srgbClr val="0C0C0D"/>
                </a:solidFill>
              </a:rPr>
              <a:t>— 企业知识库</a:t>
            </a:r>
          </a:p>
          <a:p xmlns:a="http://schemas.openxmlformats.org/drawingml/2006/main">
            <a:pPr algn="l">
              <a:defRPr sz="863" b="0">
                <a:solidFill>
                  <a:srgbClr val="0C0C0D"/>
                </a:solidFill>
              </a:defRPr>
            </a:pPr>
            <a:r>
              <a:rPr sz="863" b="0">
                <a:solidFill>
                  <a:srgbClr val="0C0C0D"/>
                </a:solidFill>
              </a:rPr>
              <a:t>— 数据整理和统一命名</a:t>
            </a:r>
          </a:p>
          <a:p xmlns:a="http://schemas.openxmlformats.org/drawingml/2006/main">
            <a:pPr algn="l">
              <a:defRPr sz="863" b="0">
                <a:solidFill>
                  <a:srgbClr val="0C0C0D"/>
                </a:solidFill>
              </a:defRPr>
            </a:pPr>
            <a:r>
              <a:rPr sz="863" b="0">
                <a:solidFill>
                  <a:srgbClr val="0C0C0D"/>
                </a:solidFill>
              </a:rPr>
              <a:t>— 权限和使用范围</a:t>
            </a:r>
          </a:p>
          <a:p xmlns:a="http://schemas.openxmlformats.org/drawingml/2006/main">
            <a:pPr algn="l">
              <a:defRPr sz="863" b="0">
                <a:solidFill>
                  <a:srgbClr val="0C0C0D"/>
                </a:solidFill>
              </a:defRPr>
            </a:pPr>
            <a:r>
              <a:rPr sz="863" b="0">
                <a:solidFill>
                  <a:srgbClr val="0C0C0D"/>
                </a:solidFill>
              </a:rPr>
              <a:t>— 为 Agent 提供可信的数据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47F7AC-B8D4-44FD-A286-583F4904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3625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676B"/>
                </a:solidFill>
              </a:defRPr>
            </a:pPr>
            <a:r>
              <a:rPr sz="788" b="0">
                <a:solidFill>
                  <a:srgbClr val="67676B"/>
                </a:solidFill>
              </a:rPr>
              <a:t>适合：资料很多，但找不到、用不准、无法共享。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28B02D-A114-4129-9324-267AE7E2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588F9F-6779-42F8-8A67-6FFBDE58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97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BEFBB0-72FA-45AF-8C39-09FC2091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819775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C0C0D"/>
                </a:solidFill>
              </a:defRPr>
            </a:pPr>
            <a:r>
              <a:rPr sz="1275" b="1">
                <a:solidFill>
                  <a:srgbClr val="0C0C0D"/>
                </a:solidFill>
              </a:rPr>
              <a:t>一次公司级升级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28642E-203D-406B-BABA-CB37D55E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819775"/>
            <a:ext cx="2552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C0C0D"/>
                </a:solidFill>
              </a:defRPr>
            </a:pPr>
            <a:r>
              <a:rPr sz="863" b="0">
                <a:solidFill>
                  <a:srgbClr val="0C0C0D"/>
                </a:solidFill>
              </a:rPr>
              <a:t>— 找出各部门适合 AI 的工作</a:t>
            </a:r>
          </a:p>
          <a:p xmlns:a="http://schemas.openxmlformats.org/drawingml/2006/main">
            <a:pPr algn="l">
              <a:defRPr sz="863" b="0">
                <a:solidFill>
                  <a:srgbClr val="0C0C0D"/>
                </a:solidFill>
              </a:defRPr>
            </a:pPr>
            <a:r>
              <a:rPr sz="863" b="0">
                <a:solidFill>
                  <a:srgbClr val="0C0C0D"/>
                </a:solidFill>
              </a:rPr>
              <a:t>— 重新设计人和 Agent 的分工</a:t>
            </a:r>
          </a:p>
          <a:p xmlns:a="http://schemas.openxmlformats.org/drawingml/2006/main">
            <a:pPr algn="l">
              <a:defRPr sz="863" b="0">
                <a:solidFill>
                  <a:srgbClr val="0C0C0D"/>
                </a:solidFill>
              </a:defRPr>
            </a:pPr>
            <a:r>
              <a:rPr sz="863" b="0">
                <a:solidFill>
                  <a:srgbClr val="0C0C0D"/>
                </a:solidFill>
              </a:rPr>
              <a:t>— 建立权限、审批和责任记录</a:t>
            </a:r>
          </a:p>
          <a:p xmlns:a="http://schemas.openxmlformats.org/drawingml/2006/main">
            <a:pPr algn="l">
              <a:defRPr sz="863" b="0">
                <a:solidFill>
                  <a:srgbClr val="0C0C0D"/>
                </a:solidFill>
              </a:defRPr>
            </a:pPr>
            <a:r>
              <a:rPr sz="863" b="0">
                <a:solidFill>
                  <a:srgbClr val="0C0C0D"/>
                </a:solidFill>
              </a:rPr>
              <a:t>— 制定试点顺序和后续计划</a:t>
            </a:r>
          </a:p>
          <a:p xmlns:a="http://schemas.openxmlformats.org/drawingml/2006/main">
            <a:pPr algn="l">
              <a:defRPr sz="863" b="0">
                <a:solidFill>
                  <a:srgbClr val="0C0C0D"/>
                </a:solidFill>
              </a:defRPr>
            </a:pPr>
            <a:r>
              <a:rPr sz="863" b="0">
                <a:solidFill>
                  <a:srgbClr val="0C0C0D"/>
                </a:solidFill>
              </a:rPr>
              <a:t>— 培训企业自己的 Agent Boss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4024F8-D48B-4F83-AD3C-D30E756D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6865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676B"/>
                </a:solidFill>
              </a:defRPr>
            </a:pPr>
            <a:r>
              <a:rPr sz="788" b="0">
                <a:solidFill>
                  <a:srgbClr val="67676B"/>
                </a:solidFill>
              </a:rPr>
              <a:t>适合：老板希望系统推进，不想让各部门各自尝试。</a:t>
            </a:r>
          </a:p>
        </p:txBody>
      </p:sp>
    </p:spTree>
    <p:extLst>
      <p:ext uri="{BB962C8B-B14F-4D97-AF65-F5344CB8AC3E}">
        <p14:creationId xmlns:p14="http://schemas.microsoft.com/office/powerpoint/2010/main" val="12696691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0259B7-D04F-47D4-8B99-50D4285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7676B"/>
                </a:solidFill>
              </a:defRPr>
            </a:pPr>
            <a:r>
              <a:rPr sz="675" b="1">
                <a:solidFill>
                  <a:srgbClr val="67676B"/>
                </a:solidFill>
              </a:rPr>
              <a:t>我们怎么开始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3BC54-B86E-4E2F-959F-793AF7E7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4350F-B6D3-4AD4-AACA-4C4C8174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29C0F-239E-4A41-A322-9B754752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33425"/>
            <a:ext cx="4524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C0C0D"/>
                </a:solidFill>
              </a:defRPr>
            </a:pPr>
            <a:r>
              <a:rPr sz="3000" b="1">
                <a:solidFill>
                  <a:srgbClr val="0C0C0D"/>
                </a:solidFill>
              </a:rPr>
              <a:t>先做一次诊断，</a:t>
            </a:r>
          </a:p>
          <a:p xmlns:a="http://schemas.openxmlformats.org/drawingml/2006/main">
            <a:pPr algn="l">
              <a:defRPr sz="3000" b="1">
                <a:solidFill>
                  <a:srgbClr val="0C0C0D"/>
                </a:solidFill>
              </a:defRPr>
            </a:pPr>
            <a:r>
              <a:rPr sz="3000" b="1">
                <a:solidFill>
                  <a:srgbClr val="0C0C0D"/>
                </a:solidFill>
              </a:rPr>
              <a:t>再决定要不要开发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8B162-FB0C-436F-A095-620B6476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7167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5DFF"/>
                </a:solidFill>
              </a:defRPr>
            </a:pPr>
            <a:r>
              <a:rPr sz="2925" b="1">
                <a:solidFill>
                  <a:srgbClr val="165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0A3F6-568F-4050-8A49-5BE805FF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990725"/>
            <a:ext cx="36576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0C0D"/>
                </a:solidFill>
              </a:defRPr>
            </a:pPr>
            <a:r>
              <a:rPr sz="1050" b="1">
                <a:solidFill>
                  <a:srgbClr val="0C0C0D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6D4C4-171A-4C79-B2E9-BD04D6BF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762250"/>
            <a:ext cx="365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5257D-801A-4871-8649-9257DE08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C0C0D"/>
                </a:solidFill>
              </a:defRPr>
            </a:pPr>
            <a:r>
              <a:rPr sz="2925" b="1">
                <a:solidFill>
                  <a:srgbClr val="0C0C0D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39864-1819-4A0A-B921-45364A66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952750"/>
            <a:ext cx="36576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C0C0D"/>
                </a:solidFill>
              </a:defRPr>
            </a:pPr>
            <a:r>
              <a:rPr sz="1050" b="0">
                <a:solidFill>
                  <a:srgbClr val="0C0C0D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AB375-C344-4935-9E3B-83B8E4B9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724275"/>
            <a:ext cx="365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9CEA1-E2F1-44ED-BFC1-42601ECA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957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C0C0D"/>
                </a:solidFill>
              </a:defRPr>
            </a:pPr>
            <a:r>
              <a:rPr sz="2925" b="1">
                <a:solidFill>
                  <a:srgbClr val="0C0C0D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45F35-98B0-4158-9B8F-8E3E4050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914775"/>
            <a:ext cx="36576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C0C0D"/>
                </a:solidFill>
              </a:defRPr>
            </a:pPr>
            <a:r>
              <a:rPr sz="1050" b="0">
                <a:solidFill>
                  <a:srgbClr val="0C0C0D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6B4B7-4C9D-4B9B-B61B-4032BE8E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686300"/>
            <a:ext cx="365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812DD-DAFA-43D0-AFEF-8653C641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C0C0D"/>
                </a:solidFill>
              </a:defRPr>
            </a:pPr>
            <a:r>
              <a:rPr sz="2925" b="1">
                <a:solidFill>
                  <a:srgbClr val="0C0C0D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C93CB-557C-48F7-86E9-5F26189C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76800"/>
            <a:ext cx="36576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C0C0D"/>
                </a:solidFill>
              </a:defRPr>
            </a:pPr>
            <a:r>
              <a:rPr sz="1050" b="0">
                <a:solidFill>
                  <a:srgbClr val="0C0C0D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E3C71E-7267-403A-B850-1090748D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648325"/>
            <a:ext cx="365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A6F97D-E8B7-40E3-93C8-DEF6D749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977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C0C0D"/>
                </a:solidFill>
              </a:defRPr>
            </a:pPr>
            <a:r>
              <a:rPr sz="2925" b="1">
                <a:solidFill>
                  <a:srgbClr val="0C0C0D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D8C8B1-5267-4D9C-A746-047947C5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838825"/>
            <a:ext cx="36576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C0C0D"/>
                </a:solidFill>
              </a:defRPr>
            </a:pPr>
            <a:r>
              <a:rPr sz="1050" b="0">
                <a:solidFill>
                  <a:srgbClr val="0C0C0D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539C4C-FB91-4112-BEC0-1510B1F6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6610350"/>
            <a:ext cx="365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644772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351C92-7281-4B9C-8A51-1343D56B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7676B"/>
                </a:solidFill>
              </a:defRPr>
            </a:pPr>
            <a:r>
              <a:rPr sz="675" b="1">
                <a:solidFill>
                  <a:srgbClr val="67676B"/>
                </a:solidFill>
              </a:rPr>
              <a:t>一次试点会交付什么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85AB0-3D03-4F08-A4BF-AA4C5389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AA500-7E26-47D7-81C9-46A66008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43CB2-2E8A-49A3-843B-3C516A15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33425"/>
            <a:ext cx="45243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C0C0D"/>
                </a:solidFill>
              </a:defRPr>
            </a:pPr>
            <a:r>
              <a:rPr sz="2925" b="1">
                <a:solidFill>
                  <a:srgbClr val="0C0C0D"/>
                </a:solidFill>
              </a:rPr>
              <a:t>不交一个演示，</a:t>
            </a:r>
          </a:p>
          <a:p xmlns:a="http://schemas.openxmlformats.org/drawingml/2006/main">
            <a:pPr algn="l">
              <a:defRPr sz="2925" b="1">
                <a:solidFill>
                  <a:srgbClr val="0C0C0D"/>
                </a:solidFill>
              </a:defRPr>
            </a:pPr>
            <a:r>
              <a:rPr sz="2925" b="1">
                <a:solidFill>
                  <a:srgbClr val="0C0C0D"/>
                </a:solidFill>
              </a:rPr>
              <a:t>交一套能验证的东西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2E056-AAB2-49A5-AA0E-882619EB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4524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5DFF"/>
                </a:solidFill>
              </a:defRPr>
            </a:pPr>
            <a:r>
              <a:rPr sz="825" b="1">
                <a:solidFill>
                  <a:srgbClr val="165DFF"/>
                </a:solidFill>
              </a:rPr>
              <a:t>根据项目范围，试点通常包括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E155B-4653-4F17-889B-CCFBEEC2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6765D-BFB5-4891-BFE4-5E843098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431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C0C0D"/>
                </a:solidFill>
              </a:defRPr>
            </a:pPr>
            <a:r>
              <a:rPr sz="1013" b="1">
                <a:solidFill>
                  <a:srgbClr val="0C0C0D"/>
                </a:solidFill>
              </a:rPr>
              <a:t>原来的工作流程图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E0928-C68C-43E9-906A-F89B79F1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289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45249-CA18-4AF0-86E0-A7E0CBBB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3431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68367-9AE9-40BE-B1E1-411A30D6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431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C0C0D"/>
                </a:solidFill>
              </a:defRPr>
            </a:pPr>
            <a:r>
              <a:rPr sz="1013" b="1">
                <a:solidFill>
                  <a:srgbClr val="0C0C0D"/>
                </a:solidFill>
              </a:rPr>
              <a:t>找到的问题和改造范围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FAD42-A1BC-4F55-950E-1339942A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289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34D419-BAA6-4027-8968-10F0AFFA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778061-0A0F-4E0F-9829-DEF38C0A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289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C0C0D"/>
                </a:solidFill>
              </a:defRPr>
            </a:pPr>
            <a:r>
              <a:rPr sz="1013" b="1">
                <a:solidFill>
                  <a:srgbClr val="0C0C0D"/>
                </a:solidFill>
              </a:rPr>
              <a:t>可以运行的原型或系统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9E1E1-F82E-4F58-B6C3-1A22A1B3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147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75CE4-C3A8-494F-9B83-C4A75F0B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0289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21E9CA-34F5-4A2F-ADA8-C7275625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C0C0D"/>
                </a:solidFill>
              </a:defRPr>
            </a:pPr>
            <a:r>
              <a:rPr sz="1013" b="1">
                <a:solidFill>
                  <a:srgbClr val="0C0C0D"/>
                </a:solidFill>
              </a:rPr>
              <a:t>使用的数据和权限说明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F8AD5-ED3C-4178-A372-702E7BAB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147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B92D02-2B01-4B18-8B5B-BBF8593D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5A14C6-526E-467E-A00C-F01329FC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147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C0C0D"/>
                </a:solidFill>
              </a:defRPr>
            </a:pPr>
            <a:r>
              <a:rPr sz="1013" b="1">
                <a:solidFill>
                  <a:srgbClr val="0C0C0D"/>
                </a:solidFill>
              </a:rPr>
              <a:t>人和 Agent 各自负责什么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6C8B44-D030-457C-B158-A4A1DFE0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005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B5127B-2EB0-4664-9BB1-40D14168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7147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782457-2071-45D6-B158-3C8641DD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147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C0C0D"/>
                </a:solidFill>
              </a:defRPr>
            </a:pPr>
            <a:r>
              <a:rPr sz="1013" b="1">
                <a:solidFill>
                  <a:srgbClr val="0C0C0D"/>
                </a:solidFill>
              </a:rPr>
              <a:t>哪些动作需要人工确认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8E8AC4-CE67-46BD-98A0-CD9DE1AB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005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2E6AFC-1845-4903-A055-D8A3326B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6F0C12-C76E-47DE-A3C1-B5095891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005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C0C0D"/>
                </a:solidFill>
              </a:defRPr>
            </a:pPr>
            <a:r>
              <a:rPr sz="1013" b="1">
                <a:solidFill>
                  <a:srgbClr val="0C0C0D"/>
                </a:solidFill>
              </a:rPr>
              <a:t>上线前后的对比方法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DC7913-D014-49CB-A0FB-6E9FB532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863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DC4ACF-E95F-4A73-AA83-58349A24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4005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7EE74D-F3B7-465F-A845-2AC2E8A9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005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C0C0D"/>
                </a:solidFill>
              </a:defRPr>
            </a:pPr>
            <a:r>
              <a:rPr sz="1013" b="1">
                <a:solidFill>
                  <a:srgbClr val="0C0C0D"/>
                </a:solidFill>
              </a:rPr>
              <a:t>继续做、调整或停止的建议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9CB60-1BEC-4F0F-85BE-40F587A8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863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93988F-20FB-4C70-ACDD-C487397B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45243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8A1850-9FFD-4497-A8D5-D25B6411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14975"/>
            <a:ext cx="418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我们会提前写清楚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99CCBC-FF64-4334-B500-21D428EA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9597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01  谁负责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F80408-67AB-4C05-A76D-A0F6C5AA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9597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02  做到哪里算完成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7511FF-1B22-4355-85C9-890036F5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03  什么不在这次范围内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6C2EF0-3F62-4A1B-BE2F-7E850C9C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3246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04  怎么判断有没有效果</a:t>
            </a:r>
          </a:p>
        </p:txBody>
      </p:sp>
    </p:spTree>
    <p:extLst>
      <p:ext uri="{BB962C8B-B14F-4D97-AF65-F5344CB8AC3E}">
        <p14:creationId xmlns:p14="http://schemas.microsoft.com/office/powerpoint/2010/main" val="1215298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60B47B-82D3-4DC2-9253-5F3260EE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7676B"/>
                </a:solidFill>
              </a:defRPr>
            </a:pPr>
            <a:r>
              <a:rPr sz="675" b="1">
                <a:solidFill>
                  <a:srgbClr val="67676B"/>
                </a:solidFill>
              </a:rPr>
              <a:t>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31789-5304-49AC-A1D5-25E3984B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F1065-03E5-4505-8871-2C73A054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3E790-2F63-4FC3-93A3-350D0A57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33425"/>
            <a:ext cx="4524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C0C0D"/>
                </a:solidFill>
              </a:defRPr>
            </a:pPr>
            <a:r>
              <a:rPr sz="2550" b="1">
                <a:solidFill>
                  <a:srgbClr val="0C0C0D"/>
                </a:solidFill>
              </a:rPr>
              <a:t>我们不只展示系统，</a:t>
            </a:r>
          </a:p>
          <a:p xmlns:a="http://schemas.openxmlformats.org/drawingml/2006/main">
            <a:pPr algn="l">
              <a:defRPr sz="2550" b="1">
                <a:solidFill>
                  <a:srgbClr val="0C0C0D"/>
                </a:solidFill>
              </a:defRPr>
            </a:pPr>
            <a:r>
              <a:rPr sz="2550" b="1">
                <a:solidFill>
                  <a:srgbClr val="0C0C0D"/>
                </a:solidFill>
              </a:rPr>
              <a:t>更要说清业务发生了什么变化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ADB47-53DB-486B-B162-8F5C3D82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0225"/>
            <a:ext cx="4524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1356A-BBD5-491A-9474-ECC4C18E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33575"/>
            <a:ext cx="4257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7676B"/>
                </a:solidFill>
              </a:defRPr>
            </a:pPr>
            <a:r>
              <a:rPr sz="863" b="0">
                <a:solidFill>
                  <a:srgbClr val="67676B"/>
                </a:solidFill>
              </a:rPr>
              <a:t>具体案例等待客户确认。未获授权不放企业名称和 Logo；没有数据，不写百分比。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4A093-4CAC-417C-81CC-E2668EDF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452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5DFF"/>
                </a:solidFill>
              </a:defRPr>
            </a:pPr>
            <a:r>
              <a:rPr sz="825" b="1">
                <a:solidFill>
                  <a:srgbClr val="165DFF"/>
                </a:solidFill>
              </a:rPr>
              <a:t>我们服务过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602D5-929A-4F9A-A12A-DF805FF2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62275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8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4BBDB-F9A4-4501-8B04-4B935576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33725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Logo 待补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026E4-0643-4600-8FA7-B5E46451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962275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8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AA2C9-B2A6-4AE3-8BA4-FAB07ED3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133725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Logo 待补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445E99-1BB4-41DA-8DF8-715C8E07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62275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8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4A561-61A1-4F4C-BA35-33A46603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33725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Logo 待补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99AB2B-3B31-4094-AFBD-300AB23C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62275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8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C6AEAA-2D49-47C3-9241-C5E83186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33725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Logo 待补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6A9D09-DB37-45F5-8DC8-652C524B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5DFF"/>
                </a:solidFill>
              </a:defRPr>
            </a:pPr>
            <a:r>
              <a:rPr sz="825" b="1">
                <a:solidFill>
                  <a:srgbClr val="165DFF"/>
                </a:solidFill>
              </a:rPr>
              <a:t>案例 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924D48-BEB2-4B6D-AE13-36880EA7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362B91-8360-4815-9B94-5AB79697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14825"/>
            <a:ext cx="981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C0C0D"/>
                </a:solidFill>
              </a:defRPr>
            </a:pPr>
            <a:r>
              <a:rPr sz="863" b="1">
                <a:solidFill>
                  <a:srgbClr val="0C0C0D"/>
                </a:solidFill>
              </a:rPr>
              <a:t>原来怎么做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55C6D6-B6C0-4F99-834E-C864E70B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20859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ECEA13-A5BE-402E-ABD5-CDEC4673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314825"/>
            <a:ext cx="981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C0C0D"/>
                </a:solidFill>
              </a:defRPr>
            </a:pPr>
            <a:r>
              <a:rPr sz="863" b="1">
                <a:solidFill>
                  <a:srgbClr val="0C0C0D"/>
                </a:solidFill>
              </a:rPr>
              <a:t>我们发现的问题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2B4BEF-F58D-4E18-B8CF-7A0CCF14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552950"/>
            <a:ext cx="20859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352C92-76E6-49FE-A9A4-C720B538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29175"/>
            <a:ext cx="981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C0C0D"/>
                </a:solidFill>
              </a:defRPr>
            </a:pPr>
            <a:r>
              <a:rPr sz="863" b="1">
                <a:solidFill>
                  <a:srgbClr val="0C0C0D"/>
                </a:solidFill>
              </a:rPr>
              <a:t>我们做了什么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85892B-3EB7-46FB-9AC0-E86A0E1D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20859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2E2B6C-FAA3-4975-8135-BD6B3F93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829175"/>
            <a:ext cx="981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C0C0D"/>
                </a:solidFill>
              </a:defRPr>
            </a:pPr>
            <a:r>
              <a:rPr sz="863" b="1">
                <a:solidFill>
                  <a:srgbClr val="0C0C0D"/>
                </a:solidFill>
              </a:rPr>
              <a:t>上线后的变化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16014F-6514-4343-BDFC-693756C4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067300"/>
            <a:ext cx="20859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AA4CED-AAA5-40B2-B2A3-D37D1603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149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5DFF"/>
                </a:solidFill>
              </a:defRPr>
            </a:pPr>
            <a:r>
              <a:rPr sz="825" b="1">
                <a:solidFill>
                  <a:srgbClr val="165DFF"/>
                </a:solidFill>
              </a:rPr>
              <a:t>案例 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130DEC-7E46-452D-905B-0761FA03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28B875-6893-41AA-9B3C-B5AD385A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981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C0C0D"/>
                </a:solidFill>
              </a:defRPr>
            </a:pPr>
            <a:r>
              <a:rPr sz="863" b="1">
                <a:solidFill>
                  <a:srgbClr val="0C0C0D"/>
                </a:solidFill>
              </a:rPr>
              <a:t>原来怎么做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DF4A0D-7801-43CF-8AAD-D5C9045D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20859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AD5CA9-C7F6-4537-8597-D1FEDE5E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972175"/>
            <a:ext cx="981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C0C0D"/>
                </a:solidFill>
              </a:defRPr>
            </a:pPr>
            <a:r>
              <a:rPr sz="863" b="1">
                <a:solidFill>
                  <a:srgbClr val="0C0C0D"/>
                </a:solidFill>
              </a:rPr>
              <a:t>我们发现的问题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979B3B-EEC7-44F2-9707-7C10A2B1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6210300"/>
            <a:ext cx="20859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8BA266-8425-4B36-954B-E771A90A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981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C0C0D"/>
                </a:solidFill>
              </a:defRPr>
            </a:pPr>
            <a:r>
              <a:rPr sz="863" b="1">
                <a:solidFill>
                  <a:srgbClr val="0C0C0D"/>
                </a:solidFill>
              </a:rPr>
              <a:t>我们做了什么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005E56-9B4E-4AA1-9949-5E715699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24650"/>
            <a:ext cx="20859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FB5733-E9F2-4C8C-81AD-B2848C5E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6486525"/>
            <a:ext cx="981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C0C0D"/>
                </a:solidFill>
              </a:defRPr>
            </a:pPr>
            <a:r>
              <a:rPr sz="863" b="1">
                <a:solidFill>
                  <a:srgbClr val="0C0C0D"/>
                </a:solidFill>
              </a:rPr>
              <a:t>上线后的变化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12F0CB-35A9-415F-9A31-FCC1A251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6724650"/>
            <a:ext cx="20859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438172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01F362-9EDC-4FD8-B9D1-CC9D602F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7676B"/>
                </a:solidFill>
              </a:defRPr>
            </a:pPr>
            <a:r>
              <a:rPr sz="675" b="1">
                <a:solidFill>
                  <a:srgbClr val="67676B"/>
                </a:solidFill>
              </a:rPr>
              <a:t>后续服务 / Agent Boss 培训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BC755-A563-41A5-B2BC-379DB3FE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5AFBE-9DF8-4063-A9DF-742C1A12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5E7D7-6A29-453B-BB4C-5E6D1D6A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33425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0C0D"/>
                </a:solidFill>
              </a:defRPr>
            </a:pPr>
            <a:r>
              <a:rPr sz="2850" b="1">
                <a:solidFill>
                  <a:srgbClr val="0C0C0D"/>
                </a:solidFill>
              </a:rPr>
              <a:t>系统上线了，</a:t>
            </a:r>
          </a:p>
          <a:p xmlns:a="http://schemas.openxmlformats.org/drawingml/2006/main">
            <a:pPr algn="l">
              <a:defRPr sz="2850" b="1">
                <a:solidFill>
                  <a:srgbClr val="0C0C0D"/>
                </a:solidFill>
              </a:defRPr>
            </a:pPr>
            <a:r>
              <a:rPr sz="2850" b="1">
                <a:solidFill>
                  <a:srgbClr val="0C0C0D"/>
                </a:solidFill>
              </a:rPr>
              <a:t>还要有人会带 Agent 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238D5-CA26-4916-A787-CA592343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33575"/>
            <a:ext cx="23336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B"/>
                </a:solidFill>
              </a:defRPr>
            </a:pPr>
            <a:r>
              <a:rPr sz="1050" b="0">
                <a:solidFill>
                  <a:srgbClr val="67676B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67676B"/>
                </a:solidFill>
              </a:defRPr>
            </a:pPr>
            <a:r>
              <a:rPr sz="1050" b="0">
                <a:solidFill>
                  <a:srgbClr val="67676B"/>
                </a:solidFill>
              </a:rPr>
              <a:t>系统上线后，企业自己的管理者和员工要学会：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3f395b0d34c14"/>
          <a:srcRect xmlns:a="http://schemas.openxmlformats.org/drawingml/2006/main" l="0" t="3398" r="0" b="33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62275" y="1933575"/>
            <a:ext cx="1962150" cy="1219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6807D-38D7-4C02-B4BC-686E638A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956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214C6-F1A8-4FC8-A868-553C2F0E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给 Agent 说清目标和完成标准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3C96C-7B02-489E-9DCC-AD5114C8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4956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2E614-A0B5-40E7-9466-03CF58A7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49567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判断哪些工作可以交出去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FC210-8603-4D26-B74E-47AEA3E0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2D2D3-7780-4942-890B-50D044E8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检查 Agent 的过程和结果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57159-5E49-4F8A-A4FD-D78D6BA4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04812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A6ED8A-B6E0-4AFB-90C4-25487B68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04812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处理异常、退回修改或暂停任务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A4C3ED-E0FE-471B-8142-74DCED20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005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8ED037-84FC-4BF5-962B-DF3242CF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管好数据、工具和权限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68C189-DA55-4781-BA24-4B4FC013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6005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76E543-4A7A-4B46-827B-7177F58C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60057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把好用的方法做成团队共同使用的 Skill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A7E13C-2627-477F-930C-C84D572B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5302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0055CA-F834-494A-BABF-1AED3FE2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5302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对最后的业务结果负责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365AFA-42F1-41C1-B2D8-263E99B4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81675"/>
            <a:ext cx="452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0C0D"/>
                </a:solidFill>
              </a:defRPr>
            </a:pPr>
            <a:r>
              <a:rPr sz="1125" b="1">
                <a:solidFill>
                  <a:srgbClr val="0C0C0D"/>
                </a:solidFill>
              </a:rPr>
              <a:t>我们把这套培训叫做 Agent Boss。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A31782-ECC3-4E87-98CC-BF9C771B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76B"/>
                </a:solidFill>
              </a:defRPr>
            </a:pPr>
            <a:r>
              <a:rPr sz="900" b="0">
                <a:solidFill>
                  <a:srgbClr val="67676B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CC7BB7-F7B9-4572-8FA7-DED9F1CF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38950"/>
            <a:ext cx="4524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9F8E80-BCA0-4BDE-9135-5AFFD3EF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962775"/>
            <a:ext cx="4257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FDE：把系统做出来   /   Agent Boss：教团队接过去，继续用、继续改</a:t>
            </a:r>
          </a:p>
        </p:txBody>
      </p:sp>
    </p:spTree>
    <p:extLst>
      <p:ext uri="{BB962C8B-B14F-4D97-AF65-F5344CB8AC3E}">
        <p14:creationId xmlns:p14="http://schemas.microsoft.com/office/powerpoint/2010/main" val="12782809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B93095-11D2-445D-9F99-B2EB0ACE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7676B"/>
                </a:solidFill>
              </a:defRPr>
            </a:pPr>
            <a:r>
              <a:rPr sz="675" b="1">
                <a:solidFill>
                  <a:srgbClr val="67676B"/>
                </a:solidFill>
              </a:rPr>
              <a:t>免费诊断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F105D-7945-4B9D-B942-35B0E36A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2BE9F-4ADF-4A3B-99C5-99BFF5CE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4AD65-12BF-4E2D-BB2A-AE1816E1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4524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C0C0D"/>
                </a:solidFill>
              </a:defRPr>
            </a:pPr>
            <a:r>
              <a:rPr sz="3300" b="1">
                <a:solidFill>
                  <a:srgbClr val="0C0C0D"/>
                </a:solidFill>
              </a:rPr>
              <a:t>先帮你找到第一步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988E3-CBEE-41DD-964D-01580605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452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76B"/>
                </a:solidFill>
              </a:defRPr>
            </a:pPr>
            <a:r>
              <a:rPr sz="1125" b="0">
                <a:solidFill>
                  <a:srgbClr val="67676B"/>
                </a:solidFill>
              </a:rPr>
              <a:t>展会期间，我们提供免费的企业 AI 诊断。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D0493-7885-4A82-B8DB-02C3C483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5DFF"/>
                </a:solidFill>
              </a:defRPr>
            </a:pPr>
            <a:r>
              <a:rPr sz="825" b="1">
                <a:solidFill>
                  <a:srgbClr val="165DFF"/>
                </a:solidFill>
              </a:rPr>
              <a:t>你会拿到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81D08-086B-47CB-B450-A86E47DA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1637F-6250-4194-B16B-93EECC06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62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C0C0D"/>
                </a:solidFill>
              </a:defRPr>
            </a:pPr>
            <a:r>
              <a:rPr sz="1013" b="0">
                <a:solidFill>
                  <a:srgbClr val="0C0C0D"/>
                </a:solidFill>
              </a:rPr>
              <a:t>目前最值得先看的 1—3 项工作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11460-1F7C-4FAB-820A-86C7BE8A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1B0C9-FC42-42C0-80AE-EEB2FAC9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337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CDD9D-BFE9-4A3D-BD32-CC925635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4162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C0C0D"/>
                </a:solidFill>
              </a:defRPr>
            </a:pPr>
            <a:r>
              <a:rPr sz="1013" b="0">
                <a:solidFill>
                  <a:srgbClr val="0C0C0D"/>
                </a:solidFill>
              </a:rPr>
              <a:t>这些工作适不适合用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23DA7-3927-4B19-B9CC-6FB76EE3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EAB8F-DC53-4E79-B968-D2CC4325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790AF-B23D-4AE0-B21A-C89B9AD3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4162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C0C0D"/>
                </a:solidFill>
              </a:defRPr>
            </a:pPr>
            <a:r>
              <a:rPr sz="1013" b="0">
                <a:solidFill>
                  <a:srgbClr val="0C0C0D"/>
                </a:solidFill>
              </a:rPr>
              <a:t>需要哪些数据、系统和人员参与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0BC5C-50BC-45E2-8973-5E833315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64413-C1D3-4A03-AEE9-DA5149FB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957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DDF09-E1F0-44D5-ACFB-5D92914C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4162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C0C0D"/>
                </a:solidFill>
              </a:defRPr>
            </a:pPr>
            <a:r>
              <a:rPr sz="1013" b="0">
                <a:solidFill>
                  <a:srgbClr val="0C0C0D"/>
                </a:solidFill>
              </a:rPr>
              <a:t>更适合买现成软件、做 Skill、定制 SaaS、建数据库，还是先改流程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6713D6-3EF7-438F-9947-4306B3A2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E54995-96E3-4DBD-9A81-E46B6412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D677A8-DF1F-4613-9597-F161DBAA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4162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C0C0D"/>
                </a:solidFill>
              </a:defRPr>
            </a:pPr>
            <a:r>
              <a:rPr sz="1013" b="0">
                <a:solidFill>
                  <a:srgbClr val="0C0C0D"/>
                </a:solidFill>
              </a:rPr>
              <a:t>是否值得做一个小试点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7DBA73-3D5F-4250-BE1F-C638C56B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1BB691-A9C0-472C-B635-0D21B185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452437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898AB2-9AF2-4F16-B4A2-0D27797B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724525"/>
            <a:ext cx="42005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我们也可能直接告诉你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8DCC6C-90BB-4F39-821D-F5351F87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0769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— 这个问题不需要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DE2590-4A55-4F31-8E09-4C58ADEF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60769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— 现在的数据条件还做不了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77426A-A158-445E-89A7-2F52A99D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— 先把流程理顺，再考虑开发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AE4A2D-ACD7-4803-964D-17687F8B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64293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— 买现成产品更划算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61185-8AE0-4925-924A-106DEEDE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67550"/>
            <a:ext cx="452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676B"/>
                </a:solidFill>
              </a:defRPr>
            </a:pPr>
            <a:r>
              <a:rPr sz="788" b="0">
                <a:solidFill>
                  <a:srgbClr val="67676B"/>
                </a:solidFill>
              </a:rPr>
              <a:t>免费诊断不承诺完整方案，也不接触未经授权的敏感数据。</a:t>
            </a:r>
          </a:p>
        </p:txBody>
      </p:sp>
    </p:spTree>
    <p:extLst>
      <p:ext uri="{BB962C8B-B14F-4D97-AF65-F5344CB8AC3E}">
        <p14:creationId xmlns:p14="http://schemas.microsoft.com/office/powerpoint/2010/main" val="20235164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ECA5D3-C9E9-4334-AA88-2E322AA5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7676B"/>
                </a:solidFill>
              </a:defRPr>
            </a:pPr>
            <a:r>
              <a:rPr sz="675" b="1">
                <a:solidFill>
                  <a:srgbClr val="67676B"/>
                </a:solidFill>
              </a:rPr>
              <a:t>免费企业 AI 诊断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F4E52-0369-4DC5-B92F-AB90F1D8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7E11C-8C56-4ED1-AEBF-FB69FE45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41435-2CD2-47F9-830F-30AC41C3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C0C0D"/>
                </a:solidFill>
              </a:defRPr>
            </a:pPr>
            <a:r>
              <a:rPr sz="3075" b="1">
                <a:solidFill>
                  <a:srgbClr val="0C0C0D"/>
                </a:solidFill>
              </a:rPr>
              <a:t>你的企业，</a:t>
            </a:r>
          </a:p>
          <a:p xmlns:a="http://schemas.openxmlformats.org/drawingml/2006/main">
            <a:pPr algn="l">
              <a:defRPr sz="3075" b="1">
                <a:solidFill>
                  <a:srgbClr val="0C0C0D"/>
                </a:solidFill>
              </a:defRPr>
            </a:pPr>
            <a:r>
              <a:rPr sz="3075" b="1">
                <a:solidFill>
                  <a:srgbClr val="0C0C0D"/>
                </a:solidFill>
              </a:rPr>
              <a:t>最应该先改哪项工作？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13F49-29B6-4FFB-BAA3-2ABA80C6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DFF"/>
                </a:solidFill>
              </a:defRPr>
            </a:pPr>
            <a:r>
              <a:rPr sz="1350" b="1">
                <a:solidFill>
                  <a:srgbClr val="165DFF"/>
                </a:solidFill>
              </a:rPr>
              <a:t>每天限 10 家</a:t>
            </a:r>
          </a:p>
          <a:p xmlns:a="http://schemas.openxmlformats.org/drawingml/2006/main">
            <a:pPr algn="l">
              <a:defRPr sz="1350" b="1">
                <a:solidFill>
                  <a:srgbClr val="165DFF"/>
                </a:solidFill>
              </a:defRPr>
            </a:pPr>
            <a:r>
              <a:rPr sz="1350" b="1">
                <a:solidFill>
                  <a:srgbClr val="165DFF"/>
                </a:solidFill>
              </a:rPr>
              <a:t>展会两天，共 20 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565F5-6F6E-4F46-927D-5F241527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C0C0D"/>
                </a:solidFill>
              </a:defRPr>
            </a:pPr>
            <a:r>
              <a:rPr sz="825" b="1">
                <a:solidFill>
                  <a:srgbClr val="0C0C0D"/>
                </a:solidFill>
              </a:rPr>
              <a:t>扫码填写：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4A3AC-BF8F-4A63-A2AD-E8842AD1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D3C52-0A60-4C70-BAC1-A9D1E6AD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2352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企业和行业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5BA4D-E51D-4AB3-9499-CB9DF917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235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D28A7-3237-418D-82D4-9CB79CE8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052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ACEEC-068D-4A09-B7E1-B7121F75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352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最想改善的一项工作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F1672-D0D9-48AC-A98E-DCDF0A37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35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2F444-A94D-470D-B0E7-E20AE07B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55FD8-5F63-4D4F-8A67-F652370A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81475"/>
            <a:ext cx="2352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现在怎么做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988692-3245-427E-AEEE-1A348E21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235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A3EA3-41C8-4E05-9B59-3DE7E45C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2EC5F1-A8BA-4BDC-97F1-080E6F37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352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谁负责这项业务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89C922-AFD8-4CBB-9C74-3D7E5878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235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60672B-38B4-4A1B-9A4C-0C9E975E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E6C857-07A5-445B-903E-EC2CFCD1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2352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联系方式和方便沟通的时间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176E3F-6351-4C8D-86B7-1AF40FC6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35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A8CE42-08BE-412A-B3F2-BDFAD7C3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1447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C0C0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F94DDA-B52A-445C-ABAC-F0151306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7662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0C0D"/>
                </a:solidFill>
              </a:defRPr>
            </a:pPr>
            <a:r>
              <a:rPr sz="900" b="1">
                <a:solidFill>
                  <a:srgbClr val="0C0C0D"/>
                </a:solidFill>
              </a:rPr>
              <a:t>二维码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7120FF-9E38-41B0-A984-C82CA209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67225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0C0D"/>
                </a:solidFill>
              </a:defRPr>
            </a:pPr>
            <a:r>
              <a:rPr sz="900" b="1">
                <a:solidFill>
                  <a:srgbClr val="0C0C0D"/>
                </a:solidFill>
              </a:rPr>
              <a:t>扫码预约｜约满为止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ef28107124e79"/>
          <a:srcRect xmlns:a="http://schemas.openxmlformats.org/drawingml/2006/main" l="0" t="27579" r="0" b="275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5162550"/>
            <a:ext cx="4524375" cy="13525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2AA054-2A9B-48BC-A373-B2E8BA4F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0560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7676B"/>
                </a:solidFill>
              </a:defRPr>
            </a:pPr>
            <a:r>
              <a:rPr sz="863" b="0">
                <a:solidFill>
                  <a:srgbClr val="67676B"/>
                </a:solidFill>
              </a:rPr>
              <a:t>[品牌名]</a:t>
            </a:r>
          </a:p>
          <a:p xmlns:a="http://schemas.openxmlformats.org/drawingml/2006/main">
            <a:pPr algn="l">
              <a:defRPr sz="863" b="0">
                <a:solidFill>
                  <a:srgbClr val="67676B"/>
                </a:solidFill>
              </a:defRPr>
            </a:pPr>
            <a:r>
              <a:rPr sz="863" b="0">
                <a:solidFill>
                  <a:srgbClr val="67676B"/>
                </a:solidFill>
              </a:rPr>
              <a:t>[姓名 / 电话 / 微信 / 网站]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AA1EA4-31B3-40AD-9AF4-090FE51B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6705600"/>
            <a:ext cx="200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C0C0D"/>
                </a:solidFill>
              </a:defRPr>
            </a:pPr>
            <a:r>
              <a:rPr sz="975" b="1">
                <a:solidFill>
                  <a:srgbClr val="0C0C0D"/>
                </a:solidFill>
              </a:rPr>
              <a:t>想做 AI 升级，就从一个看得清、做得完的问题开始。</a:t>
            </a:r>
          </a:p>
        </p:txBody>
      </p:sp>
    </p:spTree>
    <p:extLst>
      <p:ext uri="{BB962C8B-B14F-4D97-AF65-F5344CB8AC3E}">
        <p14:creationId xmlns:p14="http://schemas.microsoft.com/office/powerpoint/2010/main" val="8316677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2026-08-24T03:54:46.5940000Z</dcterms:created>
  <dcterms:modified xsi:type="dcterms:W3CDTF">2026-08-24T03:54:46.5940000Z</dcterms:modified>
</coreProperties>
</file>