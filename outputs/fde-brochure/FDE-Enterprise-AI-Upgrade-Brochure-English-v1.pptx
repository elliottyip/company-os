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ddbd824a04691" /><Relationship Type="http://schemas.openxmlformats.org/officeDocument/2006/relationships/extended-properties" Target="/docProps/app.xml" Id="R2c971ca6ffc54ed6" /><Relationship Type="http://schemas.openxmlformats.org/officeDocument/2006/relationships/officeDocument" Target="/ppt/presentation.xml" Id="R6dc2b8cca41f4e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d071b80a244e4"/>
  </p:sldMasterIdLst>
  <p:notesMasterIdLst>
    <p:notesMasterId xmlns:r="http://schemas.openxmlformats.org/officeDocument/2006/relationships" r:id="R0c3f7f7e511f427c"/>
  </p:notesMasterIdLst>
  <p:sldIdLst>
    <p:sldId xmlns:r="http://schemas.openxmlformats.org/officeDocument/2006/relationships" id="256" r:id="Rb5ade2a653e04768"/>
    <p:sldId xmlns:r="http://schemas.openxmlformats.org/officeDocument/2006/relationships" id="257" r:id="R583b5cfa714e4c65"/>
    <p:sldId xmlns:r="http://schemas.openxmlformats.org/officeDocument/2006/relationships" id="258" r:id="Ra1450a41555b41f1"/>
    <p:sldId xmlns:r="http://schemas.openxmlformats.org/officeDocument/2006/relationships" id="259" r:id="R3648c43368da4183"/>
    <p:sldId xmlns:r="http://schemas.openxmlformats.org/officeDocument/2006/relationships" id="260" r:id="R9e6ebd0efc104b98"/>
    <p:sldId xmlns:r="http://schemas.openxmlformats.org/officeDocument/2006/relationships" id="261" r:id="R4a929fe0967b41a0"/>
    <p:sldId xmlns:r="http://schemas.openxmlformats.org/officeDocument/2006/relationships" id="262" r:id="R58379f3057834736"/>
    <p:sldId xmlns:r="http://schemas.openxmlformats.org/officeDocument/2006/relationships" id="263" r:id="Ra7396e54bfd547da"/>
    <p:sldId xmlns:r="http://schemas.openxmlformats.org/officeDocument/2006/relationships" id="264" r:id="R71a34ff6c64049df"/>
    <p:sldId xmlns:r="http://schemas.openxmlformats.org/officeDocument/2006/relationships" id="265" r:id="R562624217b064654"/>
    <p:sldId xmlns:r="http://schemas.openxmlformats.org/officeDocument/2006/relationships" id="266" r:id="R4be06f628bee4759"/>
    <p:sldId xmlns:r="http://schemas.openxmlformats.org/officeDocument/2006/relationships" id="267" r:id="Rb5ef9e8dbab7477b"/>
  </p:sldIdLst>
  <p:sldSz cx="53244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709ec003dd4c9e" /><Relationship Type="http://schemas.openxmlformats.org/officeDocument/2006/relationships/slideMaster" Target="/ppt/slideMasters/slideMaster1.xml" Id="Rb33d071b80a244e4" /><Relationship Type="http://schemas.openxmlformats.org/officeDocument/2006/relationships/notesMaster" Target="/ppt/notesMasters/notesMaster1.xml" Id="R0c3f7f7e511f427c" /><Relationship Type="http://schemas.openxmlformats.org/officeDocument/2006/relationships/presProps" Target="/ppt/presProps.xml" Id="Ra02d439783734c84" /><Relationship Type="http://schemas.openxmlformats.org/officeDocument/2006/relationships/tableStyles" Target="/ppt/tableStyles.xml" Id="R19276ac123ed4584" /><Relationship Type="http://schemas.openxmlformats.org/officeDocument/2006/relationships/slide" Target="/ppt/slides/slide1.xml" Id="Rb5ade2a653e04768" /><Relationship Type="http://schemas.openxmlformats.org/officeDocument/2006/relationships/slide" Target="/ppt/slides/slide2.xml" Id="R583b5cfa714e4c65" /><Relationship Type="http://schemas.openxmlformats.org/officeDocument/2006/relationships/slide" Target="/ppt/slides/slide3.xml" Id="Ra1450a41555b41f1" /><Relationship Type="http://schemas.openxmlformats.org/officeDocument/2006/relationships/slide" Target="/ppt/slides/slide4.xml" Id="R3648c43368da4183" /><Relationship Type="http://schemas.openxmlformats.org/officeDocument/2006/relationships/slide" Target="/ppt/slides/slide5.xml" Id="R9e6ebd0efc104b98" /><Relationship Type="http://schemas.openxmlformats.org/officeDocument/2006/relationships/slide" Target="/ppt/slides/slide6.xml" Id="R4a929fe0967b41a0" /><Relationship Type="http://schemas.openxmlformats.org/officeDocument/2006/relationships/slide" Target="/ppt/slides/slide7.xml" Id="R58379f3057834736" /><Relationship Type="http://schemas.openxmlformats.org/officeDocument/2006/relationships/slide" Target="/ppt/slides/slide8.xml" Id="Ra7396e54bfd547da" /><Relationship Type="http://schemas.openxmlformats.org/officeDocument/2006/relationships/slide" Target="/ppt/slides/slide9.xml" Id="R71a34ff6c64049df" /><Relationship Type="http://schemas.openxmlformats.org/officeDocument/2006/relationships/slide" Target="/ppt/slides/slide10.xml" Id="R562624217b064654" /><Relationship Type="http://schemas.openxmlformats.org/officeDocument/2006/relationships/slide" Target="/ppt/slides/slide11.xml" Id="R4be06f628bee4759" /><Relationship Type="http://schemas.openxmlformats.org/officeDocument/2006/relationships/slide" Target="/ppt/slides/slide12.xml" Id="Rb5ef9e8dbab747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261d4983f49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503880060d45ec" /><Relationship Type="http://schemas.openxmlformats.org/officeDocument/2006/relationships/notesMaster" Target="/ppt/notesMasters/notesMaster1.xml" Id="R2146eccbaf1742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5738ec56124f3d" /><Relationship Type="http://schemas.openxmlformats.org/officeDocument/2006/relationships/notesMaster" Target="/ppt/notesMasters/notesMaster1.xml" Id="Rf5203ebcf2c14e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b7e15a2a1f4f4b" /><Relationship Type="http://schemas.openxmlformats.org/officeDocument/2006/relationships/notesMaster" Target="/ppt/notesMasters/notesMaster1.xml" Id="R809cd3a723d944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47a957c7be469b" /><Relationship Type="http://schemas.openxmlformats.org/officeDocument/2006/relationships/notesMaster" Target="/ppt/notesMasters/notesMaster1.xml" Id="Rc3ac19586cfb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10f4a1487147b7" /><Relationship Type="http://schemas.openxmlformats.org/officeDocument/2006/relationships/notesMaster" Target="/ppt/notesMasters/notesMaster1.xml" Id="R09f3438e141a4c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7b04c099aa40c9" /><Relationship Type="http://schemas.openxmlformats.org/officeDocument/2006/relationships/notesMaster" Target="/ppt/notesMasters/notesMaster1.xml" Id="R88911ea9514e49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38c6500d2249d5" /><Relationship Type="http://schemas.openxmlformats.org/officeDocument/2006/relationships/notesMaster" Target="/ppt/notesMasters/notesMaster1.xml" Id="R22666ddaad7544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87a784fb6b4455" /><Relationship Type="http://schemas.openxmlformats.org/officeDocument/2006/relationships/notesMaster" Target="/ppt/notesMasters/notesMaster1.xml" Id="R90f38cb001cf42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584e0d45c34418" /><Relationship Type="http://schemas.openxmlformats.org/officeDocument/2006/relationships/notesMaster" Target="/ppt/notesMasters/notesMaster1.xml" Id="R9657b8136d504b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62d56dbae94c2e" /><Relationship Type="http://schemas.openxmlformats.org/officeDocument/2006/relationships/notesMaster" Target="/ppt/notesMasters/notesMaster1.xml" Id="R8414b727f98347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737ebccd7e4c24" /><Relationship Type="http://schemas.openxmlformats.org/officeDocument/2006/relationships/notesMaster" Target="/ppt/notesMasters/notesMaster1.xml" Id="R77be790eb5b449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ba4691090e4424" /><Relationship Type="http://schemas.openxmlformats.org/officeDocument/2006/relationships/notesMaster" Target="/ppt/notesMasters/notesMaster1.xml" Id="R04555482f69349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57046d4854f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53a31166864394" /><Relationship Type="http://schemas.openxmlformats.org/officeDocument/2006/relationships/slideLayout" Target="/ppt/slideLayouts/slideLayout1.xml" Id="R051470be1ca6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1470be1ca6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a45c692a74529" /><Relationship Type="http://schemas.openxmlformats.org/officeDocument/2006/relationships/image" Target="/ppt/media/image.png" Id="R7d629eb955884297" /><Relationship Type="http://schemas.openxmlformats.org/officeDocument/2006/relationships/notesSlide" Target="/ppt/notesSlides/notesSlide1.xml" Id="R36ac842c464240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fb6b4fc244cc0" /><Relationship Type="http://schemas.openxmlformats.org/officeDocument/2006/relationships/image" Target="/ppt/media/image2.png" Id="R47582987af8d4dda" /><Relationship Type="http://schemas.openxmlformats.org/officeDocument/2006/relationships/notesSlide" Target="/ppt/notesSlides/notesSlide2.xml" Id="Re7221587ef7a41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6c1c1ba544daa" /><Relationship Type="http://schemas.openxmlformats.org/officeDocument/2006/relationships/notesSlide" Target="/ppt/notesSlides/notesSlide3.xml" Id="R620aa1289fab4f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346c68de54bda" /><Relationship Type="http://schemas.openxmlformats.org/officeDocument/2006/relationships/notesSlide" Target="/ppt/notesSlides/notesSlide4.xml" Id="R5689edf995834b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c910e1e584ba8" /><Relationship Type="http://schemas.openxmlformats.org/officeDocument/2006/relationships/image" Target="/ppt/media/image3.png" Id="Rc01147fe8cff41dc" /><Relationship Type="http://schemas.openxmlformats.org/officeDocument/2006/relationships/notesSlide" Target="/ppt/notesSlides/notesSlide5.xml" Id="Rea3672963dac4d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085b18cfa453f" /><Relationship Type="http://schemas.openxmlformats.org/officeDocument/2006/relationships/notesSlide" Target="/ppt/notesSlides/notesSlide6.xml" Id="Rf3a16a224b1645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ca6be8eea4a54" /><Relationship Type="http://schemas.openxmlformats.org/officeDocument/2006/relationships/notesSlide" Target="/ppt/notesSlides/notesSlide7.xml" Id="Rd8389d68366e4d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2df99321d402d" /><Relationship Type="http://schemas.openxmlformats.org/officeDocument/2006/relationships/notesSlide" Target="/ppt/notesSlides/notesSlide8.xml" Id="R426b2faffd8a40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21989f10348e3" /><Relationship Type="http://schemas.openxmlformats.org/officeDocument/2006/relationships/notesSlide" Target="/ppt/notesSlides/notesSlide9.xml" Id="R5b64885d6fee42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8d609c22f43c9" /><Relationship Type="http://schemas.openxmlformats.org/officeDocument/2006/relationships/image" Target="/ppt/media/image4.png" Id="Rb73a532c20554348" /><Relationship Type="http://schemas.openxmlformats.org/officeDocument/2006/relationships/notesSlide" Target="/ppt/notesSlides/notesSlide10.xml" Id="R7cc0032099bf41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3e82999dd4382" /><Relationship Type="http://schemas.openxmlformats.org/officeDocument/2006/relationships/notesSlide" Target="/ppt/notesSlides/notesSlide11.xml" Id="Re1c4891ef8164a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6da62c4bf47c7" /><Relationship Type="http://schemas.openxmlformats.org/officeDocument/2006/relationships/image" Target="/ppt/media/image5.png" Id="R762e5dbe5b154805" /><Relationship Type="http://schemas.openxmlformats.org/officeDocument/2006/relationships/notesSlide" Target="/ppt/notesSlides/notesSlide12.xml" Id="R525e91361b4446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7EE9F-6987-409B-B798-A4E87BA2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FDE / ENTERPRISE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75979-2EBF-4570-AA72-42F293C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0B19F-130D-4F6D-8B38-BB9C23E8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FEBBA-7524-4C02-A5A5-41FD7E9C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4524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0C0D"/>
                </a:solidFill>
              </a:defRPr>
            </a:pPr>
            <a:r>
              <a:rPr sz="2850" b="1">
                <a:solidFill>
                  <a:srgbClr val="0C0C0D"/>
                </a:solidFill>
              </a:rPr>
              <a:t>Your company wants to use AI.</a:t>
            </a:r>
          </a:p>
          <a:p xmlns:a="http://schemas.openxmlformats.org/drawingml/2006/main">
            <a:pPr algn="l">
              <a:defRPr sz="2850" b="1">
                <a:solidFill>
                  <a:srgbClr val="0C0C0D"/>
                </a:solidFill>
              </a:defRPr>
            </a:pPr>
            <a:r>
              <a:rPr sz="2850" b="1">
                <a:solidFill>
                  <a:srgbClr val="0C0C0D"/>
                </a:solidFill>
              </a:rPr>
              <a:t>Where should it start?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59988-85DF-46C0-8EBD-A4C6BD71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524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7676B"/>
                </a:solidFill>
              </a:defRPr>
            </a:pPr>
            <a:r>
              <a:rPr sz="1238" b="0">
                <a:solidFill>
                  <a:srgbClr val="67676B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defRPr sz="1238" b="0">
                <a:solidFill>
                  <a:srgbClr val="67676B"/>
                </a:solidFill>
              </a:defRPr>
            </a:pPr>
            <a:r>
              <a:rPr sz="1238" b="0">
                <a:solidFill>
                  <a:srgbClr val="67676B"/>
                </a:solidFill>
              </a:rPr>
              <a:t>then turns it into a system people use and results can prove.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259C3-6FD6-40B0-B00B-801C8FD4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Business assessment | Workflow redesign | Skills | Custom SaaS | Databases | Agents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29eb955884297"/>
          <a:srcRect xmlns:a="http://schemas.openxmlformats.org/drawingml/2006/main" l="0" t="6263" r="0" b="6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3752850"/>
            <a:ext cx="4524375" cy="26384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38ED9-BF3A-47C8-B8C7-9EC12F00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4524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FB00C-8417-4CD2-9E8B-5BE49582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70560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Event offer: complimentary enterprise AI assessment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D3B8A-0EF4-44AF-AD1A-006FD076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70560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1212206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386B1-01CD-4FAA-A46A-A0911206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THE CHANGE IS ALREADY UNDERWAY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2A458-2DA7-4B5C-BEA3-D8F64533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72E29-556E-47D9-8366-DCE5A03B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87D6A-275E-462C-BA32-9FCD01F7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C0C0D"/>
                </a:solidFill>
              </a:defRPr>
            </a:pPr>
            <a:r>
              <a:rPr sz="3225" b="1">
                <a:solidFill>
                  <a:srgbClr val="0C0C0D"/>
                </a:solidFill>
              </a:rPr>
              <a:t>AI can now</a:t>
            </a:r>
          </a:p>
          <a:p xmlns:a="http://schemas.openxmlformats.org/drawingml/2006/main">
            <a:pPr algn="l">
              <a:defRPr sz="3225" b="1">
                <a:solidFill>
                  <a:srgbClr val="0C0C0D"/>
                </a:solidFill>
              </a:defRPr>
            </a:pPr>
            <a:r>
              <a:rPr sz="3225" b="1">
                <a:solidFill>
                  <a:srgbClr val="0C0C0D"/>
                </a:solidFill>
              </a:rPr>
              <a:t>do the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BBE60-FC5D-48B9-BBDC-1DF7E2CF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C0C0D"/>
                </a:solidFill>
              </a:defRPr>
            </a:pPr>
            <a:r>
              <a:rPr sz="1200" b="1">
                <a:solidFill>
                  <a:srgbClr val="0C0C0D"/>
                </a:solidFill>
              </a:rPr>
              <a:t>We used to complete every step manually.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CC0AE-4F40-4E9B-A9FC-74FD9BC6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52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7676B"/>
                </a:solidFill>
              </a:defRPr>
            </a:pPr>
            <a:r>
              <a:rPr sz="1013" b="0">
                <a:solidFill>
                  <a:srgbClr val="67676B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82987af8d4dda"/>
          <a:srcRect xmlns:a="http://schemas.openxmlformats.org/drawingml/2006/main" l="0" t="29158" r="0" b="291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943225"/>
            <a:ext cx="4524375" cy="1257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27800-560E-4219-9B8D-155AC2C2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1B67A-1FB8-4882-93E6-1B26EE74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C0C0D"/>
                </a:solidFill>
              </a:defRPr>
            </a:pPr>
            <a:r>
              <a:rPr sz="1013" b="0">
                <a:solidFill>
                  <a:srgbClr val="0C0C0D"/>
                </a:solidFill>
              </a:rPr>
              <a:t>Agents handle repetitive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7960E-EA1A-48E6-B9D9-7C3168AE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27E1A-DE93-451E-8548-270C080E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1BD59-163E-4550-8FBA-394CF1F9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C0C0D"/>
                </a:solidFill>
              </a:defRPr>
            </a:pPr>
            <a:r>
              <a:rPr sz="1013" b="0">
                <a:solidFill>
                  <a:srgbClr val="0C0C0D"/>
                </a:solidFill>
              </a:rPr>
              <a:t>People own goals, judgment, and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0AB92-3D04-440F-9C29-5132222C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E384F-1473-42EA-ACC2-0CBDE3CE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DB9C9-F34F-4AF2-AEDD-09E6B969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C0C0D"/>
                </a:solidFill>
              </a:defRPr>
            </a:pPr>
            <a:r>
              <a:rPr sz="1013" b="0">
                <a:solidFill>
                  <a:srgbClr val="0C0C0D"/>
                </a:solidFill>
              </a:rPr>
              <a:t>One owner can direct several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4F6FD-F968-48E0-AFA1-19776469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84C60-8604-4340-8D0A-BAD2DFA5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79C01-E4D1-4597-80D7-0AF2E8BA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416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C0C0D"/>
                </a:solidFill>
              </a:defRPr>
            </a:pPr>
            <a:r>
              <a:rPr sz="1013" b="0">
                <a:solidFill>
                  <a:srgbClr val="0C0C0D"/>
                </a:solidFill>
              </a:rPr>
              <a:t>Workflows and Skills become reusable assets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27F83-5D25-4B52-9FE9-E329C9EA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21265F-E1BB-4A4A-A798-62A95EBD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24575"/>
            <a:ext cx="4524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Microsoft: employees will build, delegate to, and manage agents.</a:t>
            </a:r>
          </a:p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OpenAI: agents complete workflows on a user’s behalf.</a:t>
            </a:r>
          </a:p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Google: enterprise agents connect data, tools, memory, and runtime.</a:t>
            </a:r>
          </a:p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Anthropic: people decide what; agents increasingly decide how.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A7847-47A4-482E-A041-3032FD24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972300"/>
            <a:ext cx="452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0C0D"/>
                </a:solidFill>
              </a:defRPr>
            </a:pPr>
            <a:r>
              <a:rPr sz="1050" b="1">
                <a:solidFill>
                  <a:srgbClr val="0C0C0D"/>
                </a:solidFill>
              </a:rPr>
              <a:t>Operating efficiency will diverge with how AI-native a company becomes.</a:t>
            </a:r>
          </a:p>
        </p:txBody>
      </p:sp>
    </p:spTree>
    <p:extLst>
      <p:ext uri="{BB962C8B-B14F-4D97-AF65-F5344CB8AC3E}">
        <p14:creationId xmlns:p14="http://schemas.microsoft.com/office/powerpoint/2010/main" val="23404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A39A68-CDBC-4C7C-BD01-4F1E365C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4E192-42C8-49B5-8F1C-69F84F3E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68D2F-FE66-4D2B-A2E0-2C2F691E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C8DDD-4F32-430D-9AD2-6C576DE7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4524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0C0D"/>
                </a:solidFill>
              </a:defRPr>
            </a:pPr>
            <a:r>
              <a:rPr sz="3000" b="1">
                <a:solidFill>
                  <a:srgbClr val="0C0C0D"/>
                </a:solidFill>
              </a:rPr>
              <a:t>AI has entered</a:t>
            </a:r>
          </a:p>
          <a:p xmlns:a="http://schemas.openxmlformats.org/drawingml/2006/main">
            <a:pPr algn="l">
              <a:defRPr sz="3000" b="1">
                <a:solidFill>
                  <a:srgbClr val="0C0C0D"/>
                </a:solidFill>
              </a:defRPr>
            </a:pPr>
            <a:r>
              <a:rPr sz="3000" b="1">
                <a:solidFill>
                  <a:srgbClr val="0C0C0D"/>
                </a:solidFill>
              </a:rPr>
              <a:t>real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8ADCB-9460-4382-8C8F-6BC0FF7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628EF-D83B-4C06-9072-1760A8B6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1419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0C0D"/>
                </a:solidFill>
              </a:defRPr>
            </a:pPr>
            <a:r>
              <a:rPr sz="3000" b="1">
                <a:solidFill>
                  <a:srgbClr val="0C0C0D"/>
                </a:solidFill>
              </a:rPr>
              <a:t>81%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F7A82-9181-42D2-A373-83471BA6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47850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C0C0D"/>
                </a:solidFill>
              </a:defRPr>
            </a:pPr>
            <a:r>
              <a:rPr sz="938" b="1">
                <a:solidFill>
                  <a:srgbClr val="0C0C0D"/>
                </a:solidFill>
              </a:rPr>
              <a:t>of surveyed leaders expect agents to enter their company’s AI strategy within 12–18 months.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F4101-7BA6-48EF-B9B1-C7722703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38400"/>
            <a:ext cx="2962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Microsoft · 31 countries / 31,000 workers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065DA-8900-4C35-AE2B-80B86D11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FCA20-6386-4CD0-8578-9A0C1BB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1419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5DFF"/>
                </a:solidFill>
              </a:defRPr>
            </a:pPr>
            <a:r>
              <a:rPr sz="3000" b="1">
                <a:solidFill>
                  <a:srgbClr val="165DFF"/>
                </a:solidFill>
              </a:rPr>
              <a:t>1M+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C1A40-B527-4543-9052-3F6240AF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C0C0D"/>
                </a:solidFill>
              </a:defRPr>
            </a:pPr>
            <a:r>
              <a:rPr sz="938" b="1">
                <a:solidFill>
                  <a:srgbClr val="0C0C0D"/>
                </a:solidFill>
              </a:rPr>
              <a:t>business customers use OpenAI products.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5588A-37C9-49C7-83CB-9C656C98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90925"/>
            <a:ext cx="2962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OpenAI ·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B523B-65DC-41A9-8481-37D8E1EF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9075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7453F-EEF6-4436-84E6-D1D235EF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419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C0C0D"/>
                </a:solidFill>
              </a:defRPr>
            </a:pPr>
            <a:r>
              <a:rPr sz="3000" b="1">
                <a:solidFill>
                  <a:srgbClr val="0C0C0D"/>
                </a:solidFill>
              </a:rPr>
              <a:t>108×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1A14C-BE53-4DCE-AC14-0A0DDF36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52900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C0C0D"/>
                </a:solidFill>
              </a:defRPr>
            </a:pPr>
            <a:r>
              <a:rPr sz="938" b="1">
                <a:solidFill>
                  <a:srgbClr val="0C0C0D"/>
                </a:solidFill>
              </a:rPr>
              <a:t>growth in weekly active Codex users in legal since February.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17C2E-93B6-476C-9564-3A23ED85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43450"/>
            <a:ext cx="2962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Sales 41× · Recruiting 41× · Marketing 26×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06E2D-AF29-4BAF-87A2-76474623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9590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12B7F-8BE6-4D0D-902E-4523138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524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PUBLIC EXAMPLES IN PRODUCTION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48A8B-B9C9-4C4D-BA7D-8D92830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0072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Cisco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D595B-6F97-4BC6-BB21-0A77A10D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50% faster code review; some projects moved from weeks to days.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56F7E-6514-428E-9438-75B5A62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0072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Carlyle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0AA37-41D6-4141-9434-AE735F32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1027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Multi-agent due diligence cut development time by 50%+ and raised accuracy 30%.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C5C3A-7F9A-44F0-A8E2-588BCA0B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67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TELUS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942AD-50D4-4296-B7BE-9D8E9939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7702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$53.9M annual savings; customer issues resolved 87% faster.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B50D9-51D5-4AE9-BC4C-97055D8A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467475"/>
            <a:ext cx="876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Lowe’s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5F52FC-3AFB-4DC1-8C53-4C342064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677025"/>
            <a:ext cx="2085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7676B"/>
                </a:solidFill>
              </a:defRPr>
            </a:pPr>
            <a:r>
              <a:rPr sz="713" b="0">
                <a:solidFill>
                  <a:srgbClr val="67676B"/>
                </a:solidFill>
              </a:rPr>
              <a:t>AI project guidance available to associates across 1,700+ stores.</a:t>
            </a:r>
          </a:p>
        </p:txBody>
      </p:sp>
    </p:spTree>
    <p:extLst>
      <p:ext uri="{BB962C8B-B14F-4D97-AF65-F5344CB8AC3E}">
        <p14:creationId xmlns:p14="http://schemas.microsoft.com/office/powerpoint/2010/main" val="1087389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396803-ECB3-411D-BE5E-5809503D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THE MOST COMMON STARTING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66C72-1255-4A86-B7C3-A06CC2DA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DC3C0-4485-4A56-B6DC-18A1B25B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2D61C-1151-4E89-A23F-F80FAB73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0C0D"/>
                </a:solidFill>
              </a:defRPr>
            </a:pPr>
            <a:r>
              <a:rPr sz="2100" b="1">
                <a:solidFill>
                  <a:srgbClr val="0C0C0D"/>
                </a:solidFill>
              </a:rPr>
              <a:t>Leaders want higher efficiency,</a:t>
            </a:r>
          </a:p>
          <a:p xmlns:a="http://schemas.openxmlformats.org/drawingml/2006/main">
            <a:pPr algn="l">
              <a:defRPr sz="2100" b="1">
                <a:solidFill>
                  <a:srgbClr val="0C0C0D"/>
                </a:solidFill>
              </a:defRPr>
            </a:pPr>
            <a:r>
              <a:rPr sz="2100" b="1">
                <a:solidFill>
                  <a:srgbClr val="0C0C0D"/>
                </a:solidFill>
              </a:rPr>
              <a:t>but do not know where to begin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F2C00-D33E-4790-81A2-28BADFE3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MANY COMPANIES HAVE ALREADY TRIED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0EBE1-22C3-4986-9AE5-20F1A270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309A9-7E82-49F5-AD5A-6295AFE9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Employees have subscriptions but use them only occasionally.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8D33E-B3CA-4665-967F-073A5F65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1E9E8-7C30-49E0-B8FA-451F0E46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9D568-166E-43A7-9141-7178F403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A demo looked good, but nobody used it after launch.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A858D-DEAA-4FD3-82A1-0F58938B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03255-F2AC-4EFD-8CFB-C3094892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7E0F5-5705-461B-9446-9348047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Other companies’ cases do not fit the way this company works.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9FE6C-CF34-4182-9B90-380CDBAD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CCEF6-76B4-4C14-A53C-0AD63A7E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DF7EC-E4C9-4712-B8EC-E526019A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Every department has ideas, but nobody can set priorities.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C99E8-9FBB-4A5E-BB07-16FD535A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FBAB6-FB19-443D-8D4C-7E3BA4FA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80D40-9AC4-447D-8BE4-8083A8F2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6441B-6B8A-4CA1-8FC7-37C5CAF4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51A83-CD48-4FEB-8BD4-4E779D8A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3F38C-3F4A-4BAC-8199-36957C69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790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C0C0D"/>
                </a:solidFill>
              </a:defRPr>
            </a:pPr>
            <a:r>
              <a:rPr sz="863" b="0">
                <a:solidFill>
                  <a:srgbClr val="0C0C0D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08C30-0F6C-4D1B-A5DD-7667ECF3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67425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B7B6C-6143-40BB-8DC2-8530972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1927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0C0D"/>
                </a:solidFill>
              </a:defRPr>
            </a:pPr>
            <a:r>
              <a:rPr sz="1125" b="1">
                <a:solidFill>
                  <a:srgbClr val="0C0C0D"/>
                </a:solidFill>
              </a:rPr>
              <a:t>AI transformation crosses four boundaries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570CE9-617E-44C5-8CFF-612A69DE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05050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535848-502E-4A88-BA0F-BC709ED2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717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The outcome leadership wants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870896-8F9F-445D-80F7-C44970E0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2600325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5DFF"/>
                </a:solidFill>
              </a:defRPr>
            </a:pPr>
            <a:r>
              <a:rPr sz="825" b="0">
                <a:solidFill>
                  <a:srgbClr val="165DFF"/>
                </a:solidFill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14EB70-4472-40ED-AD98-5EE02140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33675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42C349-E2DA-40BC-BAE2-6AC605B3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035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How frontline work actually happens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383663-0E9A-4CA9-8BD0-B30FEDFC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3028950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5DFF"/>
                </a:solidFill>
              </a:defRPr>
            </a:pPr>
            <a:r>
              <a:rPr sz="825" b="0">
                <a:solidFill>
                  <a:srgbClr val="165DFF"/>
                </a:solidFill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9B73EB-0B0E-481D-899E-FF217D42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62300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BD64D3-154C-4A19-8F35-DCE77BA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2897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Where the data and systems live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144F0B-C41F-4C25-B5F9-F9DF7303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3457575"/>
            <a:ext cx="152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65DFF"/>
                </a:solidFill>
              </a:defRPr>
            </a:pPr>
            <a:r>
              <a:rPr sz="825" b="0">
                <a:solidFill>
                  <a:srgbClr val="165DFF"/>
                </a:solidFill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E720C8-AB51-4357-8193-6846842C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90925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FE1D25-CFF3-4614-9ADB-845C20D7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57600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How the solution gets built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36716-E5A7-402E-B2D9-1679EC46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29075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C0C0D"/>
                </a:solidFill>
              </a:defRPr>
            </a:pPr>
            <a:r>
              <a:rPr sz="788" b="1">
                <a:solidFill>
                  <a:srgbClr val="0C0C0D"/>
                </a:solidFill>
              </a:rPr>
              <a:t>Miss one layer and the project often stalls.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E7E11C-689E-4DA2-AF06-A70A8259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29125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Listen only to leadership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DEB00A-3B42-45BA-B8CE-4EC7BE70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005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7676B"/>
                </a:solidFill>
              </a:defRPr>
            </a:pPr>
            <a:r>
              <a:rPr sz="653" b="0">
                <a:solidFill>
                  <a:srgbClr val="67676B"/>
                </a:solidFill>
              </a:rPr>
              <a:t>The ambition is broad, but the first practical job remains unclear.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87A252-B6F5-49DE-B33E-EF50266B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05375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Listen only to frontline teams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1CEE2E-F12D-4C53-979D-64904E8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768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7676B"/>
                </a:solidFill>
              </a:defRPr>
            </a:pPr>
            <a:r>
              <a:rPr sz="653" b="0">
                <a:solidFill>
                  <a:srgbClr val="67676B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92B299-08C3-490F-A357-21A616EE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81625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Start with a software vendor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8779C5-2383-4034-A714-E81352B6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530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7676B"/>
                </a:solidFill>
              </a:defRPr>
            </a:pPr>
            <a:r>
              <a:rPr sz="653" b="0">
                <a:solidFill>
                  <a:srgbClr val="67676B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AAFB8A-F637-45B4-9325-BB9B304D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57875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Buy a standard product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BC7032-7651-4BD7-BE90-115814B1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029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7676B"/>
                </a:solidFill>
              </a:defRPr>
            </a:pPr>
            <a:r>
              <a:rPr sz="653" b="0">
                <a:solidFill>
                  <a:srgbClr val="67676B"/>
                </a:solidFill>
              </a:rPr>
              <a:t>Deployment is fast, but the workflow may not fit.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166CC5-2471-4C6C-AB6A-316BD31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334125"/>
            <a:ext cx="2143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Build a large platform first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8F97EC-CCC5-41A4-B61D-A57565B5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5055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67676B"/>
                </a:solidFill>
              </a:defRPr>
            </a:pPr>
            <a:r>
              <a:rPr sz="653" b="0">
                <a:solidFill>
                  <a:srgbClr val="67676B"/>
                </a:solidFill>
              </a:rPr>
              <a:t>Time and money are committed before business value is tested.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293F23-D393-47BD-841E-80C50566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962775"/>
            <a:ext cx="4524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756988-405C-4CB0-9926-AD40BD32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8025"/>
            <a:ext cx="429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 company needs someone who can connect business, product, and technology. That is the FDE’s role.</a:t>
            </a:r>
          </a:p>
        </p:txBody>
      </p:sp>
    </p:spTree>
    <p:extLst>
      <p:ext uri="{BB962C8B-B14F-4D97-AF65-F5344CB8AC3E}">
        <p14:creationId xmlns:p14="http://schemas.microsoft.com/office/powerpoint/2010/main" val="1324750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52465-1052-4B9B-A069-238A808E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WHAT IS AN FDE?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B8991-AE13-4964-8BCE-3C381691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D0FFD-E285-4BDE-B9BD-5EB0E94C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3F40A-7EB6-417F-B567-DD7B7F24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0C0D"/>
                </a:solidFill>
              </a:defRPr>
            </a:pPr>
            <a:r>
              <a:rPr sz="2100" b="1">
                <a:solidFill>
                  <a:srgbClr val="0C0C0D"/>
                </a:solidFill>
              </a:rPr>
              <a:t>An FDE starts with ambiguity</a:t>
            </a:r>
          </a:p>
          <a:p xmlns:a="http://schemas.openxmlformats.org/drawingml/2006/main">
            <a:pPr algn="l">
              <a:defRPr sz="2100" b="1">
                <a:solidFill>
                  <a:srgbClr val="0C0C0D"/>
                </a:solidFill>
              </a:defRPr>
            </a:pPr>
            <a:r>
              <a:rPr sz="2100" b="1">
                <a:solidFill>
                  <a:srgbClr val="0C0C0D"/>
                </a:solidFill>
              </a:rPr>
              <a:t>and stays until results can be tested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73B2F-5395-491F-9723-37780B68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23050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7676B"/>
                </a:solidFill>
              </a:defRPr>
            </a:pPr>
            <a:r>
              <a:rPr sz="938" b="0">
                <a:solidFill>
                  <a:srgbClr val="67676B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67676B"/>
                </a:solidFill>
              </a:defRPr>
            </a:pPr>
            <a:r>
              <a:rPr sz="938" b="0">
                <a:solidFill>
                  <a:srgbClr val="67676B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147fe8cff41dc"/>
          <a:srcRect xmlns:a="http://schemas.openxmlformats.org/drawingml/2006/main" l="12545" t="0" r="125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33700" y="1885950"/>
            <a:ext cx="1990725" cy="1771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52F8B-877C-45FB-824E-2961C24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0C0D"/>
                </a:solidFill>
              </a:defRPr>
            </a:pPr>
            <a:r>
              <a:rPr sz="1125" b="1">
                <a:solidFill>
                  <a:srgbClr val="0C0C0D"/>
                </a:solidFill>
              </a:rPr>
              <a:t>Once the problem is clear, the FDE chooses how to solve it: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2A293-FB8E-45D2-BA81-C45CB60C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00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840A9-11D1-42E5-AA22-0E2CEBC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16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Use an existing product when it already solves the problem.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8E037-57E7-421C-8A0A-BE327F87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973AB-7298-4015-AF1B-BA0F38C4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FE671-BFB7-43FA-AF7E-09291916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416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Build a Skill when a Skill is enough.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50661-6C43-40BD-8C1A-F714F8D3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C3B83-6193-4140-8F77-6CA0BBE0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5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78F66-F20A-40FE-A68C-D350F7A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416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Integrate with existing systems when the workflow crosses tools.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A9B00-FA18-452F-8330-5A84E7F8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1CA30-E123-4B4C-8A6B-CE78CB2B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9A996-1DA2-492D-9902-A63359DE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416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933CC-1279-44E0-9D0F-DAD8676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789B4-FC3A-44F9-A0AC-4ADBCA8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FA3DC-AF2B-432F-BCD7-90A406C3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96050"/>
            <a:ext cx="416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617CF-47B2-489D-AE2C-7009C880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0608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609DF-57B2-4B82-8867-CF2390A6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WHAT WE DELIVER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0C8D0-D1FE-4AA2-91D4-CFACB00D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41D81-3153-44DE-96AC-BF5D8BCF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DFD08-0869-49C4-8CE1-F39258D9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0C0D"/>
                </a:solidFill>
              </a:defRPr>
            </a:pPr>
            <a:r>
              <a:rPr sz="2550" b="1">
                <a:solidFill>
                  <a:srgbClr val="0C0C0D"/>
                </a:solidFill>
              </a:rPr>
              <a:t>From one small tool</a:t>
            </a:r>
          </a:p>
          <a:p xmlns:a="http://schemas.openxmlformats.org/drawingml/2006/main">
            <a:pPr algn="l">
              <a:defRPr sz="2550" b="1">
                <a:solidFill>
                  <a:srgbClr val="0C0C0D"/>
                </a:solidFill>
              </a:defRPr>
            </a:pPr>
            <a:r>
              <a:rPr sz="2550" b="1">
                <a:solidFill>
                  <a:srgbClr val="0C0C0D"/>
                </a:solidFill>
              </a:rPr>
              <a:t>to a company-wide AI upgrade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0D74C-CBD8-46E9-A37F-70E4B12E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003D8-C549-4AAD-902A-E7CF0AC5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4BC91-5542-4CA1-8C96-A8ECA630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478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0C0D"/>
                </a:solidFill>
              </a:defRPr>
            </a:pPr>
            <a:r>
              <a:rPr sz="1125" b="1">
                <a:solidFill>
                  <a:srgbClr val="0C0C0D"/>
                </a:solidFill>
              </a:rPr>
              <a:t>One specific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FA603-322B-4816-BB87-3AED2DD0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47850"/>
            <a:ext cx="2552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Company-specific Skills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Document, spreadsheet, and image processing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Quotation, entry, reconciliation, and reporting automation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Small custom SaaS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B5CC8-B965-4FED-8C88-305C9A11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146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7676B"/>
                </a:solidFill>
              </a:defRPr>
            </a:pPr>
            <a:r>
              <a:rPr sz="705" b="0">
                <a:solidFill>
                  <a:srgbClr val="67676B"/>
                </a:solidFill>
              </a:rPr>
              <a:t>Best for：Best when the problem is clear and results are needed quickly.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D8392-314D-40BE-B846-22083798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CDE05-F3D9-47F4-B3C1-4C7EC587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5C6E6-8F69-4CD6-A1F9-8979522A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7182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0C0D"/>
                </a:solidFill>
              </a:defRPr>
            </a:pPr>
            <a:r>
              <a:rPr sz="1125" b="1">
                <a:solidFill>
                  <a:srgbClr val="0C0C0D"/>
                </a:solidFill>
              </a:rPr>
              <a:t>One business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C6937-0E56-493F-88BD-338E4413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71825"/>
            <a:ext cx="2552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Interviews and workflow mapping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Role-specific agents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ERP, CRM, collaboration, and messaging integrations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Exception handling and human approval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Progress, result, and activity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39C97-D540-49B9-95A0-7D80B0ED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386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7676B"/>
                </a:solidFill>
              </a:defRPr>
            </a:pPr>
            <a:r>
              <a:rPr sz="705" b="0">
                <a:solidFill>
                  <a:srgbClr val="67676B"/>
                </a:solidFill>
              </a:rPr>
              <a:t>Best for：Best when work crosses people and systems through manual handoffs.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DB6DD-E1B7-4ABA-812E-10D6E548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FC0E-E19A-4354-94DC-E436F5B2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03BC5-9171-48FB-8DBC-1A6C7C60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0C0D"/>
                </a:solidFill>
              </a:defRPr>
            </a:pPr>
            <a:r>
              <a:rPr sz="1125" b="1">
                <a:solidFill>
                  <a:srgbClr val="0C0C0D"/>
                </a:solidFill>
              </a:rPr>
              <a:t>A data foundation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5DF8B-05C1-4DD8-AAA8-294DEDAB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95800"/>
            <a:ext cx="2552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Operational databases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Enterprise knowledge bases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Data cleanup and consistent naming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Permissions and usage boundaries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Trusted data for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240B6-6347-4103-B584-E43130FE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625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7676B"/>
                </a:solidFill>
              </a:defRPr>
            </a:pPr>
            <a:r>
              <a:rPr sz="705" b="0">
                <a:solidFill>
                  <a:srgbClr val="67676B"/>
                </a:solidFill>
              </a:rPr>
              <a:t>Best for：Best when information is hard to find, share, or trust.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AF90F-3E58-492D-9D3F-9A10E766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A0834-2B4A-41BA-8A08-FCA18B7D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138D5-690E-49AE-B823-98F843CD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8197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0C0D"/>
                </a:solidFill>
              </a:defRPr>
            </a:pPr>
            <a:r>
              <a:rPr sz="1125" b="1">
                <a:solidFill>
                  <a:srgbClr val="0C0C0D"/>
                </a:solidFill>
              </a:rPr>
              <a:t>A company-wide upgrade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04707-3F2A-447E-B7FB-77E70B46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819775"/>
            <a:ext cx="2552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Identify work suitable for AI across departments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Redesign how people and agents divide the work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Set permissions, approvals, and accountability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Define the pilot sequence and expansion plan</a:t>
            </a:r>
          </a:p>
          <a:p xmlns:a="http://schemas.openxmlformats.org/drawingml/2006/main">
            <a:pPr algn="l">
              <a:defRPr sz="765" b="0">
                <a:solidFill>
                  <a:srgbClr val="0C0C0D"/>
                </a:solidFill>
              </a:defRPr>
            </a:pPr>
            <a:r>
              <a:rPr sz="765" b="0">
                <a:solidFill>
                  <a:srgbClr val="0C0C0D"/>
                </a:solidFill>
              </a:rPr>
              <a:t>— Train the company’s own Agent Bosses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4B39C-AF7F-48B6-824A-41AA9B99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6865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7676B"/>
                </a:solidFill>
              </a:defRPr>
            </a:pPr>
            <a:r>
              <a:rPr sz="705" b="0">
                <a:solidFill>
                  <a:srgbClr val="67676B"/>
                </a:solidFill>
              </a:rPr>
              <a:t>Best for：Best when leadership wants one coordinated program.</a:t>
            </a:r>
          </a:p>
        </p:txBody>
      </p:sp>
    </p:spTree>
    <p:extLst>
      <p:ext uri="{BB962C8B-B14F-4D97-AF65-F5344CB8AC3E}">
        <p14:creationId xmlns:p14="http://schemas.microsoft.com/office/powerpoint/2010/main" val="62680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0C8C1-CD88-4814-9A66-EBDF7635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HOW WE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CA3E0-9343-40C4-9630-0AE1E9E3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780AA-A6B7-4ED3-8FD1-F5B01814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D559E-6F13-4F59-873A-16BEAA2D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C0C0D"/>
                </a:solidFill>
              </a:defRPr>
            </a:pPr>
            <a:r>
              <a:rPr sz="2700" b="1">
                <a:solidFill>
                  <a:srgbClr val="0C0C0D"/>
                </a:solidFill>
              </a:rPr>
              <a:t>Assess first.</a:t>
            </a:r>
          </a:p>
          <a:p xmlns:a="http://schemas.openxmlformats.org/drawingml/2006/main">
            <a:pPr algn="l">
              <a:defRPr sz="2700" b="1">
                <a:solidFill>
                  <a:srgbClr val="0C0C0D"/>
                </a:solidFill>
              </a:defRPr>
            </a:pPr>
            <a:r>
              <a:rPr sz="2700" b="1">
                <a:solidFill>
                  <a:srgbClr val="0C0C0D"/>
                </a:solidFill>
              </a:rPr>
              <a:t>Build only if it is worth building.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F60E4-A924-49AF-9931-562172AE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5DFF"/>
                </a:solidFill>
              </a:defRPr>
            </a:pPr>
            <a:r>
              <a:rPr sz="2925" b="1">
                <a:solidFill>
                  <a:srgbClr val="165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F81F4-05C8-4DBC-AD75-27DAE270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90725"/>
            <a:ext cx="365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C0C0D"/>
                </a:solidFill>
              </a:defRPr>
            </a:pPr>
            <a:r>
              <a:rPr sz="938" b="1">
                <a:solidFill>
                  <a:srgbClr val="0C0C0D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788A8-2F8F-4F8B-8F2E-832280B3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6225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94B8D-EA57-4BD2-AF28-DBC2EC27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C0C0D"/>
                </a:solidFill>
              </a:defRPr>
            </a:pPr>
            <a:r>
              <a:rPr sz="2925" b="1">
                <a:solidFill>
                  <a:srgbClr val="0C0C0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33A98-5BC8-4C37-8B87-14348AE5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52750"/>
            <a:ext cx="365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09AC3-043E-45B9-9D31-EDC6A5F3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24275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58A7C-1B3E-4751-A242-B6FF9569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C0C0D"/>
                </a:solidFill>
              </a:defRPr>
            </a:pPr>
            <a:r>
              <a:rPr sz="2925" b="1">
                <a:solidFill>
                  <a:srgbClr val="0C0C0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AF8E8-3C39-4DDD-A12B-A3FD57B5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914775"/>
            <a:ext cx="365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57910-55C9-4BEB-9141-70C590C8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8630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DDEEC-28B8-4722-9168-B65F83A7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C0C0D"/>
                </a:solidFill>
              </a:defRPr>
            </a:pPr>
            <a:r>
              <a:rPr sz="2925" b="1">
                <a:solidFill>
                  <a:srgbClr val="0C0C0D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5F3B6-8060-4B89-8E24-487199A6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76800"/>
            <a:ext cx="365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AC1B0-5AB3-4E34-9A8F-E5108C6D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648325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39BAF-D4ED-4AB2-86A3-32F7FD25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C0C0D"/>
                </a:solidFill>
              </a:defRPr>
            </a:pPr>
            <a:r>
              <a:rPr sz="2925" b="1">
                <a:solidFill>
                  <a:srgbClr val="0C0C0D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D90EA-E4F9-487F-941B-D41F8E92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838825"/>
            <a:ext cx="3657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C0C0D"/>
                </a:solidFill>
              </a:defRPr>
            </a:pPr>
            <a:r>
              <a:rPr sz="938" b="0">
                <a:solidFill>
                  <a:srgbClr val="0C0C0D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BC71E-EB9A-4542-ABC1-82072C7A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661035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0735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452FF9-3D7C-42E5-A935-DF107DAD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WHAT A PILOT DELIVERS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E29FD-DD0A-4672-B73D-30768C4D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B3948-B1D8-418C-A8D7-45012225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8566D-F8A5-4612-9DC5-1F0AE443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C0C0D"/>
                </a:solidFill>
              </a:defRPr>
            </a:pPr>
            <a:r>
              <a:rPr sz="2775" b="1">
                <a:solidFill>
                  <a:srgbClr val="0C0C0D"/>
                </a:solidFill>
              </a:rPr>
              <a:t>Not a demo.</a:t>
            </a:r>
          </a:p>
          <a:p xmlns:a="http://schemas.openxmlformats.org/drawingml/2006/main">
            <a:pPr algn="l">
              <a:defRPr sz="2775" b="1">
                <a:solidFill>
                  <a:srgbClr val="0C0C0D"/>
                </a:solidFill>
              </a:defRPr>
            </a:pPr>
            <a:r>
              <a:rPr sz="2775" b="1">
                <a:solidFill>
                  <a:srgbClr val="0C0C0D"/>
                </a:solidFill>
              </a:rPr>
              <a:t>A working test with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97BF6-CABD-4AFE-A6E8-53AADAB8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452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DEPENDING ON SCOPE, A PILOT MAY INCLUDE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E66E8-8F36-40C4-86B0-8DC7686E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F6AA8-98D9-46D9-A560-0C7537AF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431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A map of the current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AFB92-BD89-479B-ACBF-643130CA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2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E602F-17A0-4F79-A05F-DA251663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431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54AC3-BB73-4BE0-A6EA-C83A34FC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The problem and pilot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59AE7-A094-4CD7-896D-75702C4A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2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787FE-A45F-40A1-AAC7-2434B6A1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124DF-CCD0-47CE-A89C-51A166AE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A working prototype or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5BE09-3E43-42EC-AA6D-19DCF709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14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4F842-1D39-41A9-AB0D-A6083540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289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C035C-1C2D-4C4A-836B-7FEFF1C0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The data and permissions used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486C0-C487-43EA-AF8E-66B8523A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14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F1C9B-026D-4997-95A4-7AA0D490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F4632-083F-4A64-84BE-E48F7E1C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Responsibilities for people and agents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95D8C-768D-45CE-BE01-86C127F7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00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3DD77-55D0-4DE7-B7FC-66FF039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147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00E58-EF56-4701-A566-2B937280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147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Human approval 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10C17-FF72-45D0-8771-F0BAB78B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00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86694-A8ED-4A0A-958F-A8D8B81C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B04E1D-4C14-4DF8-802A-3E2BDD88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005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A before-and-after comparison method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AE45B5-0187-4B15-B0CA-1EC32332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863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35566-EACD-4DD4-8929-AF61464F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4005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D7E44D-A4A9-4870-A327-7CE55BC2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005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A recommendation to continue, adjust, or stop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D9935-5480-4477-9ADD-CEE69A0E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863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42F5D-09C5-4A29-AC87-A9873AF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524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5974CC-193C-41FD-93C3-2E3CE544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418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BEFORE WORK BEGINS, WE AGREE 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CF8AAD-C3DA-4477-9A62-91F1944C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01  Who owns the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8C67C0-7EFC-4855-9521-DE948DDF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959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  What completion means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D6CCC-0177-4007-A31D-45E7BB3F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  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847642-0528-4100-9DE4-D06520CC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324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  How the result will be judged</a:t>
            </a:r>
          </a:p>
        </p:txBody>
      </p:sp>
    </p:spTree>
    <p:extLst>
      <p:ext uri="{BB962C8B-B14F-4D97-AF65-F5344CB8AC3E}">
        <p14:creationId xmlns:p14="http://schemas.microsoft.com/office/powerpoint/2010/main" val="793036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314FF-AEC5-41D1-BF1F-68BD083B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CASE STUDIES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20B90-FC11-433D-9741-87523306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060A6-9F4B-4407-9B9B-5DDE07AF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5A0B2-36F7-433A-9975-5710D316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0C0D"/>
                </a:solidFill>
              </a:defRPr>
            </a:pPr>
            <a:r>
              <a:rPr sz="2325" b="1">
                <a:solidFill>
                  <a:srgbClr val="0C0C0D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defRPr sz="2325" b="1">
                <a:solidFill>
                  <a:srgbClr val="0C0C0D"/>
                </a:solidFill>
              </a:defRPr>
            </a:pPr>
            <a:r>
              <a:rPr sz="2325" b="1">
                <a:solidFill>
                  <a:srgbClr val="0C0C0D"/>
                </a:solidFill>
              </a:rPr>
              <a:t>not only what the system looks like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DC927-2C6C-4B44-8D5F-FB0FE373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4524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C59D8-3C5C-4533-89FF-924A9C3B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33575"/>
            <a:ext cx="4257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7676B"/>
                </a:solidFill>
              </a:defRPr>
            </a:pPr>
            <a:r>
              <a:rPr sz="765" b="0">
                <a:solidFill>
                  <a:srgbClr val="67676B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8A43C-D124-455C-80D6-B3E5EEC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452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COMPANIES WE HAVE SERVED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C8E45-0196-49E7-BD79-3A55A07E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8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44897-9459-48CE-807B-5FC0F6B0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LOGO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37517-65D6-4887-9582-0EB13481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962275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8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CE881-B7C9-45D7-91BA-F205816D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1337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LOGO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15D7F-D651-4018-92F6-95AA314D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62275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8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11940-6F30-4D7D-96A1-6A7EC829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337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LOGO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9B401-518F-4EDC-9ECA-A77380EA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62275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8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95556-E7E3-498E-BE9C-6AEB62C7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337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LOGO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4170D-A42D-4756-8468-111A3161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CASE 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130B0-DD89-4BFC-A0C0-89A2A67C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DDD92-6B56-4BC9-B7EF-5A9A9CD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1482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Before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41DA9-14E4-4EAC-A133-D7BADF11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16BE0-3DAE-4A74-9C82-06F21E97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31482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What we found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2C359-14A6-42A7-BF9D-3CF65744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55295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CBA71-8429-4FBE-B9A3-B408C3E4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What we delivered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43DCF-D5A3-461D-A5BF-5A2B78AC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3D4FB-0D59-4E50-8647-0F48AFE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82917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What changed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EF3C1-5F01-49F5-A767-CBA815FB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6730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DF621-0781-4E9D-AB96-363C9E3B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14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CASE 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1BBC72-70FC-46A3-BD86-DB2D0814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60CA6A-FF35-42ED-8895-D253BDD4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Before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8CCB7-1D22-4C2F-828A-3981139E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8AC67E-9767-4B58-994F-31C5A937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97217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What we found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1DAB0D-39A4-437A-8C7C-204F287A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21030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27D75A-B9E9-464E-8B86-206B4D71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What we delivered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4A2177-F210-4D03-AD6F-9A60991C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2465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17E5FC-D65B-46C0-8C74-D421EB37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486525"/>
            <a:ext cx="981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What changed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ABD45F-7E4E-4518-944F-D940A13D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724650"/>
            <a:ext cx="2085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7573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A6A29-D22B-4D0E-B5E4-12E357C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FOLLOW-ON SERVICE / AGENT BOSS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9D3FE-E364-4DE2-9685-A77B1C49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260D6-F596-4D24-96B2-7C4BA5BD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D23E2-D6DD-4A0A-BDDA-EF1B9920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0C0D"/>
                </a:solidFill>
              </a:defRPr>
            </a:pPr>
            <a:r>
              <a:rPr sz="2550" b="1">
                <a:solidFill>
                  <a:srgbClr val="0C0C0D"/>
                </a:solidFill>
              </a:rPr>
              <a:t>A working agent still needs</a:t>
            </a:r>
          </a:p>
          <a:p xmlns:a="http://schemas.openxmlformats.org/drawingml/2006/main">
            <a:pPr algn="l">
              <a:defRPr sz="2550" b="1">
                <a:solidFill>
                  <a:srgbClr val="0C0C0D"/>
                </a:solidFill>
              </a:defRPr>
            </a:pPr>
            <a:r>
              <a:rPr sz="2550" b="1">
                <a:solidFill>
                  <a:srgbClr val="0C0C0D"/>
                </a:solidFill>
              </a:rPr>
              <a:t>someone who knows how to lead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ED7F1-EF9D-4C69-A858-4570D9D4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33575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7676B"/>
                </a:solidFill>
              </a:defRPr>
            </a:pPr>
            <a:r>
              <a:rPr sz="938" b="0">
                <a:solidFill>
                  <a:srgbClr val="67676B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67676B"/>
                </a:solidFill>
              </a:defRPr>
            </a:pPr>
            <a:r>
              <a:rPr sz="938" b="0">
                <a:solidFill>
                  <a:srgbClr val="67676B"/>
                </a:solidFill>
              </a:rPr>
              <a:t>After launch, managers and employees need to know how to: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a532c20554348"/>
          <a:srcRect xmlns:a="http://schemas.openxmlformats.org/drawingml/2006/main" l="0" t="3398" r="0" b="33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2275" y="1933575"/>
            <a:ext cx="1962150" cy="1219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937A8-0CD4-4ADC-9472-C08EE3F5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99005-F2DF-4A2F-ACEB-A988B677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Give agents clear goals and completion 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16F13-E781-40E2-B38A-8FB90C57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4956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609AA-C25A-4C4F-A829-08039902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4956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Decide which work can be delegated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9166A-BE38-46B7-9683-72620B25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D6EF4-9CFD-4D94-B1FB-97E5353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92351-21A0-41F7-86EE-C27AF927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4812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C758F-9686-408E-8D6A-A03E719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481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Handle exceptions, request changes, or stop a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1AC0F-65B0-4935-917D-C144B0C0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3DF37-FA19-45A6-84C0-E6DE80FD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Manage data, tools, and 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692B3-7044-40DB-BEB0-8C2C4054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6005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FEBDE-4E77-498F-A9B8-072D1FA6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6005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Turn good practices into shared Skills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E456E-A4E2-449B-BD90-BB02B546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65DFF"/>
                </a:solidFill>
              </a:defRPr>
            </a:pPr>
            <a:r>
              <a:rPr sz="675" b="1">
                <a:solidFill>
                  <a:srgbClr val="165DFF"/>
                </a:solidFill>
              </a:rPr>
              <a:t>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9A051-C4C9-4A4C-BECA-636B2971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Remain accountable for the business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04CC1-18AC-4830-B4ED-F75F904C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0C0D"/>
                </a:solidFill>
              </a:defRPr>
            </a:pPr>
            <a:r>
              <a:rPr sz="1125" b="1">
                <a:solidFill>
                  <a:srgbClr val="0C0C0D"/>
                </a:solidFill>
              </a:rPr>
              <a:t>We call this training Agent Boss.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5D5DA-01AC-488B-A262-EECA7945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7676B"/>
                </a:solidFill>
              </a:defRPr>
            </a:pPr>
            <a:r>
              <a:rPr sz="810" b="0">
                <a:solidFill>
                  <a:srgbClr val="67676B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515A18-F469-43C8-B7FE-1E401026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38950"/>
            <a:ext cx="4524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4E448-54DD-47C5-B33A-B34E455B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962775"/>
            <a:ext cx="4257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</a:defRPr>
            </a:pPr>
            <a:r>
              <a:rPr sz="705" b="1">
                <a:solidFill>
                  <a:srgbClr val="FFFFFF"/>
                </a:solidFill>
              </a:rPr>
              <a:t>FDE: build and launch the system   /   Agent Boss: help the team take ownership and keep improving it</a:t>
            </a:r>
          </a:p>
        </p:txBody>
      </p:sp>
    </p:spTree>
    <p:extLst>
      <p:ext uri="{BB962C8B-B14F-4D97-AF65-F5344CB8AC3E}">
        <p14:creationId xmlns:p14="http://schemas.microsoft.com/office/powerpoint/2010/main" val="21366398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56B8E-106D-45C6-8318-0328E867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COMPLIMENTARY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4C1FD-AAF0-44D3-B85A-6D81693E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0DA62-7CB7-498F-8B29-B79B27F1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5A2A4-1916-40C1-B86A-91293DC1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C0C0D"/>
                </a:solidFill>
              </a:defRPr>
            </a:pPr>
            <a:r>
              <a:rPr sz="3075" b="1">
                <a:solidFill>
                  <a:srgbClr val="0C0C0D"/>
                </a:solidFill>
              </a:rPr>
              <a:t>Find the right first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63E70-056D-4425-AA61-FE4D0EAB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452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7676B"/>
                </a:solidFill>
              </a:defRPr>
            </a:pPr>
            <a:r>
              <a:rPr sz="1013" b="0">
                <a:solidFill>
                  <a:srgbClr val="67676B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56AA0-4D9F-4766-AE8E-2A30916C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5DFF"/>
                </a:solidFill>
              </a:defRPr>
            </a:pPr>
            <a:r>
              <a:rPr sz="825" b="1">
                <a:solidFill>
                  <a:srgbClr val="165DFF"/>
                </a:solidFill>
              </a:rPr>
              <a:t>YOU WILL RECEIVE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AF02E-F0D9-4CA0-B8DD-0C92E548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4D3D3-0A28-4DD7-81EB-4D550A2E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162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C0C0D"/>
                </a:solidFill>
              </a:defRPr>
            </a:pPr>
            <a:r>
              <a:rPr sz="900" b="0">
                <a:solidFill>
                  <a:srgbClr val="0C0C0D"/>
                </a:solidFill>
              </a:rPr>
              <a:t>One to three areas worth examining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83F36-A607-4305-95D3-D8D46248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92E95-E89A-4468-A61A-3ED91F69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C92E3-5EE7-4D82-9F43-8F651E4B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162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C0C0D"/>
                </a:solidFill>
              </a:defRPr>
            </a:pPr>
            <a:r>
              <a:rPr sz="900" b="0">
                <a:solidFill>
                  <a:srgbClr val="0C0C0D"/>
                </a:solidFill>
              </a:rPr>
              <a:t>An initial judgment on whether AI fits the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68623-AB92-44F8-BECD-53C85C3A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83601-4791-4F4B-B41E-600F748B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0BE6A-E28F-41B3-A596-44550451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4162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C0C0D"/>
                </a:solidFill>
              </a:defRPr>
            </a:pPr>
            <a:r>
              <a:rPr sz="900" b="0">
                <a:solidFill>
                  <a:srgbClr val="0C0C0D"/>
                </a:solidFill>
              </a:rPr>
              <a:t>The data, systems, and people 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E3F0E-D431-4A65-883F-E6AC0359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04F1F-D79C-4997-A2DE-64F0A8A7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C2510-1133-4853-BFA8-281F2ED3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162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C0C0D"/>
                </a:solidFill>
              </a:defRPr>
            </a:pPr>
            <a:r>
              <a:rPr sz="900" b="0">
                <a:solidFill>
                  <a:srgbClr val="0C0C0D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88A9D-5B7D-4A3A-9FCE-10580759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5A71C-890C-4832-9E9F-2B1411AE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E6C08-0CDC-456A-9233-FE915179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4162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C0C0D"/>
                </a:solidFill>
              </a:defRPr>
            </a:pPr>
            <a:r>
              <a:rPr sz="900" b="0">
                <a:solidFill>
                  <a:srgbClr val="0C0C0D"/>
                </a:solidFill>
              </a:rPr>
              <a:t>An honest view on whether a pilot is worthwhile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D228E-FB4C-4AA8-930D-BBE7ED65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162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33610-C172-4355-B2A9-7CF1D51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45243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D69B3-6C4B-4EA3-95E4-6319E275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724525"/>
            <a:ext cx="42005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WE MAY ALSO TELL YOU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9526D-F295-4471-9B11-AEEFCFBA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769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</a:defRPr>
            </a:pPr>
            <a:r>
              <a:rPr sz="765" b="1">
                <a:solidFill>
                  <a:srgbClr val="FFFFFF"/>
                </a:solidFill>
              </a:rPr>
              <a:t>— The problem does not need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235A2-9F31-4175-90D3-AEDDA5E6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0769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</a:defRPr>
            </a:pPr>
            <a:r>
              <a:rPr sz="765" b="1">
                <a:solidFill>
                  <a:srgbClr val="FFFFFF"/>
                </a:solidFill>
              </a:rPr>
              <a:t>— The data is not 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6CA82-0B54-4382-B5B2-075B873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</a:defRPr>
            </a:pPr>
            <a:r>
              <a:rPr sz="765" b="1">
                <a:solidFill>
                  <a:srgbClr val="FFFFFF"/>
                </a:solidFill>
              </a:rPr>
              <a:t>— 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AFAAD-C52B-4AE9-8B3F-002B1014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4293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</a:defRPr>
            </a:pPr>
            <a:r>
              <a:rPr sz="765" b="1">
                <a:solidFill>
                  <a:srgbClr val="FFFFFF"/>
                </a:solidFill>
              </a:rPr>
              <a:t>— An existing product is better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977BA-C263-4369-9148-0A0D85AB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675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7676B"/>
                </a:solidFill>
              </a:defRPr>
            </a:pPr>
            <a:r>
              <a:rPr sz="705" b="0">
                <a:solidFill>
                  <a:srgbClr val="67676B"/>
                </a:solidFill>
              </a:rPr>
              <a:t>The assessment does not include a complete plan and does not require access to unauthorized sensitive data.</a:t>
            </a:r>
          </a:p>
        </p:txBody>
      </p:sp>
    </p:spTree>
    <p:extLst>
      <p:ext uri="{BB962C8B-B14F-4D97-AF65-F5344CB8AC3E}">
        <p14:creationId xmlns:p14="http://schemas.microsoft.com/office/powerpoint/2010/main" val="10928915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9423B-83B4-4566-8FAF-AEA67104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7676B"/>
                </a:solidFill>
              </a:defRPr>
            </a:pPr>
            <a:r>
              <a:rPr sz="675" b="1">
                <a:solidFill>
                  <a:srgbClr val="67676B"/>
                </a:solidFill>
              </a:rPr>
              <a:t>COMPLIMENTARY ENTERPRISE AI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261D0-3766-4AE3-8A43-2ED84F46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7676B"/>
                </a:solidFill>
              </a:defRPr>
            </a:pPr>
            <a:r>
              <a:rPr sz="675" b="0">
                <a:solidFill>
                  <a:srgbClr val="67676B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89E93-60B9-4B17-B297-F67635F7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EDA44-66B9-4D41-9CA0-BEB574C9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C0C0D"/>
                </a:solidFill>
              </a:defRPr>
            </a:pPr>
            <a:r>
              <a:rPr sz="2700" b="1">
                <a:solidFill>
                  <a:srgbClr val="0C0C0D"/>
                </a:solidFill>
              </a:rPr>
              <a:t>Which part of your business</a:t>
            </a:r>
          </a:p>
          <a:p xmlns:a="http://schemas.openxmlformats.org/drawingml/2006/main">
            <a:pPr algn="l">
              <a:defRPr sz="2700" b="1">
                <a:solidFill>
                  <a:srgbClr val="0C0C0D"/>
                </a:solidFill>
              </a:defRPr>
            </a:pPr>
            <a:r>
              <a:rPr sz="2700" b="1">
                <a:solidFill>
                  <a:srgbClr val="0C0C0D"/>
                </a:solidFill>
              </a:rPr>
              <a:t>should AI improve first?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B3523-6FB1-4A1C-B448-E5481931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5DFF"/>
                </a:solidFill>
              </a:defRPr>
            </a:pPr>
            <a:r>
              <a:rPr sz="1200" b="1">
                <a:solidFill>
                  <a:srgbClr val="165DFF"/>
                </a:solidFill>
              </a:rPr>
              <a:t>10 companies per day</a:t>
            </a:r>
          </a:p>
          <a:p xmlns:a="http://schemas.openxmlformats.org/drawingml/2006/main">
            <a:pPr algn="l">
              <a:defRPr sz="1200" b="1">
                <a:solidFill>
                  <a:srgbClr val="165DFF"/>
                </a:solidFill>
              </a:defRPr>
            </a:pPr>
            <a:r>
              <a:rPr sz="1200" b="1">
                <a:solidFill>
                  <a:srgbClr val="165DFF"/>
                </a:solidFill>
              </a:rPr>
              <a:t>20 over the two-day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50BE7-942C-44B6-8E9F-D0360477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C0C0D"/>
                </a:solidFill>
              </a:defRPr>
            </a:pPr>
            <a:r>
              <a:rPr sz="825" b="1">
                <a:solidFill>
                  <a:srgbClr val="0C0C0D"/>
                </a:solidFill>
              </a:rPr>
              <a:t>SCAN AND TELL US: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658F0-3BD7-4A65-BDEB-224F799D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A3F69-0CB3-4085-BFA0-1FCC8F7F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2352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Your company and industry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485C5-2B22-4DC6-9655-3CE76447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D39FD-7FCC-4CC0-AB91-F477D2BE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8C38F-63E5-4B33-BA78-DA4DC33C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352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The one area you most want to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C1E3F-4D27-4AD0-BCA9-AB277A18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E8AF8-E35C-441E-B9E6-E13A31C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B16C5-5B6B-438D-A66E-027FFDDD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2352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How the work is done today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7D61E-689D-41A8-AAD2-E6A1C1AB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A5926-F8D9-4089-AF54-DA403A58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3837B-2431-4831-882D-78F8ED41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352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Who owns that part of the business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BF46D-2AC7-4263-8F34-F916BDE4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29CDA-25EC-4B22-BA2F-B0C6C95E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5DFF"/>
                </a:solidFill>
              </a:defRPr>
            </a:pPr>
            <a:r>
              <a:rPr sz="750" b="1">
                <a:solidFill>
                  <a:srgbClr val="165D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7F43C-EE43-4956-B08A-5E664ADB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23526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C0C0D"/>
                </a:solidFill>
              </a:defRPr>
            </a:pPr>
            <a:r>
              <a:rPr sz="825" b="0">
                <a:solidFill>
                  <a:srgbClr val="0C0C0D"/>
                </a:solidFill>
              </a:rPr>
              <a:t>Your contact details and preferred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72EE9-DA44-4FDB-ACDC-5BBA8DE8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0404E-6C22-409C-9D8E-4BC3255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C0C0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9540D-7CE5-45E7-B169-3844EE8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766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0C0D"/>
                </a:solidFill>
              </a:defRPr>
            </a:pPr>
            <a:r>
              <a:rPr sz="900" b="1">
                <a:solidFill>
                  <a:srgbClr val="0C0C0D"/>
                </a:solidFill>
              </a:rPr>
              <a:t>QR 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38AFBD-879A-4F61-BFE2-B794BE51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C0C0D"/>
                </a:solidFill>
              </a:defRPr>
            </a:pPr>
            <a:r>
              <a:rPr sz="750" b="1">
                <a:solidFill>
                  <a:srgbClr val="0C0C0D"/>
                </a:solidFill>
              </a:rPr>
              <a:t>SCAN TO RESERVE · AVAILABLE UNTIL FULL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e5dbe5b154805"/>
          <a:srcRect xmlns:a="http://schemas.openxmlformats.org/drawingml/2006/main" l="0" t="27579" r="0" b="275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5162550"/>
            <a:ext cx="4524375" cy="13525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9D5D8-C652-484E-B1FB-14B76D9C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056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[Brand name]</a:t>
            </a:r>
          </a:p>
          <a:p xmlns:a="http://schemas.openxmlformats.org/drawingml/2006/main">
            <a:pPr algn="l">
              <a:defRPr sz="788" b="0">
                <a:solidFill>
                  <a:srgbClr val="67676B"/>
                </a:solidFill>
              </a:defRPr>
            </a:pPr>
            <a:r>
              <a:rPr sz="788" b="0">
                <a:solidFill>
                  <a:srgbClr val="67676B"/>
                </a:solidFill>
              </a:rPr>
              <a:t>[Name / phone / WeChat / website]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A36CCA-BD2A-4753-A29F-1D012FDD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6705600"/>
            <a:ext cx="200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C0C0D"/>
                </a:solidFill>
              </a:defRPr>
            </a:pPr>
            <a:r>
              <a:rPr sz="825" b="1">
                <a:solidFill>
                  <a:srgbClr val="0C0C0D"/>
                </a:solidFill>
              </a:rPr>
              <a:t>Start with one problem you can understand, complete, and measure.</a:t>
            </a:r>
          </a:p>
        </p:txBody>
      </p:sp>
    </p:spTree>
    <p:extLst>
      <p:ext uri="{BB962C8B-B14F-4D97-AF65-F5344CB8AC3E}">
        <p14:creationId xmlns:p14="http://schemas.microsoft.com/office/powerpoint/2010/main" val="689545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2026-08-24T03:54:47.9390000Z</dcterms:created>
  <dcterms:modified xsi:type="dcterms:W3CDTF">2026-08-24T03:54:47.9390000Z</dcterms:modified>
</coreProperties>
</file>