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1313751c784b7d" /><Relationship Type="http://schemas.openxmlformats.org/officeDocument/2006/relationships/extended-properties" Target="/docProps/app.xml" Id="Rc2ecea3d53524a61" /><Relationship Type="http://schemas.openxmlformats.org/officeDocument/2006/relationships/officeDocument" Target="/ppt/presentation.xml" Id="Ra0d494b25bb248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aeb2d71f404ef1"/>
  </p:sldMasterIdLst>
  <p:notesMasterIdLst>
    <p:notesMasterId xmlns:r="http://schemas.openxmlformats.org/officeDocument/2006/relationships" r:id="R532dd359b61f46bc"/>
  </p:notesMasterIdLst>
  <p:sldIdLst>
    <p:sldId xmlns:r="http://schemas.openxmlformats.org/officeDocument/2006/relationships" id="256" r:id="R33108a78ef8b4b62"/>
    <p:sldId xmlns:r="http://schemas.openxmlformats.org/officeDocument/2006/relationships" id="257" r:id="Rd499bbebd52b4adf"/>
    <p:sldId xmlns:r="http://schemas.openxmlformats.org/officeDocument/2006/relationships" id="258" r:id="Rb474dd19b3624c73"/>
    <p:sldId xmlns:r="http://schemas.openxmlformats.org/officeDocument/2006/relationships" id="259" r:id="R9bb209f889bf4127"/>
    <p:sldId xmlns:r="http://schemas.openxmlformats.org/officeDocument/2006/relationships" id="260" r:id="R588ff52753334bf1"/>
    <p:sldId xmlns:r="http://schemas.openxmlformats.org/officeDocument/2006/relationships" id="261" r:id="R61a956d203eb4c22"/>
    <p:sldId xmlns:r="http://schemas.openxmlformats.org/officeDocument/2006/relationships" id="262" r:id="R5f2f1e04f5944036"/>
    <p:sldId xmlns:r="http://schemas.openxmlformats.org/officeDocument/2006/relationships" id="263" r:id="R1257e73fcedf4b23"/>
    <p:sldId xmlns:r="http://schemas.openxmlformats.org/officeDocument/2006/relationships" id="264" r:id="R6d6b05c08609442a"/>
    <p:sldId xmlns:r="http://schemas.openxmlformats.org/officeDocument/2006/relationships" id="265" r:id="R6d73ed41460346a1"/>
    <p:sldId xmlns:r="http://schemas.openxmlformats.org/officeDocument/2006/relationships" id="266" r:id="R08dd9410c54b46d4"/>
    <p:sldId xmlns:r="http://schemas.openxmlformats.org/officeDocument/2006/relationships" id="267" r:id="Rf5fc59014f92462d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4d393feb3e480a" /><Relationship Type="http://schemas.openxmlformats.org/officeDocument/2006/relationships/slideMaster" Target="/ppt/slideMasters/slideMaster1.xml" Id="Raeaeb2d71f404ef1" /><Relationship Type="http://schemas.openxmlformats.org/officeDocument/2006/relationships/notesMaster" Target="/ppt/notesMasters/notesMaster1.xml" Id="R532dd359b61f46bc" /><Relationship Type="http://schemas.openxmlformats.org/officeDocument/2006/relationships/presProps" Target="/ppt/presProps.xml" Id="Ra00d7912ef144299" /><Relationship Type="http://schemas.openxmlformats.org/officeDocument/2006/relationships/tableStyles" Target="/ppt/tableStyles.xml" Id="R5ae1402c592149e6" /><Relationship Type="http://schemas.openxmlformats.org/officeDocument/2006/relationships/slide" Target="/ppt/slides/slide1.xml" Id="R33108a78ef8b4b62" /><Relationship Type="http://schemas.openxmlformats.org/officeDocument/2006/relationships/slide" Target="/ppt/slides/slide2.xml" Id="Rd499bbebd52b4adf" /><Relationship Type="http://schemas.openxmlformats.org/officeDocument/2006/relationships/slide" Target="/ppt/slides/slide3.xml" Id="Rb474dd19b3624c73" /><Relationship Type="http://schemas.openxmlformats.org/officeDocument/2006/relationships/slide" Target="/ppt/slides/slide4.xml" Id="R9bb209f889bf4127" /><Relationship Type="http://schemas.openxmlformats.org/officeDocument/2006/relationships/slide" Target="/ppt/slides/slide5.xml" Id="R588ff52753334bf1" /><Relationship Type="http://schemas.openxmlformats.org/officeDocument/2006/relationships/slide" Target="/ppt/slides/slide6.xml" Id="R61a956d203eb4c22" /><Relationship Type="http://schemas.openxmlformats.org/officeDocument/2006/relationships/slide" Target="/ppt/slides/slide7.xml" Id="R5f2f1e04f5944036" /><Relationship Type="http://schemas.openxmlformats.org/officeDocument/2006/relationships/slide" Target="/ppt/slides/slide8.xml" Id="R1257e73fcedf4b23" /><Relationship Type="http://schemas.openxmlformats.org/officeDocument/2006/relationships/slide" Target="/ppt/slides/slide9.xml" Id="R6d6b05c08609442a" /><Relationship Type="http://schemas.openxmlformats.org/officeDocument/2006/relationships/slide" Target="/ppt/slides/slide10.xml" Id="R6d73ed41460346a1" /><Relationship Type="http://schemas.openxmlformats.org/officeDocument/2006/relationships/slide" Target="/ppt/slides/slide11.xml" Id="R08dd9410c54b46d4" /><Relationship Type="http://schemas.openxmlformats.org/officeDocument/2006/relationships/slide" Target="/ppt/slides/slide12.xml" Id="Rf5fc59014f9246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189db360a84f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36cd76cb3b4460" /><Relationship Type="http://schemas.openxmlformats.org/officeDocument/2006/relationships/notesMaster" Target="/ppt/notesMasters/notesMaster1.xml" Id="R1f49fd9d6a9d4a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8ba067b2884585" /><Relationship Type="http://schemas.openxmlformats.org/officeDocument/2006/relationships/notesMaster" Target="/ppt/notesMasters/notesMaster1.xml" Id="Rd5e9af166c324a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2c08d301a84d8f" /><Relationship Type="http://schemas.openxmlformats.org/officeDocument/2006/relationships/notesMaster" Target="/ppt/notesMasters/notesMaster1.xml" Id="R38a3a5f6ba5141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2697e1498b45f3" /><Relationship Type="http://schemas.openxmlformats.org/officeDocument/2006/relationships/notesMaster" Target="/ppt/notesMasters/notesMaster1.xml" Id="R064ae0d5167740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16484c09c745d0" /><Relationship Type="http://schemas.openxmlformats.org/officeDocument/2006/relationships/notesMaster" Target="/ppt/notesMasters/notesMaster1.xml" Id="Rc615f38ea14541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08bb732fa945ad" /><Relationship Type="http://schemas.openxmlformats.org/officeDocument/2006/relationships/notesMaster" Target="/ppt/notesMasters/notesMaster1.xml" Id="R40c08e4c446042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ea7288bfac47a6" /><Relationship Type="http://schemas.openxmlformats.org/officeDocument/2006/relationships/notesMaster" Target="/ppt/notesMasters/notesMaster1.xml" Id="R9c3814aff9b84f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97036ef03d42e9" /><Relationship Type="http://schemas.openxmlformats.org/officeDocument/2006/relationships/notesMaster" Target="/ppt/notesMasters/notesMaster1.xml" Id="R10a2c74bebb84b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10413d63f745d6" /><Relationship Type="http://schemas.openxmlformats.org/officeDocument/2006/relationships/notesMaster" Target="/ppt/notesMasters/notesMaster1.xml" Id="R6e5bdf3b9b7942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f2b486d15d4856" /><Relationship Type="http://schemas.openxmlformats.org/officeDocument/2006/relationships/notesMaster" Target="/ppt/notesMasters/notesMaster1.xml" Id="R7ae665a8b90b41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0e9e3aac6184fd8" /><Relationship Type="http://schemas.openxmlformats.org/officeDocument/2006/relationships/notesMaster" Target="/ppt/notesMasters/notesMaster1.xml" Id="R057fa26275b34a0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4be70d606104c10" /><Relationship Type="http://schemas.openxmlformats.org/officeDocument/2006/relationships/notesMaster" Target="/ppt/notesMasters/notesMaster1.xml" Id="Rfa62a89736584c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User-provided and approved orange abstract cover visual: /Users/elliottye/Desktop/exec-eaa585b7-6630-4b2c-bcab-341d9bb5e79c.png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https://press.siemens.com/global/en/pressrelease/siemens-introduces-ai-agents-industrial-automation</a:t>
            </a:r>
          </a:p>
          <a:p xmlns:a="http://schemas.openxmlformats.org/drawingml/2006/main">
            <a:r>
              <a:t>https://www.bosch.com/research/bcai/industrial-ai/</a:t>
            </a:r>
          </a:p>
          <a:p xmlns:a="http://schemas.openxmlformats.org/drawingml/2006/main">
            <a:r>
              <a:t>https://www.se.com/ww/en/about-us/newsroom/news/press-releases/Schneider-Electric-unveils-next-generation-agentic-manufacturing-capabilities-powered-by-Microsoft-Azure-AI-at-Hannover-Messe-2026-69e08de2ddabef15890a48f3/</a:t>
            </a:r>
          </a:p>
          <a:p xmlns:a="http://schemas.openxmlformats.org/drawingml/2006/main">
            <a:r>
              <a:t>https://new.abb.com/process-automation/genix/abb-genix-copilot</a:t>
            </a:r>
          </a:p>
          <a:p xmlns:a="http://schemas.openxmlformats.org/drawingml/2006/main">
            <a:r>
              <a:t>https://commons.wikimedia.org/wiki/File:Siemens-logo.svg</a:t>
            </a:r>
          </a:p>
          <a:p xmlns:a="http://schemas.openxmlformats.org/drawingml/2006/main">
            <a:r>
              <a:t>https://commons.wikimedia.org/wiki/File:Bosch-logo.svg</a:t>
            </a:r>
          </a:p>
          <a:p xmlns:a="http://schemas.openxmlformats.org/drawingml/2006/main">
            <a:r>
              <a:t>https://commons.wikimedia.org/wiki/File:SchneiderElectric_Logo.svg</a:t>
            </a:r>
          </a:p>
          <a:p xmlns:a="http://schemas.openxmlformats.org/drawingml/2006/main">
            <a:r>
              <a:t>https://commons.wikimedia.org/wiki/File:ABB_logo.svg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https://commons.wikimedia.org/wiki/File:Toyota_logo.svg
https://commons.wikimedia.org/wiki/File:BMW.svg
https://commons.wikimedia.org/wiki/File:Honeywell_logo.svg
https://commons.wikimedia.org/wiki/File:Caterpillar_logo.svg
[/Sources]</a:t>
            </a:r>
          </a:p>
          <a:p xmlns:a="http://schemas.openxmlformats.org/drawingml/2006/main">
            <a:r>
              <a:t>
[Sources]
Case narratives use the user's previously approved anonymous cross-border e-commerce and furniture manufacturing copy. No company identity or measured outcome is asserted.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User-provided Feishu contact QR code: /Users/elliottye/Downloads/IMG_0263.JPG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3434835ca146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d09e1de9004c0c" /><Relationship Type="http://schemas.openxmlformats.org/officeDocument/2006/relationships/slideLayout" Target="/ppt/slideLayouts/slideLayout1.xml" Id="R02a1a965c1274c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a1a965c1274c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bca07aede4398" /><Relationship Type="http://schemas.openxmlformats.org/officeDocument/2006/relationships/image" Target="/ppt/media/image.png" Id="Rbfc036c196e3446e" /><Relationship Type="http://schemas.openxmlformats.org/officeDocument/2006/relationships/image" Target="/ppt/media/image2.png" Id="Rd6aac12cdf9948a3" /><Relationship Type="http://schemas.openxmlformats.org/officeDocument/2006/relationships/notesSlide" Target="/ppt/notesSlides/notesSlide1.xml" Id="R0eb71a1a26d540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895d7f593d4af8" /><Relationship Type="http://schemas.openxmlformats.org/officeDocument/2006/relationships/notesSlide" Target="/ppt/notesSlides/notesSlide2.xml" Id="Re3e1498f448544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5fd4e22af4204" /><Relationship Type="http://schemas.openxmlformats.org/officeDocument/2006/relationships/notesSlide" Target="/ppt/notesSlides/notesSlide3.xml" Id="R27d0a55c207d46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bd55d7f774fdb" /><Relationship Type="http://schemas.openxmlformats.org/officeDocument/2006/relationships/notesSlide" Target="/ppt/notesSlides/notesSlide4.xml" Id="Rd739ec549d7b49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1a8227f964f28" /><Relationship Type="http://schemas.openxmlformats.org/officeDocument/2006/relationships/notesSlide" Target="/ppt/notesSlides/notesSlide5.xml" Id="R73b620c4296e49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a80fa1119e48e5" /><Relationship Type="http://schemas.openxmlformats.org/officeDocument/2006/relationships/notesSlide" Target="/ppt/notesSlides/notesSlide6.xml" Id="Rf06670d883ea4b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df678df944302" /><Relationship Type="http://schemas.openxmlformats.org/officeDocument/2006/relationships/notesSlide" Target="/ppt/notesSlides/notesSlide7.xml" Id="R7ef9f3d67b2d44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21dccc4bb4582" /><Relationship Type="http://schemas.openxmlformats.org/officeDocument/2006/relationships/notesSlide" Target="/ppt/notesSlides/notesSlide8.xml" Id="R7d48d0de03584c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bef167b2d410e" /><Relationship Type="http://schemas.openxmlformats.org/officeDocument/2006/relationships/image" Target="/ppt/media/image3.png" Id="R7b364dcee42043d8" /><Relationship Type="http://schemas.openxmlformats.org/officeDocument/2006/relationships/image" Target="/ppt/media/image4.png" Id="R17b0e83e11d94201" /><Relationship Type="http://schemas.openxmlformats.org/officeDocument/2006/relationships/image" Target="/ppt/media/image5.png" Id="R00b3669f4ea04d95" /><Relationship Type="http://schemas.openxmlformats.org/officeDocument/2006/relationships/image" Target="/ppt/media/image6.png" Id="Rf017c50c7bab4ce3" /><Relationship Type="http://schemas.openxmlformats.org/officeDocument/2006/relationships/image" Target="/ppt/media/image7.png" Id="R33a89848454c4fb8" /><Relationship Type="http://schemas.openxmlformats.org/officeDocument/2006/relationships/image" Target="/ppt/media/image8.png" Id="R5895880262da44d1" /><Relationship Type="http://schemas.openxmlformats.org/officeDocument/2006/relationships/image" Target="/ppt/media/image9.png" Id="Rd3d096d169df407f" /><Relationship Type="http://schemas.openxmlformats.org/officeDocument/2006/relationships/image" Target="/ppt/media/image10.png" Id="Rad5000a74c9b4da5" /><Relationship Type="http://schemas.openxmlformats.org/officeDocument/2006/relationships/image" Target="/ppt/media/image11.png" Id="R9acef24fca324476" /><Relationship Type="http://schemas.openxmlformats.org/officeDocument/2006/relationships/image" Target="/ppt/media/image12.png" Id="R03bb5e8976ec44ff" /><Relationship Type="http://schemas.openxmlformats.org/officeDocument/2006/relationships/image" Target="/ppt/media/image13.png" Id="R75e40a8e41c94ab9" /><Relationship Type="http://schemas.openxmlformats.org/officeDocument/2006/relationships/image" Target="/ppt/media/image14.png" Id="Radf98911870a4a6e" /><Relationship Type="http://schemas.openxmlformats.org/officeDocument/2006/relationships/image" Target="/ppt/media/image15.png" Id="R215218f6421a4f30" /><Relationship Type="http://schemas.openxmlformats.org/officeDocument/2006/relationships/image" Target="/ppt/media/image16.png" Id="R55d9b2ea0dbb450a" /><Relationship Type="http://schemas.openxmlformats.org/officeDocument/2006/relationships/image" Target="/ppt/media/image17.png" Id="R87a362e7ac104184" /><Relationship Type="http://schemas.openxmlformats.org/officeDocument/2006/relationships/image" Target="/ppt/media/image18.png" Id="R44b41b9570e64537" /><Relationship Type="http://schemas.openxmlformats.org/officeDocument/2006/relationships/image" Target="/ppt/media/image19.png" Id="R1575d82dd79a4d5b" /><Relationship Type="http://schemas.openxmlformats.org/officeDocument/2006/relationships/image" Target="/ppt/media/image20.png" Id="R8bf10b1e8d404abe" /><Relationship Type="http://schemas.openxmlformats.org/officeDocument/2006/relationships/image" Target="/ppt/media/image21.png" Id="R271a733e050b409d" /><Relationship Type="http://schemas.openxmlformats.org/officeDocument/2006/relationships/image" Target="/ppt/media/image22.png" Id="R5b105b3f2dcd4ce2" /><Relationship Type="http://schemas.openxmlformats.org/officeDocument/2006/relationships/image" Target="/ppt/media/image23.png" Id="R39b449cb32f2430b" /><Relationship Type="http://schemas.openxmlformats.org/officeDocument/2006/relationships/image" Target="/ppt/media/image24.png" Id="R536ce20f6255453e" /><Relationship Type="http://schemas.openxmlformats.org/officeDocument/2006/relationships/image" Target="/ppt/media/image25.png" Id="Rc82b887627894294" /><Relationship Type="http://schemas.openxmlformats.org/officeDocument/2006/relationships/image" Target="/ppt/media/image26.png" Id="R73ab2ef748d34777" /><Relationship Type="http://schemas.openxmlformats.org/officeDocument/2006/relationships/image" Target="/ppt/media/image27.png" Id="R93807eac90b0419a" /><Relationship Type="http://schemas.openxmlformats.org/officeDocument/2006/relationships/image" Target="/ppt/media/image28.png" Id="R1b834ddab3c34de9" /><Relationship Type="http://schemas.openxmlformats.org/officeDocument/2006/relationships/image" Target="/ppt/media/image29.png" Id="R96804c1c06074660" /><Relationship Type="http://schemas.openxmlformats.org/officeDocument/2006/relationships/image" Target="/ppt/media/image30.png" Id="R4b4c2f5617244072" /><Relationship Type="http://schemas.openxmlformats.org/officeDocument/2006/relationships/notesSlide" Target="/ppt/notesSlides/notesSlide9.xml" Id="R7b93a379f11341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ab494228749ca" /><Relationship Type="http://schemas.openxmlformats.org/officeDocument/2006/relationships/notesSlide" Target="/ppt/notesSlides/notesSlide10.xml" Id="Rf98f2f8ea6e04d8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300bc040d4dbf" /><Relationship Type="http://schemas.openxmlformats.org/officeDocument/2006/relationships/notesSlide" Target="/ppt/notesSlides/notesSlide11.xml" Id="Raf57a9490fe4446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375d4db174944" /><Relationship Type="http://schemas.openxmlformats.org/officeDocument/2006/relationships/image" Target="/ppt/media/image31.png" Id="R0199bfe7df244ffa" /><Relationship Type="http://schemas.openxmlformats.org/officeDocument/2006/relationships/notesSlide" Target="/ppt/notesSlides/notesSlide12.xml" Id="Rb0dbac31df3940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70707"/>
                </a:solidFill>
                <a:latin typeface="Arial"/>
                <a:ea typeface="Arial"/>
                <a:cs typeface="Arial"/>
              </a:rPr>
              <a:t>You know AI matters.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70707"/>
                </a:solidFill>
                <a:latin typeface="Arial"/>
                <a:ea typeface="Arial"/>
                <a:cs typeface="Arial"/>
              </a:rPr>
              <a:t>The hard part is knowing where to start.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70707"/>
                </a:solidFill>
                <a:latin typeface="Arial"/>
                <a:ea typeface="Arial"/>
                <a:cs typeface="Arial"/>
              </a:rPr>
              <a:t>An FDE works inside your business to identify the first problem worth solving,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70707"/>
                </a:solidFill>
                <a:latin typeface="Arial"/>
                <a:ea typeface="Arial"/>
                <a:cs typeface="Arial"/>
              </a:rPr>
              <a:t>then builds a system people will use and outcomes you can measure.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Assessment | Workflow redesign | Skills | Custom SaaS | Data | Agents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c036c196e3446e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aac12cdf9948a3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AI can now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execute real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110" b="0">
                <a:solidFill>
                  <a:srgbClr val="070707"/>
                </a:solidFill>
              </a:rPr>
              <a:t>Until recently, every step required a person.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Agents can read documents, retrieve data, use tools, and carry a task through multiple steps. People step in when judgment or approval is required.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HOW THE OPERATING MODEL CHANGES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Agents handle repeatable execution.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People set goals, exercise judgment, and review results.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One manager can supervise multiple agents.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Working knowledge becomes reusable workflows and Skills.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Microsoft's 2025 Work Trend Index describes an Agent Boss as an employee who builds, delegates to, and manages agents.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OpenAI defines agents as systems that complete workflows on a user's behalf, not just answer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Google describes enterprise agents as models connected to company data, tools, memory, orchestration, and runtime infrastructure.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Anthropic's research suggests that people decide what work should be done, while agents increasingly decide how to execute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How well a company works with agents will increasingly shape its operating efficiency.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The shift is already underway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Microsoft's 2025 Work Trend Index surveyed 31,000 employees across 31 countries. Among leaders surveyed, 81% expected agents to enter their AI strategy within 12-18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1M+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OpenAI reported more than one million business customers in 2025.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Since February, weekly active Codex users grew 108x in legal, 41x in sales, 41x in recruiting, and 26x in marketing.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788" b="1">
                <a:solidFill>
                  <a:srgbClr val="070707"/>
                </a:solidFill>
              </a:rPr>
              <a:t>PUBLIC EXAMPLES IN PRODUCTION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Codex cut code review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time by 50%, with some projects moving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from weeks to days.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Its multi-agent due diligence framework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reportedly cut development time by more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than 50% and improved agent accuracy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by 30%.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TELUS: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A Google Cloud customer story reports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$53.9 million in annual savings, 87% faster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issue resolution, and proactive AI resolution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for 30% of calls.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Lowe's provides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AI project guidance to associates in more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than 1,700 stores.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Most companies want the gains from AI.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Few know where to begin.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WHY EARLY AI EFFORTS STALL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Employees have AI subscriptions but use them sporadically.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A demo impressed people, but no one used it after launch.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Case studies from other companies do not match how the business actually works.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Every department has ideas. No one has a way to prioritize them.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Knowledge is scattered across chats, spreadsheets, PDFs, shared drives, and personal devices.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Leaders are unsure where security boundaries and agent authority should sit.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An AI upgrade crosses four boundaries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What leadership wants to achieve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How frontline work actually gets done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Where data and systems 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How the solution is built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Miss one of these layers and the project usually stalls.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WHY INTERNAL AI PROJECTS STALL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Start with leadership only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The ambition is clear; the first practical use case is not.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96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Start with frontline teams only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3533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You collect requests, but cannot tell which one deserves investment.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15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Start with a software vendor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7724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Vendors need clear requirements, which is often what the company lacks.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34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Buy an off-the-shelf product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Deployment is fast; the workflow may not fit.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534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10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Build a platform first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106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Time and budget are committed before business value is proven.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The missing role connects business reality, product decisions, and implementation. That is the FDE.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 FDE starts with ambiguity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and stays until the result can be tested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A Forward Deployed Engineer is not simply a developer working on-site.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The work begins inside the business: what leadership needs, how employees work, where the data lives, and where delays, errors, or handoffs cause problems.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Once the problem is clear, the FDE selects the right way to solve it: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Use an existing product if it already solves the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Build a Skill when that is enough.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Integrate existing systems when the workflow spans multiple tools.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Create a database or knowledge base when data needs to be structured first.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Design the handoff between people and agents when the workflow is suitable.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From a focused tool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to an enterprise-wide AI program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focused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Company-specific 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Quotation, data entry, reconciliation, and reporting automation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Document, spreadsheet, and image 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Small custom SaaS applications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the problem is clear and results are needed quickly.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business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Discovery interviews and workflow mapping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Integrations across ERP, CRM, collaboration, and messaging tools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Progress, outcome, and activity logs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Role-specific agents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Exception handling and human approval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work crosses teams and systems through manual handoffs.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A data foundation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Operational databases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Data cleanup and consistent naming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Trusted data for agents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Enterprise knowledge bases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Permissions and access boundaries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information is difficult to find, share, or trust.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An enterprise-wide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AI program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Identify work suitable for AI across departments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Redesign how people and agents divide the work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Define permissions, approvals, and accountability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Set the pilot sequence and expansion plan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Train the company's Agent Bosses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Best when leadership wants one coordinated program.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Diagnose first.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Build only what is worth building.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Define the business objective: save time, reduce errors, increase revenue, or change how work gets done.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Observe the spreadsheets, files, messages, and systems employees actually use, including exceptions outside the official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Rank opportunities by value, difficulty, data readiness, risk, and time to validation. Some problems do not need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Choose one job. Agree on the owner, data, scope, and success metric before building the first usable version.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Once real users have tried it, decide whether to improve it, expand it, or stop.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 pilot should produce evidence,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not just a demo.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13" b="0">
                <a:solidFill>
                  <a:srgbClr val="070707"/>
                </a:solidFill>
              </a:rPr>
              <a:t>Depending on scope, a pilot may include: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map of the current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defined problem and pilot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working prototype or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data and permissions it uses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Clear responsibilities for people and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Human approval 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before-and-after comparison method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recommendation to continue, adjust, or stop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 WORK BEGINS, WE AGREE 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Who owns the 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completion means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is outside this pilot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How the result will be judged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Show the business change,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not just the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32" b="1">
                <a:solidFill>
                  <a:srgbClr val="070707"/>
                </a:solidFill>
              </a:rPr>
              <a:t>FDE PROJECT WORK | Working systems for commerce and manufacturing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GLOBAL INDUSTRIAL MANUFACTURERS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810" b="0">
                <a:solidFill>
                  <a:srgbClr val="656563"/>
                </a:solidFill>
              </a:rPr>
              <a:t>The brands above come from public company materials for industry reference; they do not imply an FDE client or partner relationship. Company names are omitted from the cases below.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CASE 1 | CROSS-BORDER E-COMMERCE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Operators pulled product details from supplier spreadsheets, chat messages, and image folders. They translated, normalized, and re-entered each listing across multiple marketplaces.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found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The bottleneck was incomplete attributes, conflicting source files, and repeated manual checks against marketplace rules, not the copy itself.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delivered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We built a product-data hub and listing workflow. Agents organize, translate, and validate listings against marketplace rules; operators handle exceptions and approve publication.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changed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Scattered files became one product workflow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Manual data entry became exception 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Checks moved from after publication to before release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Business impact: a more consistent listing cadence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CASE 2 | FURNITURE MANUFACTURING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Orders arrived through chat, spreadsheets, and drawings. We structured dimensions, fabrics, hardware, and process data; connected orders, BOMs, and work orders; and flagged missing or conflicting information before production.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364dcee42043d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19125" y="3048000"/>
            <a:ext cx="1257300" cy="419100"/>
          </a:xfrm>
          <a:prstGeom xmlns:a="http://schemas.openxmlformats.org/drawingml/2006/main" prst="rect">
            <a:avLst/>
          </a:prstGeom>
        </p:spPr>
      </p:pic>
      <p:pic>
        <p:nvPicPr>
          <p:cNvPr id="1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b0e83e11d9420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2425700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1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b3669f4ea04d9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111625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1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17c50c7bab4ce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797550" y="3067050"/>
            <a:ext cx="1016000" cy="38100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6AEC25-0D5F-41AC-8BF8-ED7E511F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12573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33a89848454c4fb8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03EA4BC-207E-4C8E-89C7-7E300945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3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5895880262da44d1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BC444E-F3D1-4C16-838C-762F0A09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d3d096d169df407f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8FE01A4-D530-4AA8-8F71-FA068411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ad5000a74c9b4da5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CC6D289-96A8-4905-8C57-707E8733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75234"/>
            <a:ext cx="1257300" cy="221933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9acef24fca324476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97336D0-DBA6-4520-A120-9F1BEAE9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76650"/>
            <a:ext cx="4191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03bb5e8976ec44ff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AEF785E-C4D6-421C-B920-7132C4F3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796284"/>
            <a:ext cx="1016032" cy="179832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75e40a8e41c94ab9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AECD339-551E-4C88-B985-2C399A51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795522"/>
            <a:ext cx="1016032" cy="18145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adf98911870a4a6e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E70214D-CCC0-4516-B0A8-14B2176E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12573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215218f6421a4f30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491F24F-D05D-4934-831F-685A4AEA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3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55d9b2ea0dbb450a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A5E1643-40D6-44D0-9E27-E87EBA49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87a362e7ac104184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6852D9D-65A3-4B21-A111-C09707E9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44b41b9570e64537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9E5516C-37E9-4B19-AAED-035A70C4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75234"/>
            <a:ext cx="1257300" cy="221933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1575d82dd79a4d5b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3B8158C-2FD9-4BBD-A408-55BC5690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76650"/>
            <a:ext cx="4191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8bf10b1e8d404abe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F230E41-62DC-4128-A81D-0F8CFB4B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796284"/>
            <a:ext cx="1016032" cy="179832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271a733e050b409d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4D60608-104E-4D25-AB5B-2FAF3323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795522"/>
            <a:ext cx="1016032" cy="18145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5b105b3f2dcd4ce2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2CDB020-3C66-4727-BEB9-EA937969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12573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39b449cb32f2430b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2E6694D-929C-4A14-8383-87547955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3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536ce20f6255453e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B79544B-04DD-4D71-95D5-FB817A99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c82b887627894294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51655B1-9313-4E44-AE43-E8FFF074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73ab2ef748d34777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D48BAA5-6024-47B4-8ED9-CC610C0D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75234"/>
            <a:ext cx="1257300" cy="221933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93807eac90b0419a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C2D6EA1-10B9-4B58-B5B7-BD293D07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76650"/>
            <a:ext cx="4191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1b834ddab3c34de9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612027F-95BE-4621-A605-6AA7993A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796284"/>
            <a:ext cx="1016032" cy="179832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96804c1c06074660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2E2F3A9-3532-4D39-BCD7-D9ACC835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795522"/>
            <a:ext cx="1016032" cy="18145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4b4c2f5617244072"/>
            <a:stretch/>
          </a:blip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Managers need a new skill: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leading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FDE delivery builds the company's AI systems.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launch, managers and employees need to know how to: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Agent Boss training builds that capability.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The course focuses on managing work shared by humans and agents, rather than prompt writing or a tour of AI tools.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Set clear goals and completion criteria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Decide which work to delegate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Review both the process and the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Handle exceptions, request changes, or stop a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Manage data, tools, and permissions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Turn working practices into shared Skills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Stay accountable for business outcomes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AgentBoss School is open source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Start with the right first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During the event, we offer a complimentary enterprise AI assessment.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YOU WILL LEAVE WITH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WE MAY ALSO RECOMMEND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One to three areas to examine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initial view on whether AI fits the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data, systems, and people required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 recommendation to buy software, build a Skill, create custom SaaS, organize the data, or redesign the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 candid view on whether a pilot is worthwhile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problem does not need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 is not ready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Fix the workflow before building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existing product offers better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870" b="1">
                <a:solidFill>
                  <a:srgbClr val="070707"/>
                </a:solidFill>
              </a:rPr>
              <a:t>The assessment is not a full implementation plan and does not require access to unauthorized sensitive data.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Where should your company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start with AI?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ADD ME ON FEISHU AND SEND: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Company and industry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The area you most want to improve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How the work is done today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Who owns the process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When you would like to talk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ADD ME ON FEISHU TO RESERVE A SESSION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990" b="1">
                <a:solidFill>
                  <a:srgbClr val="070707"/>
                </a:solidFill>
              </a:rPr>
              <a:t>Start with one problem you can define, solve, and measure.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99bfe7df244ffa"/>
          <a:stretch xmlns:a="http://schemas.openxmlformats.org/drawingml/2006/main"/>
        </p:blipFill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2026-08-25T08:23:54.1270000Z</dcterms:created>
  <dcterms:modified xsi:type="dcterms:W3CDTF">2026-08-25T08:23:54.1270000Z</dcterms:modified>
</coreProperties>
</file>