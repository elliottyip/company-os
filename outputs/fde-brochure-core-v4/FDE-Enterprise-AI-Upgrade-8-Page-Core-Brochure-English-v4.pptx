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299b5b57ec4f97" /><Relationship Type="http://schemas.openxmlformats.org/officeDocument/2006/relationships/extended-properties" Target="/docProps/app.xml" Id="R8d1b04ccef4b40ff" /><Relationship Type="http://schemas.openxmlformats.org/officeDocument/2006/relationships/officeDocument" Target="/ppt/presentation.xml" Id="R4ddbbb07d2d745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25a8b9e7624983"/>
  </p:sldMasterIdLst>
  <p:notesMasterIdLst>
    <p:notesMasterId xmlns:r="http://schemas.openxmlformats.org/officeDocument/2006/relationships" r:id="R52ff54f8573447ab"/>
  </p:notesMasterIdLst>
  <p:sldIdLst>
    <p:sldId xmlns:r="http://schemas.openxmlformats.org/officeDocument/2006/relationships" id="256" r:id="R231e20084203408d"/>
    <p:sldId xmlns:r="http://schemas.openxmlformats.org/officeDocument/2006/relationships" id="257" r:id="Rae36d936850f4543"/>
    <p:sldId xmlns:r="http://schemas.openxmlformats.org/officeDocument/2006/relationships" id="258" r:id="R0335e19186dc45b7"/>
    <p:sldId xmlns:r="http://schemas.openxmlformats.org/officeDocument/2006/relationships" id="259" r:id="Rabfe231922214d18"/>
    <p:sldId xmlns:r="http://schemas.openxmlformats.org/officeDocument/2006/relationships" id="260" r:id="Rbd566051091c4bb9"/>
    <p:sldId xmlns:r="http://schemas.openxmlformats.org/officeDocument/2006/relationships" id="261" r:id="Rac5ac1e2d2fe429f"/>
    <p:sldId xmlns:r="http://schemas.openxmlformats.org/officeDocument/2006/relationships" id="262" r:id="R96d4bbf886fa4865"/>
    <p:sldId xmlns:r="http://schemas.openxmlformats.org/officeDocument/2006/relationships" id="263" r:id="R7753ce2870dd421e"/>
  </p:sldIdLst>
  <p:sldSz cx="53244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4f3bc5e2f4db1" /><Relationship Type="http://schemas.openxmlformats.org/officeDocument/2006/relationships/slideMaster" Target="/ppt/slideMasters/slideMaster1.xml" Id="R7525a8b9e7624983" /><Relationship Type="http://schemas.openxmlformats.org/officeDocument/2006/relationships/notesMaster" Target="/ppt/notesMasters/notesMaster1.xml" Id="R52ff54f8573447ab" /><Relationship Type="http://schemas.openxmlformats.org/officeDocument/2006/relationships/presProps" Target="/ppt/presProps.xml" Id="R20e2e10b96b14985" /><Relationship Type="http://schemas.openxmlformats.org/officeDocument/2006/relationships/tableStyles" Target="/ppt/tableStyles.xml" Id="R588167f1a64c42fe" /><Relationship Type="http://schemas.openxmlformats.org/officeDocument/2006/relationships/slide" Target="/ppt/slides/slide1.xml" Id="R231e20084203408d" /><Relationship Type="http://schemas.openxmlformats.org/officeDocument/2006/relationships/slide" Target="/ppt/slides/slide2.xml" Id="Rae36d936850f4543" /><Relationship Type="http://schemas.openxmlformats.org/officeDocument/2006/relationships/slide" Target="/ppt/slides/slide3.xml" Id="R0335e19186dc45b7" /><Relationship Type="http://schemas.openxmlformats.org/officeDocument/2006/relationships/slide" Target="/ppt/slides/slide4.xml" Id="Rabfe231922214d18" /><Relationship Type="http://schemas.openxmlformats.org/officeDocument/2006/relationships/slide" Target="/ppt/slides/slide5.xml" Id="Rbd566051091c4bb9" /><Relationship Type="http://schemas.openxmlformats.org/officeDocument/2006/relationships/slide" Target="/ppt/slides/slide6.xml" Id="Rac5ac1e2d2fe429f" /><Relationship Type="http://schemas.openxmlformats.org/officeDocument/2006/relationships/slide" Target="/ppt/slides/slide7.xml" Id="R96d4bbf886fa4865" /><Relationship Type="http://schemas.openxmlformats.org/officeDocument/2006/relationships/slide" Target="/ppt/slides/slide8.xml" Id="R7753ce2870dd42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1f0f55342847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b4f55209743d7" /><Relationship Type="http://schemas.openxmlformats.org/officeDocument/2006/relationships/notesMaster" Target="/ppt/notesMasters/notesMaster1.xml" Id="R193ffd0c6b744b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f4a45ff06646bb" /><Relationship Type="http://schemas.openxmlformats.org/officeDocument/2006/relationships/notesMaster" Target="/ppt/notesMasters/notesMaster1.xml" Id="Rbb6eecb535a6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389b640f534d83" /><Relationship Type="http://schemas.openxmlformats.org/officeDocument/2006/relationships/notesMaster" Target="/ppt/notesMasters/notesMaster1.xml" Id="Rb9d74f33f31944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d3e934a6964153" /><Relationship Type="http://schemas.openxmlformats.org/officeDocument/2006/relationships/notesMaster" Target="/ppt/notesMasters/notesMaster1.xml" Id="Rb73e4d1c847440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da2a1e8a2b4106" /><Relationship Type="http://schemas.openxmlformats.org/officeDocument/2006/relationships/notesMaster" Target="/ppt/notesMasters/notesMaster1.xml" Id="R4a599a658e994c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520318c0e04324" /><Relationship Type="http://schemas.openxmlformats.org/officeDocument/2006/relationships/notesMaster" Target="/ppt/notesMasters/notesMaster1.xml" Id="R530c82665f6048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0213002f5f4de5" /><Relationship Type="http://schemas.openxmlformats.org/officeDocument/2006/relationships/notesMaster" Target="/ppt/notesMasters/notesMaster1.xml" Id="R3a797b2a4dcf4f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9d39ab60d04783" /><Relationship Type="http://schemas.openxmlformats.org/officeDocument/2006/relationships/notesMaster" Target="/ppt/notesMasters/notesMaster1.xml" Id="Rfd79692d8bd047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ef06b968b4f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bcb49308b74a3c" /><Relationship Type="http://schemas.openxmlformats.org/officeDocument/2006/relationships/slideLayout" Target="/ppt/slideLayouts/slideLayout1.xml" Id="R261af794344649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1af794344649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6673023314236" /><Relationship Type="http://schemas.openxmlformats.org/officeDocument/2006/relationships/image" Target="/ppt/media/image.png" Id="R5249817b8bae418e" /><Relationship Type="http://schemas.openxmlformats.org/officeDocument/2006/relationships/notesSlide" Target="/ppt/notesSlides/notesSlide1.xml" Id="R52b5b2c536474b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eeb6a856d48ed" /><Relationship Type="http://schemas.openxmlformats.org/officeDocument/2006/relationships/notesSlide" Target="/ppt/notesSlides/notesSlide2.xml" Id="R50c5fed0b4ca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a177362404565" /><Relationship Type="http://schemas.openxmlformats.org/officeDocument/2006/relationships/notesSlide" Target="/ppt/notesSlides/notesSlide3.xml" Id="R46210397676f4b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0a982deeb461f" /><Relationship Type="http://schemas.openxmlformats.org/officeDocument/2006/relationships/notesSlide" Target="/ppt/notesSlides/notesSlide4.xml" Id="R0314303b99a340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7a33ce012404b" /><Relationship Type="http://schemas.openxmlformats.org/officeDocument/2006/relationships/notesSlide" Target="/ppt/notesSlides/notesSlide5.xml" Id="Rc638822cf50345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60d9a038d472a" /><Relationship Type="http://schemas.openxmlformats.org/officeDocument/2006/relationships/notesSlide" Target="/ppt/notesSlides/notesSlide6.xml" Id="Rc618b04349d34d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8b1b11bc74557" /><Relationship Type="http://schemas.openxmlformats.org/officeDocument/2006/relationships/notesSlide" Target="/ppt/notesSlides/notesSlide7.xml" Id="R231d4e359a2b4c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b2b5588f741d0" /><Relationship Type="http://schemas.openxmlformats.org/officeDocument/2006/relationships/notesSlide" Target="/ppt/notesSlides/notesSlide8.xml" Id="R4d060b49bd934a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4965B-F3DA-4C27-BB72-55E76FC7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33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909"/>
                </a:solidFill>
              </a:defRPr>
            </a:pPr>
            <a:r>
              <a:rPr sz="1350" b="1">
                <a:solidFill>
                  <a:srgbClr val="090909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299DA-422B-4453-9E7D-8ECC42BE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57300"/>
            <a:ext cx="473392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90909"/>
                </a:solidFill>
              </a:defRPr>
            </a:pPr>
            <a:r>
              <a:rPr sz="3225" b="0">
                <a:solidFill>
                  <a:srgbClr val="090909"/>
                </a:solidFill>
              </a:rPr>
              <a:t>Your company wants to use AI.</a:t>
            </a:r>
          </a:p>
          <a:p xmlns:a="http://schemas.openxmlformats.org/drawingml/2006/main">
            <a:pPr algn="l">
              <a:defRPr sz="3225" b="0">
                <a:solidFill>
                  <a:srgbClr val="090909"/>
                </a:solidFill>
              </a:defRPr>
            </a:pPr>
            <a:r>
              <a:rPr sz="3225" b="0">
                <a:solidFill>
                  <a:srgbClr val="090909"/>
                </a:solidFill>
              </a:rPr>
              <a:t>Where should it start?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9817b8bae418e"/>
          <a:srcRect xmlns:a="http://schemas.openxmlformats.org/drawingml/2006/main" l="0" t="805" r="0" b="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" y="3571875"/>
            <a:ext cx="4733925" cy="3105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2B075-9BBD-4666-91E7-F4855A24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8675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10 companies per 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6E604-4361-4A09-9843-92AB23F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86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626367"/>
                </a:solidFill>
              </a:defRPr>
            </a:pPr>
            <a:r>
              <a:rPr sz="578" b="0">
                <a:solidFill>
                  <a:srgbClr val="626367"/>
                </a:solidFill>
              </a:rPr>
              <a:t>Event offer: complimentary enterprise AI assessment</a:t>
            </a:r>
          </a:p>
        </p:txBody>
      </p:sp>
    </p:spTree>
    <p:extLst>
      <p:ext uri="{BB962C8B-B14F-4D97-AF65-F5344CB8AC3E}">
        <p14:creationId xmlns:p14="http://schemas.microsoft.com/office/powerpoint/2010/main" val="74343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1AD34F-9142-44C1-AF0F-50308541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090909"/>
                </a:solidFill>
              </a:defRPr>
            </a:pPr>
            <a:r>
              <a:rPr sz="2475" b="0">
                <a:solidFill>
                  <a:srgbClr val="090909"/>
                </a:solidFill>
              </a:rPr>
              <a:t>AI can now</a:t>
            </a:r>
          </a:p>
          <a:p xmlns:a="http://schemas.openxmlformats.org/drawingml/2006/main">
            <a:pPr algn="l">
              <a:defRPr sz="2475" b="0">
                <a:solidFill>
                  <a:srgbClr val="090909"/>
                </a:solidFill>
              </a:defRPr>
            </a:pPr>
            <a:r>
              <a:rPr sz="2475" b="0">
                <a:solidFill>
                  <a:srgbClr val="090909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D7966-EB42-4275-9E32-9B93B4E9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57300"/>
            <a:ext cx="47339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We used to complete every step manually.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30128-C4B5-463F-B21C-69A032F7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066925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0909"/>
                </a:solidFill>
              </a:defRPr>
            </a:pPr>
            <a:r>
              <a:rPr sz="2175" b="0">
                <a:solidFill>
                  <a:srgbClr val="090909"/>
                </a:solidFill>
              </a:rPr>
              <a:t>81%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3D181-B306-4B7F-AF58-0F4E2A79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of surveyed leaders expect agents to enter their company’s AI strategy within 12–18 months.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BA9F0-621E-462D-8F5A-9454FB61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859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626367"/>
                </a:solidFill>
              </a:defRPr>
            </a:pPr>
            <a:r>
              <a:rPr sz="510" b="0">
                <a:solidFill>
                  <a:srgbClr val="626367"/>
                </a:solidFill>
              </a:rPr>
              <a:t>Microsoft · 31 countries / 31,000 workers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B83EB-E68F-4E41-8870-2C52A17C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52700"/>
            <a:ext cx="3514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5E43A-1846-4BA3-A8CA-F1ED3D02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790825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0909"/>
                </a:solidFill>
              </a:defRPr>
            </a:pPr>
            <a:r>
              <a:rPr sz="2175" b="0">
                <a:solidFill>
                  <a:srgbClr val="090909"/>
                </a:solidFill>
              </a:rPr>
              <a:t>1M+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833E8-C7F1-43B0-849A-FA5377A8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00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business customers use OpenAI products.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67C88-E6C5-4765-B4BC-28DCD5F0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626367"/>
                </a:solidFill>
              </a:defRPr>
            </a:pPr>
            <a:r>
              <a:rPr sz="510" b="0">
                <a:solidFill>
                  <a:srgbClr val="626367"/>
                </a:solidFill>
              </a:rPr>
              <a:t>OpenAI ·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3BE93-0322-4C91-96F4-04257E6E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76600"/>
            <a:ext cx="3514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2AD1C-A3CA-4081-AACC-039242FD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514725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0909"/>
                </a:solidFill>
              </a:defRPr>
            </a:pPr>
            <a:r>
              <a:rPr sz="2175" b="0">
                <a:solidFill>
                  <a:srgbClr val="090909"/>
                </a:solidFill>
              </a:rPr>
              <a:t>108×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E4C89-EDDC-4C7B-9903-942F64B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growth in weekly active Codex users in legal since February.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20041-DC06-4394-8846-88425051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337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626367"/>
                </a:solidFill>
              </a:defRPr>
            </a:pPr>
            <a:r>
              <a:rPr sz="510" b="0">
                <a:solidFill>
                  <a:srgbClr val="626367"/>
                </a:solidFill>
              </a:rPr>
              <a:t>Sales 41× · Recruiting 41× · Marketing 26×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BA4EF-A8B0-4E92-A4F7-42EF8CEC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00500"/>
            <a:ext cx="3514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92D38-65B5-4AE1-A599-E67A5E9D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371975"/>
            <a:ext cx="4733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MAJOR TECHNOLOGY COMPANIES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5351A-94E7-4EA3-8202-9CBBCE8B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863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8AB72-FF59-4030-8A3B-1E0162FA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Microsoft: employees will build, delegate to, and manage agents.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A010D-D5BF-4B11-B080-C3A3075D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3872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2515E-6A0E-4C1A-A582-A8F0113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0958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F2492-AF9B-455A-A451-D1389424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OpenAI: agents complete workflows on a user’s behalf.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9AF0F-B0CE-40AD-A81C-C7073BD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483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0DCC8-2796-4CA4-8DA6-461B2B4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5054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F60C6-A339-46DF-82E0-CC2BFE52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95925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Google: enterprise agents connect data, tools, memory, and runtime.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859A9-8D3B-4649-B66B-6E35DA5D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787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046F3-9CE1-415E-AF80-50882792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150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E9DB6-11DB-490D-87B3-C05EE139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05500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Anthropic: people decide what; agents increasingly decide how.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7C58A-10EE-4526-A8E5-D176B38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4865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090909"/>
                </a:solidFill>
              </a:defRPr>
            </a:pPr>
            <a:r>
              <a:rPr sz="600" b="1">
                <a:solidFill>
                  <a:srgbClr val="090909"/>
                </a:solidFill>
              </a:rPr>
              <a:t>PUBLIC PRODUCTION EXAMPLES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C125A-C939-4BC2-A961-F4F338A0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734175"/>
            <a:ext cx="4733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8" b="0">
                <a:solidFill>
                  <a:srgbClr val="626367"/>
                </a:solidFill>
              </a:defRPr>
            </a:pPr>
            <a:r>
              <a:rPr sz="518" b="0">
                <a:solidFill>
                  <a:srgbClr val="626367"/>
                </a:solidFill>
              </a:rPr>
              <a:t>Cisco · 50% faster code review; some projects moved from weeks to days.   Carlyle · Multi-agent due diligence cut development time by 50%+ and raised accuracy 30%.   TELUS · $53.9M annual savings; customer issues resolved 87% faster.   Lowe’s · AI project guidance available to associates across 1,700+ stores.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D65DE-41FF-4015-B970-C7BB10A9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6B056A-AA32-4E8E-9735-0CBE63A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710973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7E58CF-3C5E-400E-80B6-EBD13BEB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90909"/>
                </a:solidFill>
              </a:defRPr>
            </a:pPr>
            <a:r>
              <a:rPr sz="2250" b="0">
                <a:solidFill>
                  <a:srgbClr val="090909"/>
                </a:solidFill>
              </a:rPr>
              <a:t>Leaders want higher efficiency,</a:t>
            </a:r>
          </a:p>
          <a:p xmlns:a="http://schemas.openxmlformats.org/drawingml/2006/main">
            <a:pPr algn="l">
              <a:defRPr sz="2250" b="0">
                <a:solidFill>
                  <a:srgbClr val="090909"/>
                </a:solidFill>
              </a:defRPr>
            </a:pPr>
            <a:r>
              <a:rPr sz="2250" b="0">
                <a:solidFill>
                  <a:srgbClr val="090909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05807-E44D-4E0C-879A-1CE3A3F8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362075"/>
            <a:ext cx="2276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MANY COMPANIES HAVE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19B1D-5B4F-4765-BD57-C2DA6FA5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954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91DA1-5859-4B4F-A377-EFE2B279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85925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90909"/>
                </a:solidFill>
              </a:defRPr>
            </a:pPr>
            <a:r>
              <a:rPr sz="630" b="0">
                <a:solidFill>
                  <a:srgbClr val="090909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3074C-47CB-4684-9879-74966AA3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336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CDEB7-5F9D-447B-B24D-B81C68BB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3907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F4795-F9FB-46A6-B00F-9C6E1D96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90909"/>
                </a:solidFill>
              </a:defRPr>
            </a:pPr>
            <a:r>
              <a:rPr sz="630" b="0">
                <a:solidFill>
                  <a:srgbClr val="090909"/>
                </a:solidFill>
              </a:rPr>
              <a:t>A demo looked good, but nobody used it after launch.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42CF3-CEF8-458B-A20F-1A9B5970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289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53738-0D21-447F-B517-7D0E3173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0861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64D67-28D7-418C-AFA6-9AC50589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76575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90909"/>
                </a:solidFill>
              </a:defRPr>
            </a:pPr>
            <a:r>
              <a:rPr sz="630" b="0">
                <a:solidFill>
                  <a:srgbClr val="090909"/>
                </a:solidFill>
              </a:rPr>
              <a:t>Other companies’ cases do not fit the way this company works.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7B70-53F0-4730-BF23-FA077E36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47AD1-89EA-44BF-ACD1-8C95FC53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7814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6244B-E565-46C4-B2FF-A6767067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71900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90909"/>
                </a:solidFill>
              </a:defRPr>
            </a:pPr>
            <a:r>
              <a:rPr sz="630" b="0">
                <a:solidFill>
                  <a:srgbClr val="090909"/>
                </a:solidFill>
              </a:rPr>
              <a:t>Every department has ideas, but nobody can set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60E18-813C-49DB-A2BD-B3BDA1D6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196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2403C-3FE4-42CF-A074-FFDF8DD3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767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43930-5FAB-4FCA-B092-640E95B4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67225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90909"/>
                </a:solidFill>
              </a:defRPr>
            </a:pPr>
            <a:r>
              <a:rPr sz="630" b="0">
                <a:solidFill>
                  <a:srgbClr val="090909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8D0D3-4EBC-43C0-8573-0CDC3561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149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3D449-8B91-4B6D-BE9F-0E498B7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1720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B7A4D-FF40-4DDD-9B9A-75F60C3A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62550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90909"/>
                </a:solidFill>
              </a:defRPr>
            </a:pPr>
            <a:r>
              <a:rPr sz="630" b="0">
                <a:solidFill>
                  <a:srgbClr val="090909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8421B-A280-4616-8483-EAEF2665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62075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AI transformation crosses four boundaries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2E684-FA0C-458A-B08A-4495E8D8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383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C7D7F-536F-4501-9455-B312F9EE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288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090909"/>
                </a:solidFill>
              </a:defRPr>
            </a:pPr>
            <a:r>
              <a:rPr sz="630" b="1">
                <a:solidFill>
                  <a:srgbClr val="090909"/>
                </a:solidFill>
              </a:rPr>
              <a:t>The outcome leadership wants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97C83-5C5B-4B33-AA42-C65C31CA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0B80F-49B5-414A-9E85-40743D4B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907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9DF5B-FBA2-46B5-B354-5D9026C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090909"/>
                </a:solidFill>
              </a:defRPr>
            </a:pPr>
            <a:r>
              <a:rPr sz="630" b="1">
                <a:solidFill>
                  <a:srgbClr val="090909"/>
                </a:solidFill>
              </a:rPr>
              <a:t>How frontline work actually happens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9D117-CC0D-4E83-AF24-8D69038B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8607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93040-DBA1-49B1-A1A1-82FD53D4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432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4A2C9F-6F8F-440D-B89D-E62852A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337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090909"/>
                </a:solidFill>
              </a:defRPr>
            </a:pPr>
            <a:r>
              <a:rPr sz="630" b="1">
                <a:solidFill>
                  <a:srgbClr val="090909"/>
                </a:solidFill>
              </a:rPr>
              <a:t>Where the data and systems live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C1291-E386-42D5-8185-D2BEE2B4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385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4D137-5C82-4530-8E5B-9687975B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956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8613E1-BA2A-4613-9628-A2E513D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8615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090909"/>
                </a:solidFill>
              </a:defRPr>
            </a:pPr>
            <a:r>
              <a:rPr sz="630" b="1">
                <a:solidFill>
                  <a:srgbClr val="090909"/>
                </a:solidFill>
              </a:rPr>
              <a:t>How the solution gets built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B57D20-C20E-427D-9A10-3CDFE8BF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76725"/>
            <a:ext cx="2276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WHY INTERNAL PROJECTS STALL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5928C-90F1-4B27-B6AA-7258B269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2B0F5-EAA0-474E-8789-2BF7A94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3867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1">
                <a:solidFill>
                  <a:srgbClr val="090909"/>
                </a:solidFill>
              </a:defRPr>
            </a:pPr>
            <a:r>
              <a:rPr sz="585" b="1">
                <a:solidFill>
                  <a:srgbClr val="090909"/>
                </a:solidFill>
              </a:rPr>
              <a:t>Listen only to leadership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6BAD9E-4EED-4CB7-8EDE-3FD8DC0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6386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26367"/>
                </a:solidFill>
              </a:defRPr>
            </a:pPr>
            <a:r>
              <a:rPr sz="533" b="0">
                <a:solidFill>
                  <a:srgbClr val="626367"/>
                </a:solidFill>
              </a:rPr>
              <a:t>The ambition is broad, but the first practical job remains unclear.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6F87E2-4337-4FF7-903B-03DA1181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673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1287A4-72E1-4142-BD64-960D8CD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244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07E7AE-96B8-4A12-8ED3-D82B08CF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1492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1">
                <a:solidFill>
                  <a:srgbClr val="090909"/>
                </a:solidFill>
              </a:defRPr>
            </a:pPr>
            <a:r>
              <a:rPr sz="585" b="1">
                <a:solidFill>
                  <a:srgbClr val="090909"/>
                </a:solidFill>
              </a:rPr>
              <a:t>Listen only to frontline teams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192741-9678-421E-9FE0-5A8917E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149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26367"/>
                </a:solidFill>
              </a:defRPr>
            </a:pPr>
            <a:r>
              <a:rPr sz="533" b="0">
                <a:solidFill>
                  <a:srgbClr val="62636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F3039-BEEC-4F22-8A8E-0C5A7373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435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D1C335-BBDA-484F-B8B4-8F8F163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007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756987-78CF-4004-8D43-78011EAF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9117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1">
                <a:solidFill>
                  <a:srgbClr val="090909"/>
                </a:solidFill>
              </a:defRPr>
            </a:pPr>
            <a:r>
              <a:rPr sz="585" b="1">
                <a:solidFill>
                  <a:srgbClr val="090909"/>
                </a:solidFill>
              </a:rPr>
              <a:t>Start with a software vendor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34C3A7-441F-4BA1-BB38-6B936D17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911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26367"/>
                </a:solidFill>
              </a:defRPr>
            </a:pPr>
            <a:r>
              <a:rPr sz="533" b="0">
                <a:solidFill>
                  <a:srgbClr val="62636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B36120-627F-4F82-8778-7A50FCF2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98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803F5E-7A5B-48E2-865F-624A78AB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0769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8E3C3D-F046-47A0-9D44-F44A6F17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6742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1">
                <a:solidFill>
                  <a:srgbClr val="090909"/>
                </a:solidFill>
              </a:defRPr>
            </a:pPr>
            <a:r>
              <a:rPr sz="585" b="1">
                <a:solidFill>
                  <a:srgbClr val="090909"/>
                </a:solidFill>
              </a:rPr>
              <a:t>Buy a standard product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4726CD-B36E-4C4E-A792-2822740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0674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26367"/>
                </a:solidFill>
              </a:defRPr>
            </a:pPr>
            <a:r>
              <a:rPr sz="533" b="0">
                <a:solidFill>
                  <a:srgbClr val="626367"/>
                </a:solidFill>
              </a:rPr>
              <a:t>Deployment is fast, but the workflow may not fit.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F9AFB9-10BB-49FC-B87C-1A3F3E5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4960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F248CA-FB41-43BA-84E6-8126BCB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532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F86F86-7876-41A2-9078-8D4D7107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54367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1">
                <a:solidFill>
                  <a:srgbClr val="090909"/>
                </a:solidFill>
              </a:defRPr>
            </a:pPr>
            <a:r>
              <a:rPr sz="585" b="1">
                <a:solidFill>
                  <a:srgbClr val="090909"/>
                </a:solidFill>
              </a:rPr>
              <a:t>Build a large platform first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163B10-CB6F-498A-9B3A-CE10774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5436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26367"/>
                </a:solidFill>
              </a:defRPr>
            </a:pPr>
            <a:r>
              <a:rPr sz="533" b="0">
                <a:solidFill>
                  <a:srgbClr val="626367"/>
                </a:solidFill>
              </a:rPr>
              <a:t>Time and money are committed before business value is tested.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666CE5-EFC8-4031-AEE3-82567CF5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89C492-E472-4E48-9252-A27B122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538176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00084-F166-401A-80E5-D763ECCE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90909"/>
                </a:solidFill>
              </a:defRPr>
            </a:pPr>
            <a:r>
              <a:rPr sz="2325" b="0">
                <a:solidFill>
                  <a:srgbClr val="090909"/>
                </a:solidFill>
              </a:rPr>
              <a:t>An FDE starts with ambiguity</a:t>
            </a:r>
          </a:p>
          <a:p xmlns:a="http://schemas.openxmlformats.org/drawingml/2006/main">
            <a:pPr algn="l">
              <a:defRPr sz="2325" b="0">
                <a:solidFill>
                  <a:srgbClr val="090909"/>
                </a:solidFill>
              </a:defRPr>
            </a:pPr>
            <a:r>
              <a:rPr sz="2325" b="0">
                <a:solidFill>
                  <a:srgbClr val="090909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02049-347B-4E17-BBB4-3FA966EC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533525"/>
            <a:ext cx="47339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90909"/>
                </a:solidFill>
              </a:defRPr>
            </a:pPr>
            <a:r>
              <a:rPr sz="690" b="0">
                <a:solidFill>
                  <a:srgbClr val="090909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090909"/>
                </a:solidFill>
              </a:defRPr>
            </a:pPr>
            <a:r>
              <a:rPr sz="690" b="0">
                <a:solidFill>
                  <a:srgbClr val="090909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30872-F740-43C4-B571-0AD17BC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657475"/>
            <a:ext cx="47339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F29E2-F306-49E0-B9A3-28B4F1DF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90825"/>
            <a:ext cx="4486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90909"/>
                </a:solidFill>
              </a:defRPr>
            </a:pPr>
            <a:r>
              <a:rPr sz="660" b="1">
                <a:solidFill>
                  <a:srgbClr val="090909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DB146-4327-41E8-93C5-7AFC74C3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4099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2CC75-7F76-4FBC-8BFD-C9B1C03E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004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90909"/>
                </a:solidFill>
              </a:defRPr>
            </a:pPr>
            <a:r>
              <a:rPr sz="690" b="0">
                <a:solidFill>
                  <a:srgbClr val="090909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3F898-B7FD-463C-BCB7-E653E7E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1C7EB-AA44-4619-BC2C-3A00D41F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957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CB813-800F-45D4-951B-5246941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862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90909"/>
                </a:solidFill>
              </a:defRPr>
            </a:pPr>
            <a:r>
              <a:rPr sz="690" b="0">
                <a:solidFill>
                  <a:srgbClr val="090909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B2300-04CB-478C-B785-8B7325B9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244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4F5D7-246E-4A4B-BF4E-FBE512B1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7815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CB751-43A7-4725-9644-2D43F1D9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720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90909"/>
                </a:solidFill>
              </a:defRPr>
            </a:pPr>
            <a:r>
              <a:rPr sz="690" b="0">
                <a:solidFill>
                  <a:srgbClr val="090909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C657B-7BDF-415E-8499-58883AE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102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3D2AE-566B-42C3-9B21-7D5D78EE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673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04B99-2A9D-4CD9-8E22-CBE77A77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578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90909"/>
                </a:solidFill>
              </a:defRPr>
            </a:pPr>
            <a:r>
              <a:rPr sz="690" b="0">
                <a:solidFill>
                  <a:srgbClr val="090909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FB037-8E53-4A5A-9C5C-594476E0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960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D5E5B-DC71-46D2-A41F-E38EB7F1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531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0FB9B-EFB7-4A40-858C-2B4A4E98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1436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090909"/>
                </a:solidFill>
              </a:defRPr>
            </a:pPr>
            <a:r>
              <a:rPr sz="690" b="0">
                <a:solidFill>
                  <a:srgbClr val="090909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323B1-DA2E-487F-9B12-B9E18943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F308F-9F35-4057-A245-C46E63F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039951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BB267-0244-4B5D-9825-F7E5AE53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90909"/>
                </a:solidFill>
              </a:defRPr>
            </a:pPr>
            <a:r>
              <a:rPr sz="2250" b="0">
                <a:solidFill>
                  <a:srgbClr val="090909"/>
                </a:solidFill>
              </a:rPr>
              <a:t>From one small tool</a:t>
            </a:r>
          </a:p>
          <a:p xmlns:a="http://schemas.openxmlformats.org/drawingml/2006/main">
            <a:pPr algn="l">
              <a:defRPr sz="2250" b="0">
                <a:solidFill>
                  <a:srgbClr val="090909"/>
                </a:solidFill>
              </a:defRPr>
            </a:pPr>
            <a:r>
              <a:rPr sz="2250" b="0">
                <a:solidFill>
                  <a:srgbClr val="090909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1B234-ACEF-4B04-B1F0-54DA6DA7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287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479E5-0A11-4245-8D69-C6102D0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097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C9364-C1AD-4999-B2BC-AC7C4C2D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097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Company-specific Skills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Document, spreadsheet, and image processing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Quotation, entry, reconciliation, and reporting automation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Small custom SaaS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2CC27-98B0-4A9A-A73B-D19412E1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09700"/>
            <a:ext cx="828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26367"/>
                </a:solidFill>
              </a:defRPr>
            </a:pPr>
            <a:r>
              <a:rPr sz="525" b="0">
                <a:solidFill>
                  <a:srgbClr val="626367"/>
                </a:solidFill>
              </a:rPr>
              <a:t>Best when the problem is clear and results are needed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AC53C-4242-41CE-902F-C82C3BAF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917AF-A992-40D9-BA26-9159126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7622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61668-C3C9-469C-9D77-C87FC0C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4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One business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3A688-3595-42E2-9752-E615B03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432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Interviews and workflow mapping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Role-specific agents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ERP, CRM, collaboration, and messaging integrations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Exception handling and human approval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Progress, result, and activity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58C04-63AE-4CB0-95CF-BA376ED5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743200"/>
            <a:ext cx="828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26367"/>
                </a:solidFill>
              </a:defRPr>
            </a:pPr>
            <a:r>
              <a:rPr sz="525" b="0">
                <a:solidFill>
                  <a:srgbClr val="626367"/>
                </a:solidFill>
              </a:rPr>
              <a:t>Best when work crosses people and systems through manual handoffs.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B63E2-334B-460D-A813-7BA9663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68C07-360C-42FB-B28C-AE15D355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957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1509E-4363-431B-B434-270E300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767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A data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732CC-7E6D-4D0C-B17E-BAB0B4C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767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Operational databases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Enterprise knowledge bases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Data cleanup and consistent naming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Permissions and usage boundaries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Trusted data for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0C574-F561-4401-AF96-7B4DD5DA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76700"/>
            <a:ext cx="828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26367"/>
                </a:solidFill>
              </a:defRPr>
            </a:pPr>
            <a:r>
              <a:rPr sz="525" b="0">
                <a:solidFill>
                  <a:srgbClr val="626367"/>
                </a:solidFill>
              </a:rPr>
              <a:t>Best when information is hard to find, share, or trust.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35378-D8EE-4616-9DE8-896F3026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435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802FA-BAAA-4C21-9E9C-FB6D85CC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292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25A1C-FC66-4A0D-9394-00857017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A company-wide upgrade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637BD-E5F1-4BAA-9AF3-45AF8C69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102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Identify work suitable for AI across departments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Redesign how people and agents divide the work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Set permissions, approvals, and accountability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Define the pilot sequence and expansion plan</a:t>
            </a:r>
          </a:p>
          <a:p xmlns:a="http://schemas.openxmlformats.org/drawingml/2006/main">
            <a:pPr algn="l">
              <a:defRPr sz="600" b="0">
                <a:solidFill>
                  <a:srgbClr val="090909"/>
                </a:solidFill>
              </a:defRPr>
            </a:pPr>
            <a:r>
              <a:rPr sz="600" b="0">
                <a:solidFill>
                  <a:srgbClr val="090909"/>
                </a:solidFill>
              </a:rPr>
              <a:t>Train the company’s own Agent Bosses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5F3EB-72A9-400A-8EE7-08B20FA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410200"/>
            <a:ext cx="828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26367"/>
                </a:solidFill>
              </a:defRPr>
            </a:pPr>
            <a:r>
              <a:rPr sz="525" b="0">
                <a:solidFill>
                  <a:srgbClr val="626367"/>
                </a:solidFill>
              </a:rPr>
              <a:t>Best when leadership wants one coordinated program.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8C184-3850-410B-AB1A-478C9768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AE827-5CAA-4C01-9337-10C39D41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81464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B32235-1D80-4D72-9A29-C3B98293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90909"/>
                </a:solidFill>
              </a:defRPr>
            </a:pPr>
            <a:r>
              <a:rPr sz="2250" b="0">
                <a:solidFill>
                  <a:srgbClr val="090909"/>
                </a:solidFill>
              </a:rPr>
              <a:t>Assess first.</a:t>
            </a:r>
          </a:p>
          <a:p xmlns:a="http://schemas.openxmlformats.org/drawingml/2006/main">
            <a:pPr algn="l">
              <a:defRPr sz="2250" b="0">
                <a:solidFill>
                  <a:srgbClr val="090909"/>
                </a:solidFill>
              </a:defRPr>
            </a:pPr>
            <a:r>
              <a:rPr sz="2250" b="0">
                <a:solidFill>
                  <a:srgbClr val="090909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E4F68-3965-431E-BFB7-115EFB59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192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F8063-B3D4-427B-9C53-0084563A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09700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48A4E-7A9E-4AD3-8257-438902FC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955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AC039-2EAE-4DF3-8FF8-D535C57F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1526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ACC6A-46C5-46E9-B9DC-6C18131D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43125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715BD-5E8A-4364-9D73-8D7618F3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2892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E2F64-E7C9-41AD-8E8B-34940B2A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860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8CD1B-B185-42E3-B81A-16CBEF63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76550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3B946-4417-4EC4-8958-8E3DFF40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6235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9161D-80C3-4F3F-98B2-B00C6796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6195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B3659-93D3-4FBF-A080-DCA9F36D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09975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D98FD-46F7-4D64-AA2F-7589FC32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9577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CD79A-CB6F-41C0-A475-37558439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3529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F3AE3-2EDE-47F9-9682-E33416AF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43400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A5698-77BC-41FE-AD78-5325BA18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286375"/>
            <a:ext cx="4733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WHAT A PILOT DELIVERS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90798-A4A3-4E2B-A8EB-A9557F4F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2927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99EAA-2211-45EA-AC2D-74209B2D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90909"/>
                </a:solidFill>
              </a:defRPr>
            </a:pPr>
            <a:r>
              <a:rPr sz="593" b="1">
                <a:solidFill>
                  <a:srgbClr val="090909"/>
                </a:solidFill>
              </a:rPr>
              <a:t>A map of the current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B4046-2D52-4DCF-A80C-4533A87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62927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F700-8EF9-4A70-842C-9668FA2D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292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90909"/>
                </a:solidFill>
              </a:defRPr>
            </a:pPr>
            <a:r>
              <a:rPr sz="593" b="1">
                <a:solidFill>
                  <a:srgbClr val="090909"/>
                </a:solidFill>
              </a:rPr>
              <a:t>The problem and pilot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822BF-E9B7-4D93-9A2C-C7973C30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531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C18BB-6231-4DB5-B06E-D8576239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90909"/>
                </a:solidFill>
              </a:defRPr>
            </a:pPr>
            <a:r>
              <a:rPr sz="593" b="1">
                <a:solidFill>
                  <a:srgbClr val="090909"/>
                </a:solidFill>
              </a:rPr>
              <a:t>A working prototype or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25E3C-E908-4F13-94B6-AA443923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9531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59B41-C42F-4CFC-B0E5-14352B0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5312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90909"/>
                </a:solidFill>
              </a:defRPr>
            </a:pPr>
            <a:r>
              <a:rPr sz="593" b="1">
                <a:solidFill>
                  <a:srgbClr val="090909"/>
                </a:solidFill>
              </a:rPr>
              <a:t>The data and permissions used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81CD1-BC14-4D3D-BD69-F783721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27697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96BFB-5050-45D1-B9B4-884831ED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769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90909"/>
                </a:solidFill>
              </a:defRPr>
            </a:pPr>
            <a:r>
              <a:rPr sz="593" b="1">
                <a:solidFill>
                  <a:srgbClr val="090909"/>
                </a:solidFill>
              </a:rPr>
              <a:t>Responsibilities for people and agents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7FD0F4-1F87-4F03-8236-0C2C2F8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27697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2B315-026C-436C-A6A9-68E1B8A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2769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90909"/>
                </a:solidFill>
              </a:defRPr>
            </a:pPr>
            <a:r>
              <a:rPr sz="593" b="1">
                <a:solidFill>
                  <a:srgbClr val="090909"/>
                </a:solidFill>
              </a:rPr>
              <a:t>Human approval 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0E50B-BCE7-4307-992D-9631D568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008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DC411-3B21-4133-9ACC-4E05514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0082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90909"/>
                </a:solidFill>
              </a:defRPr>
            </a:pPr>
            <a:r>
              <a:rPr sz="593" b="1">
                <a:solidFill>
                  <a:srgbClr val="090909"/>
                </a:solidFill>
              </a:rPr>
              <a:t>A before-and-after comparison method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FCEF75-07A1-40DE-BB5A-356B10F1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6008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A5A440-01FD-4B35-ACCE-366A9D17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60082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90909"/>
                </a:solidFill>
              </a:defRPr>
            </a:pPr>
            <a:r>
              <a:rPr sz="593" b="1">
                <a:solidFill>
                  <a:srgbClr val="090909"/>
                </a:solidFill>
              </a:rPr>
              <a:t>A recommendation to continue, adjust, or stop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A0A1C4-25A9-4481-8360-E859302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793459-56C4-41E4-98FF-2A2EED0B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719628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4E8A67-0286-4997-8E31-345B8AF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90909"/>
                </a:solidFill>
              </a:defRPr>
            </a:pPr>
            <a:r>
              <a:rPr sz="2025" b="0">
                <a:solidFill>
                  <a:srgbClr val="090909"/>
                </a:solidFill>
              </a:rPr>
              <a:t>A working agent still needs</a:t>
            </a:r>
          </a:p>
          <a:p xmlns:a="http://schemas.openxmlformats.org/drawingml/2006/main">
            <a:pPr algn="l">
              <a:defRPr sz="2025" b="0">
                <a:solidFill>
                  <a:srgbClr val="090909"/>
                </a:solidFill>
              </a:defRPr>
            </a:pPr>
            <a:r>
              <a:rPr sz="2025" b="0">
                <a:solidFill>
                  <a:srgbClr val="090909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CCCC4-6BE7-4D2A-885C-F90FB022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38250"/>
            <a:ext cx="2276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090909"/>
                </a:solidFill>
              </a:defRPr>
            </a:pPr>
            <a:r>
              <a:rPr sz="623" b="0">
                <a:solidFill>
                  <a:srgbClr val="090909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23" b="0">
                <a:solidFill>
                  <a:srgbClr val="090909"/>
                </a:solidFill>
              </a:defRPr>
            </a:pPr>
            <a:r>
              <a:rPr sz="623" b="0">
                <a:solidFill>
                  <a:srgbClr val="090909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7A28B-44D9-4444-8C44-5EC793A8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1240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E7072-0A36-4519-AEAF-0AE3C432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145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090909"/>
                </a:solidFill>
              </a:defRPr>
            </a:pPr>
            <a:r>
              <a:rPr sz="593" b="0">
                <a:solidFill>
                  <a:srgbClr val="090909"/>
                </a:solidFill>
              </a:rPr>
              <a:t>Give agents clear goals and completion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213E8-C846-4DF3-A3D2-A05773DC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622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DE989-979F-4685-A7EA-A4072191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6193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C550-6E11-4F1B-926F-0DBDCE45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098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090909"/>
                </a:solidFill>
              </a:defRPr>
            </a:pPr>
            <a:r>
              <a:rPr sz="593" b="0">
                <a:solidFill>
                  <a:srgbClr val="090909"/>
                </a:solidFill>
              </a:rPr>
              <a:t>Decide which work can be delegated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C1836-4E03-47A2-B2CB-4D319F75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575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27AE8-2FEA-4347-839F-77E13F8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1146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49CCB-908F-4142-8C64-55C45B12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090909"/>
                </a:solidFill>
              </a:defRPr>
            </a:pPr>
            <a:r>
              <a:rPr sz="593" b="0">
                <a:solidFill>
                  <a:srgbClr val="090909"/>
                </a:solidFill>
              </a:rPr>
              <a:t>Review the process and the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0F0DA-1BA1-4EBC-AFE7-267B1610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C2DD8-67E6-4610-AC32-DA581C6B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6099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2D613-5472-4F9B-BB41-3B98DD00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004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090909"/>
                </a:solidFill>
              </a:defRPr>
            </a:pPr>
            <a:r>
              <a:rPr sz="593" b="0">
                <a:solidFill>
                  <a:srgbClr val="090909"/>
                </a:solidFill>
              </a:rPr>
              <a:t>Handle exceptions, request changes, or stop a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4605C-699E-4AF8-890D-24FCB693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A103F-CD78-4DED-9841-03925651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1052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9B8A2-096F-418B-8984-52110C0A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957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090909"/>
                </a:solidFill>
              </a:defRPr>
            </a:pPr>
            <a:r>
              <a:rPr sz="593" b="0">
                <a:solidFill>
                  <a:srgbClr val="090909"/>
                </a:solidFill>
              </a:rPr>
              <a:t>Manage data, tools, and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67A1D-4D26-4447-8946-7C6721F2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434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254FB-EB6E-44DD-B522-9D6A8FBC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005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7A5C8-1C22-48FD-9051-0683E25F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090909"/>
                </a:solidFill>
              </a:defRPr>
            </a:pPr>
            <a:r>
              <a:rPr sz="593" b="0">
                <a:solidFill>
                  <a:srgbClr val="090909"/>
                </a:solidFill>
              </a:rPr>
              <a:t>Turn good practices into shared Skills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D92D2-E481-489E-83DF-1B479CD5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387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6A6A3-EE57-4866-9A8A-9715774D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0958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41CF6-73C5-4ADD-8FCE-09C3B88F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090909"/>
                </a:solidFill>
              </a:defRPr>
            </a:pPr>
            <a:r>
              <a:rPr sz="593" b="0">
                <a:solidFill>
                  <a:srgbClr val="090909"/>
                </a:solidFill>
              </a:rPr>
              <a:t>Remain accountable for the business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ACD9E-7D76-4F16-A3A5-8CA0790C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91200"/>
            <a:ext cx="22764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626367"/>
                </a:solidFill>
              </a:defRPr>
            </a:pPr>
            <a:r>
              <a:rPr sz="533" b="0">
                <a:solidFill>
                  <a:srgbClr val="62636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3F1E4-0DBB-47A5-97C0-E4D6871F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38250"/>
            <a:ext cx="2276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90909"/>
                </a:solidFill>
              </a:defRPr>
            </a:pPr>
            <a:r>
              <a:rPr sz="1200" b="0">
                <a:solidFill>
                  <a:srgbClr val="090909"/>
                </a:solidFill>
              </a:rPr>
              <a:t>Find the right first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74D76-AB99-4865-896D-3B56254F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76400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93" b="0">
                <a:solidFill>
                  <a:srgbClr val="090909"/>
                </a:solidFill>
              </a:defRPr>
            </a:pPr>
            <a:r>
              <a:rPr sz="593" b="0">
                <a:solidFill>
                  <a:srgbClr val="090909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C528E-B108-4246-9A2A-04AD1F37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95525"/>
            <a:ext cx="2276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90909"/>
                </a:solidFill>
              </a:defRPr>
            </a:pPr>
            <a:r>
              <a:rPr sz="615" b="1">
                <a:solidFill>
                  <a:srgbClr val="090909"/>
                </a:solidFill>
              </a:rPr>
              <a:t>YOU WILL RECEIVE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8F630-02EF-4D10-924A-A7E71D62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93CA0-52EB-423B-9A2D-4C80F980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38425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090909"/>
                </a:solidFill>
              </a:defRPr>
            </a:pPr>
            <a:r>
              <a:rPr sz="578" b="0">
                <a:solidFill>
                  <a:srgbClr val="090909"/>
                </a:solidFill>
              </a:rPr>
              <a:t>One to three areas worth examining 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B2ABA1-1DE2-4778-896A-CBADF1F3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337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61238-0527-4226-A1E4-52229D8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908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9C32CF-9B70-4649-9FE2-59535F3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090909"/>
                </a:solidFill>
              </a:defRPr>
            </a:pPr>
            <a:r>
              <a:rPr sz="578" b="0">
                <a:solidFill>
                  <a:srgbClr val="090909"/>
                </a:solidFill>
              </a:rPr>
              <a:t>An initial judgment on whether AI fits the work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6D7D4C-505A-4A2C-B1BE-33F02E2F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C367D6-4656-42F4-B371-39B09595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A4DEA6-D0B2-4A14-8F23-4B6FAFD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24275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090909"/>
                </a:solidFill>
              </a:defRPr>
            </a:pPr>
            <a:r>
              <a:rPr sz="578" b="0">
                <a:solidFill>
                  <a:srgbClr val="090909"/>
                </a:solidFill>
              </a:rPr>
              <a:t>The data, systems, and people required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A0852A-2C1B-4427-B78A-C82FFB4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1957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639028-19CD-4D76-98D0-5D59308F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767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C45966-85C7-4F64-8B92-8F4D7C27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67200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090909"/>
                </a:solidFill>
              </a:defRPr>
            </a:pPr>
            <a:r>
              <a:rPr sz="578" b="0">
                <a:solidFill>
                  <a:srgbClr val="090909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80BED4-D956-4162-BE8D-CE335D12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625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EA1EAE-92B5-4362-86D4-5892C900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196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17DBBE-0947-4B30-A3CA-6BF2D28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10125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090909"/>
                </a:solidFill>
              </a:defRPr>
            </a:pPr>
            <a:r>
              <a:rPr sz="578" b="0">
                <a:solidFill>
                  <a:srgbClr val="090909"/>
                </a:solidFill>
              </a:rPr>
              <a:t>An honest view on whether a pilot is worthwhile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AA77CA-7812-4E74-9F4F-17FA4A9A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00700"/>
            <a:ext cx="22764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B4C79C-0551-43F6-9C87-A0B1BC27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53100"/>
            <a:ext cx="2047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090909"/>
                </a:solidFill>
              </a:defRPr>
            </a:pPr>
            <a:r>
              <a:rPr sz="600" b="1">
                <a:solidFill>
                  <a:srgbClr val="090909"/>
                </a:solidFill>
              </a:rPr>
              <a:t>WE MAY ALSO TELL YOU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3A83FF-AF96-42BF-BFC6-7E6988B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198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090909"/>
                </a:solidFill>
              </a:defRPr>
            </a:pPr>
            <a:r>
              <a:rPr sz="525" b="0">
                <a:solidFill>
                  <a:srgbClr val="090909"/>
                </a:solidFill>
              </a:rPr>
              <a:t>The problem does not need AI · The data is not ready · Fix the workflow before building · An existing product is better value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C11B59-0D27-46B3-995B-B678A7B2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762750"/>
            <a:ext cx="2276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8" b="0">
                <a:solidFill>
                  <a:srgbClr val="626367"/>
                </a:solidFill>
              </a:defRPr>
            </a:pPr>
            <a:r>
              <a:rPr sz="488" b="0">
                <a:solidFill>
                  <a:srgbClr val="62636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EE99F7-1A9A-4D11-B0A6-D4EB66A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7200B3-6324-4529-A03C-B8443EF8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46828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1EE0F-360B-4B11-A8FE-6595EC3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9575"/>
            <a:ext cx="47339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090909"/>
                </a:solidFill>
              </a:defRPr>
            </a:pPr>
            <a:r>
              <a:rPr sz="2625" b="0">
                <a:solidFill>
                  <a:srgbClr val="090909"/>
                </a:solidFill>
              </a:rPr>
              <a:t>Which part of your business</a:t>
            </a:r>
          </a:p>
          <a:p xmlns:a="http://schemas.openxmlformats.org/drawingml/2006/main">
            <a:pPr algn="l">
              <a:defRPr sz="2625" b="0">
                <a:solidFill>
                  <a:srgbClr val="090909"/>
                </a:solidFill>
              </a:defRPr>
            </a:pPr>
            <a:r>
              <a:rPr sz="2625" b="0">
                <a:solidFill>
                  <a:srgbClr val="090909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59CED-D247-42D8-A49D-5F15157F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8097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5BFF"/>
                </a:solidFill>
              </a:defRPr>
            </a:pPr>
            <a:r>
              <a:rPr sz="1013" b="1">
                <a:solidFill>
                  <a:srgbClr val="145BFF"/>
                </a:solidFill>
              </a:rPr>
              <a:t>10 companies per day</a:t>
            </a:r>
          </a:p>
          <a:p xmlns:a="http://schemas.openxmlformats.org/drawingml/2006/main">
            <a:pPr algn="l">
              <a:defRPr sz="1013" b="1">
                <a:solidFill>
                  <a:srgbClr val="145BFF"/>
                </a:solidFill>
              </a:defRPr>
            </a:pPr>
            <a:r>
              <a:rPr sz="1013" b="1">
                <a:solidFill>
                  <a:srgbClr val="145B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32A3E-D5A7-425A-A742-997C9754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24025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090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55150-6E54-4281-B669-92E499A5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A62A0-1FA9-4A91-A60B-2497EFE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4797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090909"/>
                </a:solidFill>
              </a:defRPr>
            </a:pPr>
            <a:r>
              <a:rPr sz="653" b="1">
                <a:solidFill>
                  <a:srgbClr val="090909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E9BEA-0B81-40A2-ADD1-8ECE0EA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2289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838F5-2A9D-4023-9DE3-C48865A6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1945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90909"/>
                </a:solidFill>
              </a:defRPr>
            </a:pPr>
            <a:r>
              <a:rPr sz="675" b="0">
                <a:solidFill>
                  <a:srgbClr val="090909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5E1EE-C635-407C-A67F-71D683E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7136A-D534-4831-95D1-27EACC0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7814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7A009-AD6E-4D80-84FD-A3A0F6C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7190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90909"/>
                </a:solidFill>
              </a:defRPr>
            </a:pPr>
            <a:r>
              <a:rPr sz="675" b="0">
                <a:solidFill>
                  <a:srgbClr val="090909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ACCBB-F05C-440E-B73B-D6308B1B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7672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D749E-4CFE-41B1-B78A-EE806F6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3338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36C3B-DBB1-438C-A362-11B3C224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2435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90909"/>
                </a:solidFill>
              </a:defRPr>
            </a:pPr>
            <a:r>
              <a:rPr sz="675" b="0">
                <a:solidFill>
                  <a:srgbClr val="090909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2CFBE-A7D0-4D69-8E40-22581494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2917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1EBDE-E6B8-4413-ADFF-0DA5817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8863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88F96-02FC-4ED6-BB12-513CFDA2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7680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90909"/>
                </a:solidFill>
              </a:defRPr>
            </a:pPr>
            <a:r>
              <a:rPr sz="675" b="0">
                <a:solidFill>
                  <a:srgbClr val="090909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B050E-05C1-485A-8DFB-9B1AF6B5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8162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2E640-3BFF-41BB-8DEB-03B859A5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387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B0A81-3F17-46C4-AC92-6417384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2925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90909"/>
                </a:solidFill>
              </a:defRPr>
            </a:pPr>
            <a:r>
              <a:rPr sz="675" b="0">
                <a:solidFill>
                  <a:srgbClr val="090909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2BB87-9CC3-443A-BAA7-44B9B464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219825"/>
            <a:ext cx="4733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90909"/>
                </a:solidFill>
              </a:defRPr>
            </a:pPr>
            <a:r>
              <a:rPr sz="750" b="1">
                <a:solidFill>
                  <a:srgbClr val="090909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1EA11-544C-49F4-BA2E-D1D0AC79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57225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[Brand name]</a:t>
            </a:r>
          </a:p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7D3BC-86F9-4CB3-A288-87979E4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5722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90909"/>
                </a:solidFill>
              </a:defRPr>
            </a:pPr>
            <a:r>
              <a:rPr sz="713" b="0">
                <a:solidFill>
                  <a:srgbClr val="090909"/>
                </a:solidFill>
              </a:rPr>
              <a:t>Start with one problem you can understand, complete, and measure.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59790-21DE-4DF7-9B73-E8FB449B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93E60-A5C7-4798-8E5E-CA47F114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86751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2026-08-24T05:49:24.0700000Z</dcterms:created>
  <dcterms:modified xsi:type="dcterms:W3CDTF">2026-08-24T05:49:24.0700000Z</dcterms:modified>
</coreProperties>
</file>