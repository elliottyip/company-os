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ab1e5e923442be" /><Relationship Type="http://schemas.openxmlformats.org/officeDocument/2006/relationships/extended-properties" Target="/docProps/app.xml" Id="Rc9c771f099af4011" /><Relationship Type="http://schemas.openxmlformats.org/officeDocument/2006/relationships/officeDocument" Target="/ppt/presentation.xml" Id="Rb8b0c8ddb4de4c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e68b7b1de34a7e"/>
  </p:sldMasterIdLst>
  <p:notesMasterIdLst>
    <p:notesMasterId xmlns:r="http://schemas.openxmlformats.org/officeDocument/2006/relationships" r:id="Rae2681eca6cc422a"/>
  </p:notesMasterIdLst>
  <p:sldIdLst>
    <p:sldId xmlns:r="http://schemas.openxmlformats.org/officeDocument/2006/relationships" id="256" r:id="Rfa0d72c241744329"/>
    <p:sldId xmlns:r="http://schemas.openxmlformats.org/officeDocument/2006/relationships" id="257" r:id="R7dc4cea90b414746"/>
    <p:sldId xmlns:r="http://schemas.openxmlformats.org/officeDocument/2006/relationships" id="258" r:id="Rf2d0ccf41ce14ad9"/>
    <p:sldId xmlns:r="http://schemas.openxmlformats.org/officeDocument/2006/relationships" id="259" r:id="R11a8ce4d053d4f70"/>
    <p:sldId xmlns:r="http://schemas.openxmlformats.org/officeDocument/2006/relationships" id="260" r:id="R6a59686540484acc"/>
    <p:sldId xmlns:r="http://schemas.openxmlformats.org/officeDocument/2006/relationships" id="261" r:id="R864ed5e582934c91"/>
    <p:sldId xmlns:r="http://schemas.openxmlformats.org/officeDocument/2006/relationships" id="262" r:id="Rd85a2e3fa2724a33"/>
    <p:sldId xmlns:r="http://schemas.openxmlformats.org/officeDocument/2006/relationships" id="263" r:id="R6272af4d9d8b4882"/>
  </p:sldIdLst>
  <p:sldSz cx="5324475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70b6436cf3408e" /><Relationship Type="http://schemas.openxmlformats.org/officeDocument/2006/relationships/slideMaster" Target="/ppt/slideMasters/slideMaster1.xml" Id="R50e68b7b1de34a7e" /><Relationship Type="http://schemas.openxmlformats.org/officeDocument/2006/relationships/notesMaster" Target="/ppt/notesMasters/notesMaster1.xml" Id="Rae2681eca6cc422a" /><Relationship Type="http://schemas.openxmlformats.org/officeDocument/2006/relationships/presProps" Target="/ppt/presProps.xml" Id="R0977f1da145942d7" /><Relationship Type="http://schemas.openxmlformats.org/officeDocument/2006/relationships/tableStyles" Target="/ppt/tableStyles.xml" Id="R1320284347df48fe" /><Relationship Type="http://schemas.openxmlformats.org/officeDocument/2006/relationships/slide" Target="/ppt/slides/slide1.xml" Id="Rfa0d72c241744329" /><Relationship Type="http://schemas.openxmlformats.org/officeDocument/2006/relationships/slide" Target="/ppt/slides/slide2.xml" Id="R7dc4cea90b414746" /><Relationship Type="http://schemas.openxmlformats.org/officeDocument/2006/relationships/slide" Target="/ppt/slides/slide3.xml" Id="Rf2d0ccf41ce14ad9" /><Relationship Type="http://schemas.openxmlformats.org/officeDocument/2006/relationships/slide" Target="/ppt/slides/slide4.xml" Id="R11a8ce4d053d4f70" /><Relationship Type="http://schemas.openxmlformats.org/officeDocument/2006/relationships/slide" Target="/ppt/slides/slide5.xml" Id="R6a59686540484acc" /><Relationship Type="http://schemas.openxmlformats.org/officeDocument/2006/relationships/slide" Target="/ppt/slides/slide6.xml" Id="R864ed5e582934c91" /><Relationship Type="http://schemas.openxmlformats.org/officeDocument/2006/relationships/slide" Target="/ppt/slides/slide7.xml" Id="Rd85a2e3fa2724a33" /><Relationship Type="http://schemas.openxmlformats.org/officeDocument/2006/relationships/slide" Target="/ppt/slides/slide8.xml" Id="R6272af4d9d8b48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374a639d924f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daf4ed34f34870" /><Relationship Type="http://schemas.openxmlformats.org/officeDocument/2006/relationships/notesMaster" Target="/ppt/notesMasters/notesMaster1.xml" Id="Rdf5981ce052447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3f1342a2434333" /><Relationship Type="http://schemas.openxmlformats.org/officeDocument/2006/relationships/notesMaster" Target="/ppt/notesMasters/notesMaster1.xml" Id="Rdb719ad0420343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d9be39275f4d3d" /><Relationship Type="http://schemas.openxmlformats.org/officeDocument/2006/relationships/notesMaster" Target="/ppt/notesMasters/notesMaster1.xml" Id="R1d7bf9ce16dc43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f6e8591e6348a2" /><Relationship Type="http://schemas.openxmlformats.org/officeDocument/2006/relationships/notesMaster" Target="/ppt/notesMasters/notesMaster1.xml" Id="Rfcc727618be841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e7cfbb55d34732" /><Relationship Type="http://schemas.openxmlformats.org/officeDocument/2006/relationships/notesMaster" Target="/ppt/notesMasters/notesMaster1.xml" Id="Re737133e749d4b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0e2cfcf14a4e86" /><Relationship Type="http://schemas.openxmlformats.org/officeDocument/2006/relationships/notesMaster" Target="/ppt/notesMasters/notesMaster1.xml" Id="R510aed7cf71948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a238178d9a44a6" /><Relationship Type="http://schemas.openxmlformats.org/officeDocument/2006/relationships/notesMaster" Target="/ppt/notesMasters/notesMaster1.xml" Id="Ra758dc87585741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efadb8e4c54f04" /><Relationship Type="http://schemas.openxmlformats.org/officeDocument/2006/relationships/notesMaster" Target="/ppt/notesMasters/notesMaster1.xml" Id="Rd784cf72a0a84e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358999bc545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233e6ebdff4a48" /><Relationship Type="http://schemas.openxmlformats.org/officeDocument/2006/relationships/slideLayout" Target="/ppt/slideLayouts/slideLayout1.xml" Id="Rff140353ee9c4b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140353ee9c4b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fb90577c04855" /><Relationship Type="http://schemas.openxmlformats.org/officeDocument/2006/relationships/image" Target="/ppt/media/image.png" Id="R3f6eb0e9fc55467c" /><Relationship Type="http://schemas.openxmlformats.org/officeDocument/2006/relationships/notesSlide" Target="/ppt/notesSlides/notesSlide1.xml" Id="Rc06b5c8e49a444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6ad9d575546a1" /><Relationship Type="http://schemas.openxmlformats.org/officeDocument/2006/relationships/notesSlide" Target="/ppt/notesSlides/notesSlide2.xml" Id="R25d0e0a2ff714c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37558905744c9" /><Relationship Type="http://schemas.openxmlformats.org/officeDocument/2006/relationships/notesSlide" Target="/ppt/notesSlides/notesSlide3.xml" Id="Rdec1afef78bf4e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70252ea0c4380" /><Relationship Type="http://schemas.openxmlformats.org/officeDocument/2006/relationships/notesSlide" Target="/ppt/notesSlides/notesSlide4.xml" Id="R7bb3f1071f5240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5dc37b74e4f01" /><Relationship Type="http://schemas.openxmlformats.org/officeDocument/2006/relationships/notesSlide" Target="/ppt/notesSlides/notesSlide5.xml" Id="Rb474a3ed010e46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99ade6a9c403c" /><Relationship Type="http://schemas.openxmlformats.org/officeDocument/2006/relationships/notesSlide" Target="/ppt/notesSlides/notesSlide6.xml" Id="R0592005ba9d24b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4613f66c449a3" /><Relationship Type="http://schemas.openxmlformats.org/officeDocument/2006/relationships/notesSlide" Target="/ppt/notesSlides/notesSlide7.xml" Id="Rafc6abc5b6154b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e986e4e91403c" /><Relationship Type="http://schemas.openxmlformats.org/officeDocument/2006/relationships/notesSlide" Target="/ppt/notesSlides/notesSlide8.xml" Id="R55c9b57335b348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56FD0-E5E5-4D5A-89DB-3F97D1E2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333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909"/>
                </a:solidFill>
              </a:defRPr>
            </a:pPr>
            <a:r>
              <a:rPr sz="1350" b="1">
                <a:solidFill>
                  <a:srgbClr val="090909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C55A7-F6C4-428A-B4E4-0E87D142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257300"/>
            <a:ext cx="4733925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090909"/>
                </a:solidFill>
              </a:defRPr>
            </a:pPr>
            <a:r>
              <a:rPr sz="3450" b="0">
                <a:solidFill>
                  <a:srgbClr val="090909"/>
                </a:solidFill>
              </a:rPr>
              <a:t>企业想做 AI 升级，</a:t>
            </a:r>
          </a:p>
          <a:p xmlns:a="http://schemas.openxmlformats.org/drawingml/2006/main">
            <a:pPr algn="l">
              <a:defRPr sz="3450" b="0">
                <a:solidFill>
                  <a:srgbClr val="090909"/>
                </a:solidFill>
              </a:defRPr>
            </a:pPr>
            <a:r>
              <a:rPr sz="3450" b="0">
                <a:solidFill>
                  <a:srgbClr val="090909"/>
                </a:solidFill>
              </a:rPr>
              <a:t>第一步从哪里开始？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eb0e9fc55467c"/>
          <a:srcRect xmlns:a="http://schemas.openxmlformats.org/drawingml/2006/main" l="0" t="805" r="0" b="8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275" y="3571875"/>
            <a:ext cx="4733925" cy="3105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5E544-1B05-4973-9A91-E04629FB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8675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每天 10 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FA022-5DA5-4DB7-9177-E90821B6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867525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展会限定：免费企业 AI 诊断</a:t>
            </a:r>
          </a:p>
        </p:txBody>
      </p:sp>
    </p:spTree>
    <p:extLst>
      <p:ext uri="{BB962C8B-B14F-4D97-AF65-F5344CB8AC3E}">
        <p14:creationId xmlns:p14="http://schemas.microsoft.com/office/powerpoint/2010/main" val="627533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D8409-63D4-4DAF-9662-55E7F9E1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090909"/>
                </a:solidFill>
              </a:defRPr>
            </a:pPr>
            <a:r>
              <a:rPr sz="2625" b="0">
                <a:solidFill>
                  <a:srgbClr val="090909"/>
                </a:solidFill>
              </a:rPr>
              <a:t>AI 已经可以</a:t>
            </a:r>
          </a:p>
          <a:p xmlns:a="http://schemas.openxmlformats.org/drawingml/2006/main">
            <a:pPr algn="l">
              <a:defRPr sz="2625" b="0">
                <a:solidFill>
                  <a:srgbClr val="090909"/>
                </a:solidFill>
              </a:defRPr>
            </a:pPr>
            <a:r>
              <a:rPr sz="2625" b="0">
                <a:solidFill>
                  <a:srgbClr val="090909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A0041-520B-4795-9562-5C29295F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257300"/>
            <a:ext cx="47339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90909"/>
                </a:solidFill>
              </a:defRPr>
            </a:pPr>
            <a:r>
              <a:rPr sz="713" b="0">
                <a:solidFill>
                  <a:srgbClr val="090909"/>
                </a:solidFill>
              </a:rPr>
              <a:t>过去，我们手动完成工作每一步。</a:t>
            </a:r>
          </a:p>
          <a:p xmlns:a="http://schemas.openxmlformats.org/drawingml/2006/main">
            <a:pPr algn="l">
              <a:defRPr sz="713" b="0">
                <a:solidFill>
                  <a:srgbClr val="090909"/>
                </a:solidFill>
              </a:defRPr>
            </a:pPr>
            <a:r>
              <a:rPr sz="713" b="0">
                <a:solidFill>
                  <a:srgbClr val="090909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E27DE-B492-469C-B423-67571198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066925"/>
            <a:ext cx="1057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90909"/>
                </a:solidFill>
              </a:defRPr>
            </a:pPr>
            <a:r>
              <a:rPr sz="2175" b="0">
                <a:solidFill>
                  <a:srgbClr val="090909"/>
                </a:solidFill>
              </a:rPr>
              <a:t>81%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604DA-60A9-4EFB-8932-D3B639D1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076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90909"/>
                </a:solidFill>
              </a:defRPr>
            </a:pPr>
            <a:r>
              <a:rPr sz="690" b="1">
                <a:solidFill>
                  <a:srgbClr val="090909"/>
                </a:solidFill>
              </a:rPr>
              <a:t>的受访领导者预计，未来 12—18 个月 Agent 会进入公司的 AI 战略。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93693-B3D8-48B3-93FB-A7C30BAE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859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626367"/>
                </a:solidFill>
              </a:defRPr>
            </a:pPr>
            <a:r>
              <a:rPr sz="510" b="0">
                <a:solidFill>
                  <a:srgbClr val="626367"/>
                </a:solidFill>
              </a:rPr>
              <a:t>Microsoft · 31 个国家 / 31,000 名员工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18255-83EF-417E-901D-2011B47C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552700"/>
            <a:ext cx="3514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3D1AD-5D39-44AA-BCD1-CA86DCDF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790825"/>
            <a:ext cx="1057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90909"/>
                </a:solidFill>
              </a:defRPr>
            </a:pPr>
            <a:r>
              <a:rPr sz="2175" b="0">
                <a:solidFill>
                  <a:srgbClr val="090909"/>
                </a:solidFill>
              </a:rPr>
              <a:t>100万+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FEFB5-67F5-45D6-9C42-A0A5CC52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00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90909"/>
                </a:solidFill>
              </a:defRPr>
            </a:pPr>
            <a:r>
              <a:rPr sz="690" b="1">
                <a:solidFill>
                  <a:srgbClr val="090909"/>
                </a:solidFill>
              </a:rPr>
              <a:t>家企业客户在使用 OpenAI 产品。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6BD3C-D77A-4288-84B4-FA5D069B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626367"/>
                </a:solidFill>
              </a:defRPr>
            </a:pPr>
            <a:r>
              <a:rPr sz="510" b="0">
                <a:solidFill>
                  <a:srgbClr val="626367"/>
                </a:solidFill>
              </a:rPr>
              <a:t>OpenAI ·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6641E-C5D4-41CE-8155-309C6C93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76600"/>
            <a:ext cx="3514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48088-6FFD-47DE-9B9D-445608FF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514725"/>
            <a:ext cx="1057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90909"/>
                </a:solidFill>
              </a:defRPr>
            </a:pPr>
            <a:r>
              <a:rPr sz="2175" b="0">
                <a:solidFill>
                  <a:srgbClr val="090909"/>
                </a:solidFill>
              </a:rPr>
              <a:t>108×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F2BAF-DF05-4B7A-B30E-213E4C59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24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90909"/>
                </a:solidFill>
              </a:defRPr>
            </a:pPr>
            <a:r>
              <a:rPr sz="690" b="1">
                <a:solidFill>
                  <a:srgbClr val="090909"/>
                </a:solidFill>
              </a:rPr>
              <a:t>自 2 月以来，Codex 在法务部门的周活跃用户增长。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C50DB-8C5A-4D21-9481-5F5F4EFC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337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626367"/>
                </a:solidFill>
              </a:defRPr>
            </a:pPr>
            <a:r>
              <a:rPr sz="510" b="0">
                <a:solidFill>
                  <a:srgbClr val="626367"/>
                </a:solidFill>
              </a:rPr>
              <a:t>销售 41× · 招聘 41× · 市场 26×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7AF36-6EA8-4C6B-8A4D-DD4A9F93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00500"/>
            <a:ext cx="3514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92BBB-B6F8-48E7-BA72-6CBC6478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371975"/>
            <a:ext cx="4733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大公司正在形成相同判断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8E1E0-A04D-45C0-A72F-B21C8D9C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6863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4B4BE-6B70-4BEA-9FEE-941B1B6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4352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Microsoft：员工将开始构建、分配和管理 Agent。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D5030-2CA2-452C-8A09-BDC5EA22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3872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6F3B6-DB30-4E2F-947E-5A518533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0958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E9309-B854-48E1-8F22-ACB86210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86350"/>
            <a:ext cx="4352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OpenAI：Agent 能代表用户完成工作流。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C422B-FDCD-41A1-9CFE-836F671D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483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C54FD-0065-44AD-9D74-15B01CDE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5054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70628E-F2C1-406A-BFDE-D8CA6759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95925"/>
            <a:ext cx="4352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Google：企业 Agent 要连接数据、工具、记忆和运行环境。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E40A63-7EDC-48F2-B0BD-45AB0AC2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5787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1D82E-AA2C-4035-B2D8-2ADE2CE4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150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96C3E-6759-4511-A90E-7B77900C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05500"/>
            <a:ext cx="4352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Anthropic：人更多决定做什么，Agent 更多负责怎么做。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1566E6-5703-428F-BA0C-55138326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48652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90909"/>
                </a:solidFill>
              </a:defRPr>
            </a:pPr>
            <a:r>
              <a:rPr sz="660" b="1">
                <a:solidFill>
                  <a:srgbClr val="090909"/>
                </a:solidFill>
              </a:rPr>
              <a:t>公开生产案例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867A6A-FA58-405F-97D7-B16785DF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734175"/>
            <a:ext cx="4733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626367"/>
                </a:solidFill>
              </a:defRPr>
            </a:pPr>
            <a:r>
              <a:rPr sz="578" b="0">
                <a:solidFill>
                  <a:srgbClr val="626367"/>
                </a:solidFill>
              </a:rPr>
              <a:t>Cisco · 代码评审时间缩短 50%；部分项目从数周缩短到数天。   Carlyle · 多 Agent 尽调系统开发时间减少超过 50%，准确率提高 30%。   TELUS · 每年节省 5,390 万美元；问题解决速度提高 87%。   Lowe’s · 在 1,700 多家门店为员工提供 AI 项目指导工具。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2E55BB-CA38-4B68-A386-149102DA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C0594B-4A9F-4962-ABF0-07D618DE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968110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6BB9A8-CEA7-47D7-B6C8-AD0FE8E4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090909"/>
                </a:solidFill>
              </a:defRPr>
            </a:pPr>
            <a:r>
              <a:rPr sz="2475" b="0">
                <a:solidFill>
                  <a:srgbClr val="090909"/>
                </a:solidFill>
              </a:rPr>
              <a:t>想要升级提效，</a:t>
            </a:r>
          </a:p>
          <a:p xmlns:a="http://schemas.openxmlformats.org/drawingml/2006/main">
            <a:pPr algn="l">
              <a:defRPr sz="2475" b="0">
                <a:solidFill>
                  <a:srgbClr val="090909"/>
                </a:solidFill>
              </a:defRPr>
            </a:pPr>
            <a:r>
              <a:rPr sz="2475" b="0">
                <a:solidFill>
                  <a:srgbClr val="090909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A4B59-3662-4E3A-B7AC-91ADBF70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362075"/>
            <a:ext cx="2276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很多企业已经试过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4BB0C-34F0-4BA7-99EE-8475348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6954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DF21E-14BB-4788-975C-3F7888F6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85925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90909"/>
                </a:solidFill>
              </a:defRPr>
            </a:pPr>
            <a:r>
              <a:rPr sz="698" b="0">
                <a:solidFill>
                  <a:srgbClr val="090909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30FD9-A634-4943-B56C-C5A663D9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336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87D09-85C4-4482-A637-21C2415F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3907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D3065-93D0-4688-A7D5-183FAF80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81250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90909"/>
                </a:solidFill>
              </a:defRPr>
            </a:pPr>
            <a:r>
              <a:rPr sz="698" b="0">
                <a:solidFill>
                  <a:srgbClr val="090909"/>
                </a:solidFill>
              </a:rPr>
              <a:t>做过 Demo，演示时很好，上线后没人用；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BD804-28CC-4B61-9C90-126EC2CA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2895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F310C-089E-4432-A981-326AF781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0861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88E7A-8819-4B4A-95D2-85A05CE8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76575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90909"/>
                </a:solidFill>
              </a:defRPr>
            </a:pPr>
            <a:r>
              <a:rPr sz="698" b="0">
                <a:solidFill>
                  <a:srgbClr val="090909"/>
                </a:solidFill>
              </a:rPr>
              <a:t>看了很多案例，回到自己公司却套不上；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16094-BD27-4B71-BE71-01E1F777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3D32-90CA-4C28-B7F8-3CF9BC9E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7814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1612C-D493-4FA9-9703-BDEC7EEF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71900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90909"/>
                </a:solidFill>
              </a:defRPr>
            </a:pPr>
            <a:r>
              <a:rPr sz="698" b="0">
                <a:solidFill>
                  <a:srgbClr val="090909"/>
                </a:solidFill>
              </a:rPr>
              <a:t>每个部门都说有需求，但排不出先后；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2816B-9851-4A95-BC8F-18A8A676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1960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A4BCF-9A8A-4DDE-806A-8417E05F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4767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DC344-0B69-461D-821B-B42C86EF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67225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90909"/>
                </a:solidFill>
              </a:defRPr>
            </a:pPr>
            <a:r>
              <a:rPr sz="698" b="0">
                <a:solidFill>
                  <a:srgbClr val="090909"/>
                </a:solidFill>
              </a:rPr>
              <a:t>资料散在微信、Excel、PDF、网盘和员工电脑里；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007F9-0968-43A5-8F8D-963B44E2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149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48534-9A5E-4A93-AEAB-B6E3A422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1720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CB36B-F47D-427B-963E-FF616A43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62550"/>
            <a:ext cx="1895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090909"/>
                </a:solidFill>
              </a:defRPr>
            </a:pPr>
            <a:r>
              <a:rPr sz="698" b="0">
                <a:solidFill>
                  <a:srgbClr val="090909"/>
                </a:solidFill>
              </a:rPr>
              <a:t>担心数据安全，也不知道 Agent 能开放多大权限。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112AC-04C6-4247-90D8-FE554074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62075"/>
            <a:ext cx="227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90909"/>
                </a:solidFill>
              </a:defRPr>
            </a:pPr>
            <a:r>
              <a:rPr sz="863" b="1">
                <a:solidFill>
                  <a:srgbClr val="090909"/>
                </a:solidFill>
              </a:rPr>
              <a:t>AI 升级横跨了四件事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6260F-4B80-408C-8A4C-6D811E6A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383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B7ECB-4427-4446-B894-F8194D28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288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90909"/>
                </a:solidFill>
              </a:defRPr>
            </a:pPr>
            <a:r>
              <a:rPr sz="690" b="1">
                <a:solidFill>
                  <a:srgbClr val="090909"/>
                </a:solidFill>
              </a:rPr>
              <a:t>老板想要的结果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DBBC3-E226-43F8-BC99-B342A94D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336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787D2-4706-4686-B1C1-0453BADE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907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B760A-4838-41FF-A98D-CA902543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90909"/>
                </a:solidFill>
              </a:defRPr>
            </a:pPr>
            <a:r>
              <a:rPr sz="690" b="1">
                <a:solidFill>
                  <a:srgbClr val="090909"/>
                </a:solidFill>
              </a:rPr>
              <a:t>一线员工的工作流程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CEB08A-6129-430B-9A82-F596FA67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8607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9AFBF-300F-4059-85A9-D4FCE27E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432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A28BC-D642-45D2-8C72-DF223671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337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90909"/>
                </a:solidFill>
              </a:defRPr>
            </a:pPr>
            <a:r>
              <a:rPr sz="690" b="1">
                <a:solidFill>
                  <a:srgbClr val="090909"/>
                </a:solidFill>
              </a:rPr>
              <a:t>数据和系统在哪里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1C763C-9CEA-4A13-85CD-2BBF992F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385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015019-F93E-4C81-888D-89F6C21A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956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00CBE1-FFD7-43AB-85BB-6E392394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8615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090909"/>
                </a:solidFill>
              </a:defRPr>
            </a:pPr>
            <a:r>
              <a:rPr sz="690" b="1">
                <a:solidFill>
                  <a:srgbClr val="090909"/>
                </a:solidFill>
              </a:rPr>
              <a:t>技术怎么做出来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082EDC-BA1D-4999-A500-0C67B1C4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76725"/>
            <a:ext cx="2276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为什么自己做容易卡住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A0903C-A5D7-457F-AC52-EFAC5085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482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229D59-3B19-4733-AFC4-ADA7D23D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38675"/>
            <a:ext cx="73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90909"/>
                </a:solidFill>
              </a:defRPr>
            </a:pPr>
            <a:r>
              <a:rPr sz="638" b="1">
                <a:solidFill>
                  <a:srgbClr val="090909"/>
                </a:solidFill>
              </a:rPr>
              <a:t>只听老板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B9B8E1-4313-4D99-923D-4C7C369C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6386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26367"/>
                </a:solidFill>
              </a:defRPr>
            </a:pPr>
            <a:r>
              <a:rPr sz="570" b="0">
                <a:solidFill>
                  <a:srgbClr val="626367"/>
                </a:solidFill>
              </a:rPr>
              <a:t>方向很大，但找不到具体从哪项工作开始。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6F3A55-8F5E-4164-9D8C-BE04C6D9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6730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AE9AD4-4A10-4D8B-9F6D-63FA5760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244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79242F-317B-4F00-9AD5-C49169DC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114925"/>
            <a:ext cx="73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90909"/>
                </a:solidFill>
              </a:defRPr>
            </a:pPr>
            <a:r>
              <a:rPr sz="638" b="1">
                <a:solidFill>
                  <a:srgbClr val="090909"/>
                </a:solidFill>
              </a:rPr>
              <a:t>只听一线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ABB037-52BA-49AA-81FC-BE2ADAC5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149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26367"/>
                </a:solidFill>
              </a:defRPr>
            </a:pPr>
            <a:r>
              <a:rPr sz="570" b="0">
                <a:solidFill>
                  <a:srgbClr val="626367"/>
                </a:solidFill>
              </a:rPr>
              <a:t>会得到很多零散需求，却不知道哪个最值得投入。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7827C8-4C2D-4A05-83F5-16FF4619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4355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C65618-7283-4D83-8135-EFD8E78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007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4A6A46-F6B6-4189-91D5-24D3CCD6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91175"/>
            <a:ext cx="73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90909"/>
                </a:solidFill>
              </a:defRPr>
            </a:pPr>
            <a:r>
              <a:rPr sz="638" b="1">
                <a:solidFill>
                  <a:srgbClr val="090909"/>
                </a:solidFill>
              </a:rPr>
              <a:t>只找软件公司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CD1DF5-764D-4B89-B382-AE1B869B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911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26367"/>
                </a:solidFill>
              </a:defRPr>
            </a:pPr>
            <a:r>
              <a:rPr sz="570" b="0">
                <a:solidFill>
                  <a:srgbClr val="62636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994299-89A6-4F04-BE57-94141C8B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1980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D938D7-E40C-494F-8FCF-F61828C8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0769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E7C07A-E65D-4F45-94BE-D53E82A0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67425"/>
            <a:ext cx="73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90909"/>
                </a:solidFill>
              </a:defRPr>
            </a:pPr>
            <a:r>
              <a:rPr sz="638" b="1">
                <a:solidFill>
                  <a:srgbClr val="090909"/>
                </a:solidFill>
              </a:rPr>
              <a:t>直接买标准产品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C59AA1-41AA-4D94-B12A-4BF2BC6B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60674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26367"/>
                </a:solidFill>
              </a:defRPr>
            </a:pPr>
            <a:r>
              <a:rPr sz="570" b="0">
                <a:solidFill>
                  <a:srgbClr val="626367"/>
                </a:solidFill>
              </a:rPr>
              <a:t>上线很快，但公司的流程不一定适合它。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805164-93A6-40C1-A10C-6E05717F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49605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55976C-849E-4F8F-B14B-0982E6EA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5532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618641-8F0D-4785-A172-3E550FD1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543675"/>
            <a:ext cx="73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90909"/>
                </a:solidFill>
              </a:defRPr>
            </a:pPr>
            <a:r>
              <a:rPr sz="638" b="1">
                <a:solidFill>
                  <a:srgbClr val="090909"/>
                </a:solidFill>
              </a:rPr>
              <a:t>一开始就建大平台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65777D-56E5-4A56-AC23-AE185A42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65436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626367"/>
                </a:solidFill>
              </a:defRPr>
            </a:pPr>
            <a:r>
              <a:rPr sz="570" b="0">
                <a:solidFill>
                  <a:srgbClr val="626367"/>
                </a:solidFill>
              </a:rPr>
              <a:t>钱和时间先花出去了，业务价值还没有验证。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BFE90E-5246-42DF-BCC4-EF06B47C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08787C-DA9E-4ED6-97DE-E0C8C6F8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03923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86127-E842-47DC-B27D-643900A0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090909"/>
                </a:solidFill>
              </a:defRPr>
            </a:pPr>
            <a:r>
              <a:rPr sz="2625" b="0">
                <a:solidFill>
                  <a:srgbClr val="090909"/>
                </a:solidFill>
              </a:rPr>
              <a:t>FDE 从模糊问题开始，</a:t>
            </a:r>
          </a:p>
          <a:p xmlns:a="http://schemas.openxmlformats.org/drawingml/2006/main">
            <a:pPr algn="l">
              <a:defRPr sz="2625" b="0">
                <a:solidFill>
                  <a:srgbClr val="090909"/>
                </a:solidFill>
              </a:defRPr>
            </a:pPr>
            <a:r>
              <a:rPr sz="2625" b="0">
                <a:solidFill>
                  <a:srgbClr val="090909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27770-43EE-4905-9AE4-8CE922F9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371600"/>
            <a:ext cx="47339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90909"/>
                </a:solidFill>
              </a:defRPr>
            </a:pPr>
            <a:r>
              <a:rPr sz="750" b="0">
                <a:solidFill>
                  <a:srgbClr val="090909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090909"/>
                </a:solidFill>
              </a:defRPr>
            </a:pPr>
            <a:r>
              <a:rPr sz="750" b="0">
                <a:solidFill>
                  <a:srgbClr val="090909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777B6-F663-4689-8E67-BAC8E480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657475"/>
            <a:ext cx="47339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F993F-DAFC-4030-8B37-A8894055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90825"/>
            <a:ext cx="44862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68058-9365-446E-B229-B4DA3A91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4099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2E44A-1E91-45FB-88BB-2096D35D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00425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90909"/>
                </a:solidFill>
              </a:defRPr>
            </a:pPr>
            <a:r>
              <a:rPr sz="765" b="0">
                <a:solidFill>
                  <a:srgbClr val="090909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649F6-7FB1-4B01-97AF-C864C2BB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386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8DF20-08D7-4A9B-80F0-02C9B3AA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0957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F540F-10E9-4E3A-A36F-72A4034E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86225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90909"/>
                </a:solidFill>
              </a:defRPr>
            </a:pPr>
            <a:r>
              <a:rPr sz="765" b="0">
                <a:solidFill>
                  <a:srgbClr val="090909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2845F-7F68-46EA-9CC6-18B6EE8A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244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0DD87-2F7A-483F-97AC-8B56B658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7815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E5F7D-A3DE-4F57-9B4A-59011607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772025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90909"/>
                </a:solidFill>
              </a:defRPr>
            </a:pPr>
            <a:r>
              <a:rPr sz="765" b="0">
                <a:solidFill>
                  <a:srgbClr val="090909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7E145-FB31-45C6-881E-A9BCF6FC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102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E91B6-A698-4FA4-9451-7E4D260F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4673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0C207-3567-4BF4-8726-B8F086FA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57825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90909"/>
                </a:solidFill>
              </a:defRPr>
            </a:pPr>
            <a:r>
              <a:rPr sz="765" b="0">
                <a:solidFill>
                  <a:srgbClr val="090909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19E56-0AE3-4FB5-A39C-E940A556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0960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204AB-86B2-486A-81B4-91284659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531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BACE7-540F-42E8-AC78-0922E8BF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143625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090909"/>
                </a:solidFill>
              </a:defRPr>
            </a:pPr>
            <a:r>
              <a:rPr sz="765" b="0">
                <a:solidFill>
                  <a:srgbClr val="090909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C14BB-3595-4FAD-A35E-68F873C8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DCBED-F2D3-4D89-9F34-158993A4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87714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3BE94-3533-4D2C-8A36-ACD2D436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90909"/>
                </a:solidFill>
              </a:defRPr>
            </a:pPr>
            <a:r>
              <a:rPr sz="2550" b="0">
                <a:solidFill>
                  <a:srgbClr val="090909"/>
                </a:solidFill>
              </a:rPr>
              <a:t>从一个小工具，</a:t>
            </a:r>
          </a:p>
          <a:p xmlns:a="http://schemas.openxmlformats.org/drawingml/2006/main">
            <a:pPr algn="l">
              <a:defRPr sz="2550" b="0">
                <a:solidFill>
                  <a:srgbClr val="090909"/>
                </a:solidFill>
              </a:defRPr>
            </a:pPr>
            <a:r>
              <a:rPr sz="2550" b="0">
                <a:solidFill>
                  <a:srgbClr val="090909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EFD3F-5C94-4634-9949-7A3FDDE5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4287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86493-29C1-4786-94D8-4420B3B5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097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EDD40-0B1E-4068-9717-6EF1E0DE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140970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企业专属 Skill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文档、表格和图片处理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报价、录单、对账、报告自动化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小型定制 SaaS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04C27-8A92-49EA-8DF6-D0DC2604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09700"/>
            <a:ext cx="828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626367"/>
                </a:solidFill>
              </a:defRPr>
            </a:pPr>
            <a:r>
              <a:rPr sz="578" b="0">
                <a:solidFill>
                  <a:srgbClr val="626367"/>
                </a:solidFill>
              </a:rPr>
              <a:t>问题明确，希望尽快看到效果。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CBA3D-EC83-40CA-AB03-20FD05D3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10B2A-6BB8-46D1-8D81-CFB1CC05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7622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25FA2-3302-4B75-90C9-69433D5E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43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一条业务流程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1ACDC-E378-436C-82C9-96D1C748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74320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访谈和流程整理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多角色 Agent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ERP、CRM、飞书、钉钉、企微等系统连接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异常处理和人工确认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进度、结果和操作记录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E5E65-B527-4FA4-875E-CAD80FCB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743200"/>
            <a:ext cx="828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626367"/>
                </a:solidFill>
              </a:defRPr>
            </a:pPr>
            <a:r>
              <a:rPr sz="578" b="0">
                <a:solidFill>
                  <a:srgbClr val="626367"/>
                </a:solidFill>
              </a:rPr>
              <a:t>工作跨多人、跨系统，靠人工反复传递。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E9C9E-7B90-45C0-BFF4-34D3F56E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100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BE618-3E15-42D9-8197-D9AE7623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0957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FF185-1341-40B4-BCA1-CF0EA3D2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767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一套数据基础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2E2D4-1389-45B5-826D-08ADDBD0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07670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业务数据库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企业知识库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数据整理和统一命名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权限和使用范围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为 Agent 提供可信的数据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37ABA-32FD-4BFE-9D02-F2D8BFA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76700"/>
            <a:ext cx="828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626367"/>
                </a:solidFill>
              </a:defRPr>
            </a:pPr>
            <a:r>
              <a:rPr sz="578" b="0">
                <a:solidFill>
                  <a:srgbClr val="626367"/>
                </a:solidFill>
              </a:rPr>
              <a:t>资料很多，但找不到、用不准、无法共享。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CB78D-BA0F-4B09-97B0-70CCC0E7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435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D9495-D0D2-4312-A938-7ADE679B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4292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10FD8-463F-4718-9212-62B2685D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102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一次公司级升级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7BCDB-9CF2-4F47-954B-03E25F08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1020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找出各部门适合 AI 的工作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重新设计人和 Agent 的分工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建立权限、审批和责任记录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制定试点顺序和后续计划</a:t>
            </a:r>
          </a:p>
          <a:p xmlns:a="http://schemas.openxmlformats.org/drawingml/2006/main">
            <a:pPr algn="l">
              <a:defRPr sz="660" b="0">
                <a:solidFill>
                  <a:srgbClr val="090909"/>
                </a:solidFill>
              </a:defRPr>
            </a:pPr>
            <a:r>
              <a:rPr sz="660" b="0">
                <a:solidFill>
                  <a:srgbClr val="090909"/>
                </a:solidFill>
              </a:rPr>
              <a:t>培训企业自己的 Agent Boss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5C7B0-3168-4162-ADFC-468981AA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410200"/>
            <a:ext cx="828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626367"/>
                </a:solidFill>
              </a:defRPr>
            </a:pPr>
            <a:r>
              <a:rPr sz="578" b="0">
                <a:solidFill>
                  <a:srgbClr val="626367"/>
                </a:solidFill>
              </a:rPr>
              <a:t>老板希望系统推进，不想让各部门各自尝试。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3B4A6-7875-4C31-9F12-168B8DD2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DB7DDA-3265-4AF3-9CDC-6F1A065F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95619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870834-4DD5-4FDA-A5A6-489B3C1C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090909"/>
                </a:solidFill>
              </a:defRPr>
            </a:pPr>
            <a:r>
              <a:rPr sz="2475" b="0">
                <a:solidFill>
                  <a:srgbClr val="090909"/>
                </a:solidFill>
              </a:rPr>
              <a:t>先做一次诊断，</a:t>
            </a:r>
          </a:p>
          <a:p xmlns:a="http://schemas.openxmlformats.org/drawingml/2006/main">
            <a:pPr algn="l">
              <a:defRPr sz="2475" b="0">
                <a:solidFill>
                  <a:srgbClr val="090909"/>
                </a:solidFill>
              </a:defRPr>
            </a:pPr>
            <a:r>
              <a:rPr sz="2475" b="0">
                <a:solidFill>
                  <a:srgbClr val="090909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A4B88-BFCE-4334-A88B-CFD0D1CA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4192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84251-A1D0-4293-ACED-7D3C2255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409700"/>
            <a:ext cx="4352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090909"/>
                </a:solidFill>
              </a:defRPr>
            </a:pPr>
            <a:r>
              <a:rPr sz="705" b="0">
                <a:solidFill>
                  <a:srgbClr val="090909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74E0E-F4DA-4F68-B6CE-1159C238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09550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7256F-18B5-4D88-A5E8-97304FA2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1526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85FAD-3030-424D-B65A-9BA20F2C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43125"/>
            <a:ext cx="4352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090909"/>
                </a:solidFill>
              </a:defRPr>
            </a:pPr>
            <a:r>
              <a:rPr sz="705" b="0">
                <a:solidFill>
                  <a:srgbClr val="090909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F721A-6F71-41ED-ACB7-193F1FAF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2892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A2515-5ECC-486B-846A-C894798D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8860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1C095-23F9-4652-AFD0-3B139D4A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76550"/>
            <a:ext cx="4352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090909"/>
                </a:solidFill>
              </a:defRPr>
            </a:pPr>
            <a:r>
              <a:rPr sz="705" b="0">
                <a:solidFill>
                  <a:srgbClr val="090909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6C863-0D7A-480A-91D3-241E3C98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62350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FB0DB-5549-472B-88B9-DAE9DAE7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6195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653C8-4C87-46D1-B366-26760DE4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09975"/>
            <a:ext cx="4352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090909"/>
                </a:solidFill>
              </a:defRPr>
            </a:pPr>
            <a:r>
              <a:rPr sz="705" b="0">
                <a:solidFill>
                  <a:srgbClr val="090909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73A2D-FE7A-4182-B1A9-07AC3944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9577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BA814-9B4C-4F01-B12A-D34C08CF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3529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2D296-C176-4AD5-8E32-9FB1CA33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43400"/>
            <a:ext cx="4352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>
                <a:solidFill>
                  <a:srgbClr val="090909"/>
                </a:solidFill>
              </a:defRPr>
            </a:pPr>
            <a:r>
              <a:rPr sz="705" b="0">
                <a:solidFill>
                  <a:srgbClr val="090909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09687-B4B4-469D-B4BE-FDFFC27B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286375"/>
            <a:ext cx="4733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90909"/>
                </a:solidFill>
              </a:defRPr>
            </a:pPr>
            <a:r>
              <a:rPr sz="788" b="1">
                <a:solidFill>
                  <a:srgbClr val="090909"/>
                </a:solidFill>
              </a:rPr>
              <a:t>一次试点会交付什么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62534-160F-4220-9ADF-DA50E4A0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2927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3F929-852F-4D24-8906-4A5064F6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2927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90909"/>
                </a:solidFill>
              </a:defRPr>
            </a:pPr>
            <a:r>
              <a:rPr sz="645" b="1">
                <a:solidFill>
                  <a:srgbClr val="090909"/>
                </a:solidFill>
              </a:rPr>
              <a:t>原来的工作流程图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E01834-D3E9-44B1-92AB-C506E9B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62927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85175-BFE9-4AE6-B8D5-5971A81F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2927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90909"/>
                </a:solidFill>
              </a:defRPr>
            </a:pPr>
            <a:r>
              <a:rPr sz="645" b="1">
                <a:solidFill>
                  <a:srgbClr val="090909"/>
                </a:solidFill>
              </a:rPr>
              <a:t>找到的问题和改造范围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4B79C-3E2F-41C2-AC7C-FE764BB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5312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571EB2-2CA2-40CB-B754-A354CE91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90909"/>
                </a:solidFill>
              </a:defRPr>
            </a:pPr>
            <a:r>
              <a:rPr sz="645" b="1">
                <a:solidFill>
                  <a:srgbClr val="090909"/>
                </a:solidFill>
              </a:rPr>
              <a:t>可以运行的原型或系统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A517C-04F2-494D-A019-532368E6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95312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39DE9-6908-4D21-BF54-3E35979F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95312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90909"/>
                </a:solidFill>
              </a:defRPr>
            </a:pPr>
            <a:r>
              <a:rPr sz="645" b="1">
                <a:solidFill>
                  <a:srgbClr val="090909"/>
                </a:solidFill>
              </a:rPr>
              <a:t>使用的数据和权限说明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24CD2C-FDFD-46C3-9403-3630B3C5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27697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DBFFB0-DDF7-4E88-9A73-9B5049EB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7697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90909"/>
                </a:solidFill>
              </a:defRPr>
            </a:pPr>
            <a:r>
              <a:rPr sz="645" b="1">
                <a:solidFill>
                  <a:srgbClr val="090909"/>
                </a:solidFill>
              </a:rPr>
              <a:t>人和 Agent 各自负责什么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FDCC80-0615-4ED1-BDFD-850DB0E2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27697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C40D9-432B-4176-BC0C-1A016AF9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27697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90909"/>
                </a:solidFill>
              </a:defRPr>
            </a:pPr>
            <a:r>
              <a:rPr sz="645" b="1">
                <a:solidFill>
                  <a:srgbClr val="090909"/>
                </a:solidFill>
              </a:rPr>
              <a:t>哪些动作需要人工确认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8F1400-97A8-4940-BB1A-7E61E5A2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0082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EFD974-CD50-48BC-BCF5-7574C2EA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0082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90909"/>
                </a:solidFill>
              </a:defRPr>
            </a:pPr>
            <a:r>
              <a:rPr sz="645" b="1">
                <a:solidFill>
                  <a:srgbClr val="090909"/>
                </a:solidFill>
              </a:rPr>
              <a:t>上线前后的对比方法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C29608-D192-43CA-A227-DAC9481F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600825"/>
            <a:ext cx="238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7E7838-881E-4ECD-9FE7-8874FF6E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600825"/>
            <a:ext cx="1971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90909"/>
                </a:solidFill>
              </a:defRPr>
            </a:pPr>
            <a:r>
              <a:rPr sz="645" b="1">
                <a:solidFill>
                  <a:srgbClr val="090909"/>
                </a:solidFill>
              </a:rPr>
              <a:t>继续做、调整或停止的建议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B4A1D1-0AEA-4B10-94BB-D41DD243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983F62-026B-42C5-B005-AF34097D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19523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84CAE6-6BD6-4CE4-8F42-44A9AFBE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81000"/>
            <a:ext cx="4733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90909"/>
                </a:solidFill>
              </a:defRPr>
            </a:pPr>
            <a:r>
              <a:rPr sz="2250" b="0">
                <a:solidFill>
                  <a:srgbClr val="090909"/>
                </a:solidFill>
              </a:rPr>
              <a:t>系统上线了，</a:t>
            </a:r>
          </a:p>
          <a:p xmlns:a="http://schemas.openxmlformats.org/drawingml/2006/main">
            <a:pPr algn="l">
              <a:defRPr sz="2250" b="0">
                <a:solidFill>
                  <a:srgbClr val="090909"/>
                </a:solidFill>
              </a:defRPr>
            </a:pPr>
            <a:r>
              <a:rPr sz="2250" b="0">
                <a:solidFill>
                  <a:srgbClr val="090909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3C7F8-0852-44A2-A61F-AE0368A3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238250"/>
            <a:ext cx="2276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90909"/>
                </a:solidFill>
              </a:defRPr>
            </a:pPr>
            <a:r>
              <a:rPr sz="675" b="0">
                <a:solidFill>
                  <a:srgbClr val="090909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675" b="0">
                <a:solidFill>
                  <a:srgbClr val="090909"/>
                </a:solidFill>
              </a:defRPr>
            </a:pPr>
            <a:r>
              <a:rPr sz="675" b="0">
                <a:solidFill>
                  <a:srgbClr val="090909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795EB-CD19-45EC-9333-7AC58CF0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1240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289DA-3538-4893-92DB-025D3DA6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145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090909"/>
                </a:solidFill>
              </a:defRPr>
            </a:pPr>
            <a:r>
              <a:rPr sz="653" b="0">
                <a:solidFill>
                  <a:srgbClr val="090909"/>
                </a:solidFill>
              </a:rPr>
              <a:t>给 Agent 说清目标和完成标准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C3410-25FB-4628-A572-8032EF63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622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43C06-7E1D-4437-BF7B-A58F7123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6193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ECC84-39CD-4CF5-AB6D-2A8F4A79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098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090909"/>
                </a:solidFill>
              </a:defRPr>
            </a:pPr>
            <a:r>
              <a:rPr sz="653" b="0">
                <a:solidFill>
                  <a:srgbClr val="090909"/>
                </a:solidFill>
              </a:rPr>
              <a:t>判断哪些工作可以交出去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00FAA-A0BD-4CDE-B93E-4CD848D3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575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5BE28D-013F-4721-BD8E-A2EAB3A1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1146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4D784-9C15-4725-AF4D-FB6A4915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051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090909"/>
                </a:solidFill>
              </a:defRPr>
            </a:pPr>
            <a:r>
              <a:rPr sz="653" b="0">
                <a:solidFill>
                  <a:srgbClr val="090909"/>
                </a:solidFill>
              </a:rPr>
              <a:t>检查 Agent 的过程和结果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464BE-17DE-4E0F-8994-5ACABE47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528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ADA98-2DAB-4664-8298-001B88D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6099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13E25-2556-43C6-9FCD-B74FFBA6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004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090909"/>
                </a:solidFill>
              </a:defRPr>
            </a:pPr>
            <a:r>
              <a:rPr sz="653" b="0">
                <a:solidFill>
                  <a:srgbClr val="090909"/>
                </a:solidFill>
              </a:rPr>
              <a:t>处理异常、退回修改或暂停任务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4239D-AD39-4106-A192-44942EA2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00EAF-336C-4918-B3F5-9DBD6109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1052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6FBB4-7C6A-4863-8CD5-D83D7D9C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957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090909"/>
                </a:solidFill>
              </a:defRPr>
            </a:pPr>
            <a:r>
              <a:rPr sz="653" b="0">
                <a:solidFill>
                  <a:srgbClr val="090909"/>
                </a:solidFill>
              </a:rPr>
              <a:t>管好数据、工具和权限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35624-6C9E-4C8B-9F02-7AD47512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434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D97A1-DA75-4A5B-B43E-39A8480D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6005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CBEF7-55EB-4BC5-8404-143C4D1C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090909"/>
                </a:solidFill>
              </a:defRPr>
            </a:pPr>
            <a:r>
              <a:rPr sz="653" b="0">
                <a:solidFill>
                  <a:srgbClr val="090909"/>
                </a:solidFill>
              </a:rPr>
              <a:t>把好用的方法做成团队共同使用的 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C82B7-F31C-418E-9D45-C4F3ED68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387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B4216-2FF8-49B2-8AE1-B1FD63E9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0958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89C8D-E668-448B-8048-40A0C2EA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86350"/>
            <a:ext cx="1895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090909"/>
                </a:solidFill>
              </a:defRPr>
            </a:pPr>
            <a:r>
              <a:rPr sz="653" b="0">
                <a:solidFill>
                  <a:srgbClr val="090909"/>
                </a:solidFill>
              </a:rPr>
              <a:t>对最后的业务结果负责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5AF1D-9187-48F8-9969-4B422245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791200"/>
            <a:ext cx="22764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626367"/>
                </a:solidFill>
              </a:defRPr>
            </a:pPr>
            <a:r>
              <a:rPr sz="585" b="0">
                <a:solidFill>
                  <a:srgbClr val="62636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3B44E-1B7B-4B4D-8ECA-36973664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38250"/>
            <a:ext cx="2276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0909"/>
                </a:solidFill>
              </a:defRPr>
            </a:pPr>
            <a:r>
              <a:rPr sz="1350" b="0">
                <a:solidFill>
                  <a:srgbClr val="090909"/>
                </a:solidFill>
              </a:rPr>
              <a:t>先帮你找到第一步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972C8-BA0F-4776-80EE-3D1F68E1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76400"/>
            <a:ext cx="2276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090909"/>
                </a:solidFill>
              </a:defRPr>
            </a:pPr>
            <a:r>
              <a:rPr sz="645" b="0">
                <a:solidFill>
                  <a:srgbClr val="090909"/>
                </a:solidFill>
              </a:rPr>
              <a:t>展会期间，我们提供免费的企业 AI 诊断。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E3F1D7-A7F5-44D5-9288-1FA081EB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95525"/>
            <a:ext cx="2276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90909"/>
                </a:solidFill>
              </a:defRPr>
            </a:pPr>
            <a:r>
              <a:rPr sz="675" b="1">
                <a:solidFill>
                  <a:srgbClr val="090909"/>
                </a:solidFill>
              </a:rPr>
              <a:t>你会拿到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73407-C30C-4985-9077-50BAA870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79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6CDEC1-6C67-4E83-8E7F-A0EA33A7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38425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目前最值得先看的 1—3 项工作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FBD59F-E1E9-4859-A26F-5D9D87D4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3372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B161FD-AB09-4821-A7D2-3FB20641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908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9887FA-B526-4B0E-B88A-377D7807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这些工作适不适合用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1607BB-4A9B-448A-851A-A83AD23E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7665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A16021-C64D-44A9-8B97-44B5AF1F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3380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1F3C01-E450-4314-8146-88EF925F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24275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需要哪些数据、系统和人员参与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279887-C913-45D1-BB2D-CF504E48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19575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8B6E75-2986-4BAB-B010-148935CC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767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56FD39-EE2C-40DE-9C9C-367C1E95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67200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更适合买现成软件、做 Skill、定制 SaaS、建数据库，还是先改流程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F644A5-B62B-45B8-811E-3C64F463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62500"/>
            <a:ext cx="189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7F21FE-0A08-462D-A76D-5AABE106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19650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C384E7-BB84-41C5-AE2D-1CA1E254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10125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90909"/>
                </a:solidFill>
              </a:defRPr>
            </a:pPr>
            <a:r>
              <a:rPr sz="638" b="0">
                <a:solidFill>
                  <a:srgbClr val="090909"/>
                </a:solidFill>
              </a:rPr>
              <a:t>是否值得做一个小试点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EB1990-D6B2-4038-BDEF-E91B8B3D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00700"/>
            <a:ext cx="22764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A7441D-045B-4009-B961-1302EAD8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53100"/>
            <a:ext cx="2047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90909"/>
                </a:solidFill>
              </a:defRPr>
            </a:pPr>
            <a:r>
              <a:rPr sz="660" b="1">
                <a:solidFill>
                  <a:srgbClr val="090909"/>
                </a:solidFill>
              </a:rPr>
              <a:t>我们也可能直接告诉你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2A7D3D-725D-465F-BF16-A5AF3534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01980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090909"/>
                </a:solidFill>
              </a:defRPr>
            </a:pPr>
            <a:r>
              <a:rPr sz="578" b="0">
                <a:solidFill>
                  <a:srgbClr val="090909"/>
                </a:solidFill>
              </a:rPr>
              <a:t>这个问题不需要 AI · 现在的数据条件还做不了 · 先把流程理顺，再考虑开发 · 买现成产品更划算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FA5B5F-1F2D-489E-8F53-38B0F578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762750"/>
            <a:ext cx="2276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8" b="0">
                <a:solidFill>
                  <a:srgbClr val="626367"/>
                </a:solidFill>
              </a:defRPr>
            </a:pPr>
            <a:r>
              <a:rPr sz="518" b="0">
                <a:solidFill>
                  <a:srgbClr val="62636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1635DC-60BF-461C-A320-668A165B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0E250E-BB90-4DB5-8CE4-963DF454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92324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AF884-BA19-4442-A19F-EF1E40E9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09575"/>
            <a:ext cx="47339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90909"/>
                </a:solidFill>
              </a:defRPr>
            </a:pPr>
            <a:r>
              <a:rPr sz="2925" b="0">
                <a:solidFill>
                  <a:srgbClr val="090909"/>
                </a:solidFill>
              </a:rPr>
              <a:t>你的企业，</a:t>
            </a:r>
          </a:p>
          <a:p xmlns:a="http://schemas.openxmlformats.org/drawingml/2006/main">
            <a:pPr algn="l">
              <a:defRPr sz="2925" b="0">
                <a:solidFill>
                  <a:srgbClr val="090909"/>
                </a:solidFill>
              </a:defRPr>
            </a:pPr>
            <a:r>
              <a:rPr sz="2925" b="0">
                <a:solidFill>
                  <a:srgbClr val="090909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37E63-3AD1-4CFA-BF6D-F678F99A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8097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BFF"/>
                </a:solidFill>
              </a:defRPr>
            </a:pPr>
            <a:r>
              <a:rPr sz="1125" b="1">
                <a:solidFill>
                  <a:srgbClr val="145BFF"/>
                </a:solidFill>
              </a:rPr>
              <a:t>每天限 10 家</a:t>
            </a:r>
          </a:p>
          <a:p xmlns:a="http://schemas.openxmlformats.org/drawingml/2006/main">
            <a:pPr algn="l">
              <a:defRPr sz="1125" b="1">
                <a:solidFill>
                  <a:srgbClr val="145BFF"/>
                </a:solidFill>
              </a:defRPr>
            </a:pPr>
            <a:r>
              <a:rPr sz="1125" b="1">
                <a:solidFill>
                  <a:srgbClr val="145BFF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E6686-4EB6-4E13-9B5A-AFACCE7B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24025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9090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D1E7C-83CD-4026-8C7E-A5F2E727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090909"/>
                </a:solidFill>
              </a:defRPr>
            </a:pPr>
            <a:r>
              <a:rPr sz="750" b="0">
                <a:solidFill>
                  <a:srgbClr val="090909"/>
                </a:solidFill>
              </a:rPr>
              <a:t>二维码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AA799-8786-4A57-9411-F13CA4CC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84797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90909"/>
                </a:solidFill>
              </a:defRPr>
            </a:pPr>
            <a:r>
              <a:rPr sz="713" b="1">
                <a:solidFill>
                  <a:srgbClr val="090909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2718C-73CE-484A-B7A6-8C2543C1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2289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4D14E-08D3-4E8D-80A5-96432541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19450"/>
            <a:ext cx="435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90909"/>
                </a:solidFill>
              </a:defRPr>
            </a:pPr>
            <a:r>
              <a:rPr sz="750" b="0">
                <a:solidFill>
                  <a:srgbClr val="090909"/>
                </a:solidFill>
              </a:rPr>
              <a:t>企业和行业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13B6C-03B9-41B1-B1E2-955C7DC8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38174-D9AE-4FE4-AB75-ECAADD8E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7814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41B97-7AF8-41F3-8439-F4A36E7D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71900"/>
            <a:ext cx="435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90909"/>
                </a:solidFill>
              </a:defRPr>
            </a:pPr>
            <a:r>
              <a:rPr sz="750" b="0">
                <a:solidFill>
                  <a:srgbClr val="090909"/>
                </a:solidFill>
              </a:rPr>
              <a:t>最想改善的一项工作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86B27-C2B4-4B89-AC6D-37FDA04D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7672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89A17-9DD5-4CB8-A157-BF46FDE5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3338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E27F0-2C7E-4821-A14F-CD3255FE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24350"/>
            <a:ext cx="435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90909"/>
                </a:solidFill>
              </a:defRPr>
            </a:pPr>
            <a:r>
              <a:rPr sz="750" b="0">
                <a:solidFill>
                  <a:srgbClr val="090909"/>
                </a:solidFill>
              </a:rPr>
              <a:t>现在怎么做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11C9A-82AC-434E-8F01-4261BE99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2917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FA437-2AFC-4685-8F31-0A119B2D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88632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4DA0E-5348-4666-9ABE-A384A89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76800"/>
            <a:ext cx="435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90909"/>
                </a:solidFill>
              </a:defRPr>
            </a:pPr>
            <a:r>
              <a:rPr sz="750" b="0">
                <a:solidFill>
                  <a:srgbClr val="090909"/>
                </a:solidFill>
              </a:rPr>
              <a:t>谁负责这项业务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6ABB3-280B-48EC-A8D8-2F07C39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81625"/>
            <a:ext cx="4352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16C00-0E14-4EF9-BB26-6402AA0A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438775"/>
            <a:ext cx="276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090909"/>
                </a:solidFill>
              </a:defRPr>
            </a:pPr>
            <a:r>
              <a:rPr sz="585" b="0">
                <a:solidFill>
                  <a:srgbClr val="090909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3E77FC-9C3A-49E3-A04B-ED369987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29250"/>
            <a:ext cx="435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90909"/>
                </a:solidFill>
              </a:defRPr>
            </a:pPr>
            <a:r>
              <a:rPr sz="750" b="0">
                <a:solidFill>
                  <a:srgbClr val="090909"/>
                </a:solidFill>
              </a:rPr>
              <a:t>联系方式和方便沟通的时间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BCABC-F2F8-44E8-8E0E-7B85BCDC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219825"/>
            <a:ext cx="4733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90909"/>
                </a:solidFill>
              </a:defRPr>
            </a:pPr>
            <a:r>
              <a:rPr sz="825" b="1">
                <a:solidFill>
                  <a:srgbClr val="090909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B86D54-99BF-48EA-A3E2-7B9EF6A8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57225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[品牌名]</a:t>
            </a:r>
          </a:p>
          <a:p xmlns:a="http://schemas.openxmlformats.org/drawingml/2006/main">
            <a:pPr algn="l">
              <a:defRPr sz="638" b="0">
                <a:solidFill>
                  <a:srgbClr val="626367"/>
                </a:solidFill>
              </a:defRPr>
            </a:pPr>
            <a:r>
              <a:rPr sz="638" b="0">
                <a:solidFill>
                  <a:srgbClr val="62636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C7C20-8DB5-4E8D-B74C-C9190E80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5722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090909"/>
                </a:solidFill>
              </a:defRPr>
            </a:pPr>
            <a:r>
              <a:rPr sz="788" b="0">
                <a:solidFill>
                  <a:srgbClr val="090909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23845-A154-45F6-9D13-8C89A4C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72390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E5E4D-0AE9-4342-BC5E-803BC88E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3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540" b="0">
                <a:solidFill>
                  <a:srgbClr val="090909"/>
                </a:solidFill>
              </a:defRPr>
            </a:pPr>
            <a:r>
              <a:rPr sz="540" b="0">
                <a:solidFill>
                  <a:srgbClr val="090909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09486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2026-08-24T05:49:23.0410000Z</dcterms:created>
  <dcterms:modified xsi:type="dcterms:W3CDTF">2026-08-24T05:49:23.0410000Z</dcterms:modified>
</coreProperties>
</file>