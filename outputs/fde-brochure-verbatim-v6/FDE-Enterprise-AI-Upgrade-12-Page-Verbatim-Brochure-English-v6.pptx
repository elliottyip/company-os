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888fee78034abc" /><Relationship Type="http://schemas.openxmlformats.org/officeDocument/2006/relationships/extended-properties" Target="/docProps/app.xml" Id="R3853d42f3ae44d27" /><Relationship Type="http://schemas.openxmlformats.org/officeDocument/2006/relationships/officeDocument" Target="/ppt/presentation.xml" Id="Rd49919ca1f9f47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f1949f7c5d42dc"/>
  </p:sldMasterIdLst>
  <p:notesMasterIdLst>
    <p:notesMasterId xmlns:r="http://schemas.openxmlformats.org/officeDocument/2006/relationships" r:id="Rf7ce29bfb6ae4faf"/>
  </p:notesMasterIdLst>
  <p:sldIdLst>
    <p:sldId xmlns:r="http://schemas.openxmlformats.org/officeDocument/2006/relationships" id="256" r:id="Rb59e96962038453c"/>
    <p:sldId xmlns:r="http://schemas.openxmlformats.org/officeDocument/2006/relationships" id="257" r:id="Rc0c0eabd8bbc41e1"/>
    <p:sldId xmlns:r="http://schemas.openxmlformats.org/officeDocument/2006/relationships" id="258" r:id="R14f1d7f572fc41b1"/>
    <p:sldId xmlns:r="http://schemas.openxmlformats.org/officeDocument/2006/relationships" id="259" r:id="R1ce7437d84d8404f"/>
    <p:sldId xmlns:r="http://schemas.openxmlformats.org/officeDocument/2006/relationships" id="260" r:id="Rc32664e5f9da4f0a"/>
    <p:sldId xmlns:r="http://schemas.openxmlformats.org/officeDocument/2006/relationships" id="261" r:id="R6a69360ba0e64ab1"/>
    <p:sldId xmlns:r="http://schemas.openxmlformats.org/officeDocument/2006/relationships" id="262" r:id="R1bf5c21c55494931"/>
    <p:sldId xmlns:r="http://schemas.openxmlformats.org/officeDocument/2006/relationships" id="263" r:id="R30d0a0d9cb6b4c4b"/>
    <p:sldId xmlns:r="http://schemas.openxmlformats.org/officeDocument/2006/relationships" id="264" r:id="R6756659e234f4595"/>
    <p:sldId xmlns:r="http://schemas.openxmlformats.org/officeDocument/2006/relationships" id="265" r:id="Rc01222dae3d346c1"/>
    <p:sldId xmlns:r="http://schemas.openxmlformats.org/officeDocument/2006/relationships" id="266" r:id="R2200456d5d4346f6"/>
    <p:sldId xmlns:r="http://schemas.openxmlformats.org/officeDocument/2006/relationships" id="267" r:id="Rc8979b687c7b48a7"/>
  </p:sldIdLst>
  <p:sldSz cx="5829300" cy="75438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7d3ddd55f14f84" /><Relationship Type="http://schemas.openxmlformats.org/officeDocument/2006/relationships/slideMaster" Target="/ppt/slideMasters/slideMaster1.xml" Id="R7ff1949f7c5d42dc" /><Relationship Type="http://schemas.openxmlformats.org/officeDocument/2006/relationships/notesMaster" Target="/ppt/notesMasters/notesMaster1.xml" Id="Rf7ce29bfb6ae4faf" /><Relationship Type="http://schemas.openxmlformats.org/officeDocument/2006/relationships/presProps" Target="/ppt/presProps.xml" Id="R130aaefcbd7c4d46" /><Relationship Type="http://schemas.openxmlformats.org/officeDocument/2006/relationships/tableStyles" Target="/ppt/tableStyles.xml" Id="R4be4d98a025d44b0" /><Relationship Type="http://schemas.openxmlformats.org/officeDocument/2006/relationships/slide" Target="/ppt/slides/slide1.xml" Id="Rb59e96962038453c" /><Relationship Type="http://schemas.openxmlformats.org/officeDocument/2006/relationships/slide" Target="/ppt/slides/slide2.xml" Id="Rc0c0eabd8bbc41e1" /><Relationship Type="http://schemas.openxmlformats.org/officeDocument/2006/relationships/slide" Target="/ppt/slides/slide3.xml" Id="R14f1d7f572fc41b1" /><Relationship Type="http://schemas.openxmlformats.org/officeDocument/2006/relationships/slide" Target="/ppt/slides/slide4.xml" Id="R1ce7437d84d8404f" /><Relationship Type="http://schemas.openxmlformats.org/officeDocument/2006/relationships/slide" Target="/ppt/slides/slide5.xml" Id="Rc32664e5f9da4f0a" /><Relationship Type="http://schemas.openxmlformats.org/officeDocument/2006/relationships/slide" Target="/ppt/slides/slide6.xml" Id="R6a69360ba0e64ab1" /><Relationship Type="http://schemas.openxmlformats.org/officeDocument/2006/relationships/slide" Target="/ppt/slides/slide7.xml" Id="R1bf5c21c55494931" /><Relationship Type="http://schemas.openxmlformats.org/officeDocument/2006/relationships/slide" Target="/ppt/slides/slide8.xml" Id="R30d0a0d9cb6b4c4b" /><Relationship Type="http://schemas.openxmlformats.org/officeDocument/2006/relationships/slide" Target="/ppt/slides/slide9.xml" Id="R6756659e234f4595" /><Relationship Type="http://schemas.openxmlformats.org/officeDocument/2006/relationships/slide" Target="/ppt/slides/slide10.xml" Id="Rc01222dae3d346c1" /><Relationship Type="http://schemas.openxmlformats.org/officeDocument/2006/relationships/slide" Target="/ppt/slides/slide11.xml" Id="R2200456d5d4346f6" /><Relationship Type="http://schemas.openxmlformats.org/officeDocument/2006/relationships/slide" Target="/ppt/slides/slide12.xml" Id="Rc8979b687c7b48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2eadd11f5f4d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4f0498e08841d9" /><Relationship Type="http://schemas.openxmlformats.org/officeDocument/2006/relationships/notesMaster" Target="/ppt/notesMasters/notesMaster1.xml" Id="Ra5f54e3aba0a4d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494513479240e2" /><Relationship Type="http://schemas.openxmlformats.org/officeDocument/2006/relationships/notesMaster" Target="/ppt/notesMasters/notesMaster1.xml" Id="R7aefab0163ea42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c0645eefac407d" /><Relationship Type="http://schemas.openxmlformats.org/officeDocument/2006/relationships/notesMaster" Target="/ppt/notesMasters/notesMaster1.xml" Id="R7e1bf700d74141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908628ef6f408c" /><Relationship Type="http://schemas.openxmlformats.org/officeDocument/2006/relationships/notesMaster" Target="/ppt/notesMasters/notesMaster1.xml" Id="R8410817a75d149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3152ec4f3b4cb3" /><Relationship Type="http://schemas.openxmlformats.org/officeDocument/2006/relationships/notesMaster" Target="/ppt/notesMasters/notesMaster1.xml" Id="R1c0b22c1c61f4f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3da55abbcf47a2" /><Relationship Type="http://schemas.openxmlformats.org/officeDocument/2006/relationships/notesMaster" Target="/ppt/notesMasters/notesMaster1.xml" Id="R11ec5f15036949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c0d16e2a6a4c23" /><Relationship Type="http://schemas.openxmlformats.org/officeDocument/2006/relationships/notesMaster" Target="/ppt/notesMasters/notesMaster1.xml" Id="Rd6fd56e16a3c46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4d4c199fcd4986" /><Relationship Type="http://schemas.openxmlformats.org/officeDocument/2006/relationships/notesMaster" Target="/ppt/notesMasters/notesMaster1.xml" Id="R64cb97998ec342c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89ceb4d1d7b4b94" /><Relationship Type="http://schemas.openxmlformats.org/officeDocument/2006/relationships/notesMaster" Target="/ppt/notesMasters/notesMaster1.xml" Id="Raf64c328df36427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516d87dfc61494d" /><Relationship Type="http://schemas.openxmlformats.org/officeDocument/2006/relationships/notesMaster" Target="/ppt/notesMasters/notesMaster1.xml" Id="Rae3cf8900eb04c8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c4e0c6fdac44cac" /><Relationship Type="http://schemas.openxmlformats.org/officeDocument/2006/relationships/notesMaster" Target="/ppt/notesMasters/notesMaster1.xml" Id="R33e7c6219e68498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48bf3f228934d96" /><Relationship Type="http://schemas.openxmlformats.org/officeDocument/2006/relationships/notesMaster" Target="/ppt/notesMasters/notesMaster1.xml" Id="Rea5e0219e2d747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7851f6828142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94a4665ecd4990" /><Relationship Type="http://schemas.openxmlformats.org/officeDocument/2006/relationships/slideLayout" Target="/ppt/slideLayouts/slideLayout1.xml" Id="R58bd2dbaa1cc44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bd2dbaa1cc44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4ee2adaee54a8c" /><Relationship Type="http://schemas.openxmlformats.org/officeDocument/2006/relationships/image" Target="/ppt/media/image.png" Id="R9124b2c7e0c84d16" /><Relationship Type="http://schemas.openxmlformats.org/officeDocument/2006/relationships/notesSlide" Target="/ppt/notesSlides/notesSlide1.xml" Id="Rde464528c6ea46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c97519777341d9" /><Relationship Type="http://schemas.openxmlformats.org/officeDocument/2006/relationships/notesSlide" Target="/ppt/notesSlides/notesSlide2.xml" Id="Rc07aaaaf833047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4ff31b62f84cea" /><Relationship Type="http://schemas.openxmlformats.org/officeDocument/2006/relationships/notesSlide" Target="/ppt/notesSlides/notesSlide3.xml" Id="R8d7cfb5f4e7843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40038933ab4ed2" /><Relationship Type="http://schemas.openxmlformats.org/officeDocument/2006/relationships/notesSlide" Target="/ppt/notesSlides/notesSlide4.xml" Id="R399dcddf9e3a47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70615c852b4ded" /><Relationship Type="http://schemas.openxmlformats.org/officeDocument/2006/relationships/notesSlide" Target="/ppt/notesSlides/notesSlide5.xml" Id="R43a6abb593054f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fcb53f0a364977" /><Relationship Type="http://schemas.openxmlformats.org/officeDocument/2006/relationships/notesSlide" Target="/ppt/notesSlides/notesSlide6.xml" Id="R8acfead556ce48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5c5b2c79d64b03" /><Relationship Type="http://schemas.openxmlformats.org/officeDocument/2006/relationships/notesSlide" Target="/ppt/notesSlides/notesSlide7.xml" Id="R6eb430f16e7e4a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9672d7a4004149" /><Relationship Type="http://schemas.openxmlformats.org/officeDocument/2006/relationships/notesSlide" Target="/ppt/notesSlides/notesSlide8.xml" Id="R510787a6ff8e423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652477adf449f3" /><Relationship Type="http://schemas.openxmlformats.org/officeDocument/2006/relationships/notesSlide" Target="/ppt/notesSlides/notesSlide9.xml" Id="R3ed26916fa42443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634ed7f79c4116" /><Relationship Type="http://schemas.openxmlformats.org/officeDocument/2006/relationships/notesSlide" Target="/ppt/notesSlides/notesSlide10.xml" Id="Rc8b26d52e64f440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a9cd9356d4fc7" /><Relationship Type="http://schemas.openxmlformats.org/officeDocument/2006/relationships/notesSlide" Target="/ppt/notesSlides/notesSlide11.xml" Id="R0b9c31c19f33458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aceb4cf5c419c" /><Relationship Type="http://schemas.openxmlformats.org/officeDocument/2006/relationships/notesSlide" Target="/ppt/notesSlides/notesSlide12.xml" Id="R6225728ecbde4b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2928CD-4E97-4F54-9A6E-E91830D9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95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50505"/>
                </a:solidFill>
              </a:defRPr>
            </a:pPr>
            <a:r>
              <a:rPr sz="1350" b="1">
                <a:solidFill>
                  <a:srgbClr val="050505"/>
                </a:solidFill>
              </a:rPr>
              <a:t>FDE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42A85C-9E90-45B2-9BC4-B7831264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50292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050505"/>
                </a:solidFill>
              </a:defRPr>
            </a:pPr>
            <a:r>
              <a:rPr sz="3225" b="0">
                <a:solidFill>
                  <a:srgbClr val="050505"/>
                </a:solidFill>
              </a:rPr>
              <a:t>Your company wants to use AI.</a:t>
            </a:r>
          </a:p>
          <a:p xmlns:a="http://schemas.openxmlformats.org/drawingml/2006/main">
            <a:pPr algn="l">
              <a:defRPr sz="3225" b="0">
                <a:solidFill>
                  <a:srgbClr val="050505"/>
                </a:solidFill>
              </a:defRPr>
            </a:pPr>
            <a:r>
              <a:rPr sz="3225" b="0">
                <a:solidFill>
                  <a:srgbClr val="050505"/>
                </a:solidFill>
              </a:rPr>
              <a:t>Where should it start?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B438D7-8299-4D65-8168-734E50E5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5029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050505"/>
                </a:solidFill>
              </a:defRPr>
            </a:pPr>
            <a:r>
              <a:rPr sz="870" b="0">
                <a:solidFill>
                  <a:srgbClr val="050505"/>
                </a:solidFill>
              </a:rPr>
              <a:t>An FDE works inside the business to find the right first problem,</a:t>
            </a:r>
          </a:p>
          <a:p xmlns:a="http://schemas.openxmlformats.org/drawingml/2006/main">
            <a:pPr algn="l">
              <a:defRPr sz="870" b="0">
                <a:solidFill>
                  <a:srgbClr val="050505"/>
                </a:solidFill>
              </a:defRPr>
            </a:pPr>
            <a:r>
              <a:rPr sz="870" b="0">
                <a:solidFill>
                  <a:srgbClr val="050505"/>
                </a:solidFill>
              </a:rPr>
              <a:t>then turns it into a system people use and results can prove.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ED8218-0BEC-45E7-89B2-E0E35BB6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19475"/>
            <a:ext cx="502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53" b="1">
                <a:solidFill>
                  <a:srgbClr val="050505"/>
                </a:solidFill>
              </a:defRPr>
            </a:pPr>
            <a:r>
              <a:rPr sz="653" b="1">
                <a:solidFill>
                  <a:srgbClr val="050505"/>
                </a:solidFill>
              </a:rPr>
              <a:t>Business assessment | Workflow redesign | Skills | Custom SaaS | Databases | Agents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24b2c7e0c84d16"/>
          <a:srcRect xmlns:a="http://schemas.openxmlformats.org/drawingml/2006/main" l="0" t="9801" r="0" b="98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3829050"/>
            <a:ext cx="5029200" cy="26955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F63BDE-FB83-46D1-8217-C40D27C9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762750"/>
            <a:ext cx="3048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4565A"/>
                </a:solidFill>
              </a:defRPr>
            </a:pPr>
            <a:r>
              <a:rPr sz="675" b="0">
                <a:solidFill>
                  <a:srgbClr val="54565A"/>
                </a:solidFill>
              </a:rPr>
              <a:t>Event offer: complimentary enterprise AI assessment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CB9BF4-FF6D-48C6-B17F-1C4966C0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62750"/>
            <a:ext cx="1428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50505"/>
                </a:solidFill>
              </a:defRPr>
            </a:pPr>
            <a:r>
              <a:rPr sz="675" b="1">
                <a:solidFill>
                  <a:srgbClr val="050505"/>
                </a:solidFill>
              </a:rPr>
              <a:t>10 companies per day</a:t>
            </a:r>
          </a:p>
        </p:txBody>
      </p:sp>
    </p:spTree>
    <p:extLst>
      <p:ext uri="{BB962C8B-B14F-4D97-AF65-F5344CB8AC3E}">
        <p14:creationId xmlns:p14="http://schemas.microsoft.com/office/powerpoint/2010/main" val="20953691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D9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57ED05-D848-4CF9-89ED-4210762B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0">
                <a:solidFill>
                  <a:srgbClr val="050505"/>
                </a:solidFill>
              </a:defRPr>
            </a:pPr>
            <a:r>
              <a:rPr sz="3750" b="0">
                <a:solidFill>
                  <a:srgbClr val="050505"/>
                </a:solidFill>
              </a:rPr>
              <a:t>AI can now</a:t>
            </a:r>
          </a:p>
          <a:p xmlns:a="http://schemas.openxmlformats.org/drawingml/2006/main">
            <a:pPr algn="l">
              <a:defRPr sz="3750" b="0">
                <a:solidFill>
                  <a:srgbClr val="050505"/>
                </a:solidFill>
              </a:defRPr>
            </a:pPr>
            <a:r>
              <a:rPr sz="3750" b="0">
                <a:solidFill>
                  <a:srgbClr val="050505"/>
                </a:solidFill>
              </a:rPr>
              <a:t>do the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DBE6B9-DEEE-4DB1-8544-016FBAAF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5029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050505"/>
                </a:solidFill>
              </a:defRPr>
            </a:pPr>
            <a:r>
              <a:rPr sz="855" b="0">
                <a:solidFill>
                  <a:srgbClr val="050505"/>
                </a:solidFill>
              </a:rPr>
              <a:t>We used to complete every step manually.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55" b="0">
                <a:solidFill>
                  <a:srgbClr val="050505"/>
                </a:solidFill>
              </a:defRPr>
            </a:pPr>
            <a:r>
              <a:rPr sz="855" b="0">
                <a:solidFill>
                  <a:srgbClr val="050505"/>
                </a:solidFill>
              </a:rPr>
              <a:t>Agents can now read documents, retrieve data, use tools, and complete a sequence of tasks. When review is required, they hand the decision back to a person.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A98FF0-1BB1-4FC9-8BC7-A24199BE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76700"/>
            <a:ext cx="502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50505"/>
                </a:solidFill>
              </a:defRPr>
            </a:pPr>
            <a:r>
              <a:rPr sz="705" b="1">
                <a:solidFill>
                  <a:srgbClr val="050505"/>
                </a:solidFill>
              </a:rPr>
              <a:t>HOW THE OPERATING MODEL CHANGES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8D9370-CDBF-49C1-97DC-4BE4DE0D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228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050505"/>
                </a:solidFill>
              </a:defRPr>
            </a:pPr>
            <a:r>
              <a:rPr sz="795" b="0">
                <a:solidFill>
                  <a:srgbClr val="050505"/>
                </a:solidFill>
              </a:rPr>
              <a:t>• Agents take on repetitive execution.</a:t>
            </a:r>
          </a:p>
          <a:p xmlns:a="http://schemas.openxmlformats.org/drawingml/2006/main">
            <a:pPr algn="l">
              <a:defRPr sz="795" b="0">
                <a:solidFill>
                  <a:srgbClr val="050505"/>
                </a:solidFill>
              </a:defRPr>
            </a:pPr>
            <a:r>
              <a:rPr sz="795" b="0">
                <a:solidFill>
                  <a:srgbClr val="050505"/>
                </a:solidFill>
              </a:rPr>
              <a:t>• People remain responsible for goals, judgment, and review.</a:t>
            </a:r>
          </a:p>
          <a:p xmlns:a="http://schemas.openxmlformats.org/drawingml/2006/main">
            <a:pPr algn="l">
              <a:defRPr sz="795" b="0">
                <a:solidFill>
                  <a:srgbClr val="050505"/>
                </a:solidFill>
              </a:defRPr>
            </a:pPr>
            <a:r>
              <a:rPr sz="795" b="0">
                <a:solidFill>
                  <a:srgbClr val="050505"/>
                </a:solidFill>
              </a:rPr>
              <a:t>• One manager can direct several agents.</a:t>
            </a:r>
          </a:p>
          <a:p xmlns:a="http://schemas.openxmlformats.org/drawingml/2006/main">
            <a:pPr algn="l">
              <a:defRPr sz="795" b="0">
                <a:solidFill>
                  <a:srgbClr val="050505"/>
                </a:solidFill>
              </a:defRPr>
            </a:pPr>
            <a:r>
              <a:rPr sz="795" b="0">
                <a:solidFill>
                  <a:srgbClr val="050505"/>
                </a:solidFill>
              </a:rPr>
              <a:t>• Companies can turn working knowledge into reusable workflows and Skills.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0FD949-BAB5-4CD5-ACED-152DFA15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343400"/>
            <a:ext cx="2390775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82" b="0">
                <a:solidFill>
                  <a:srgbClr val="050505"/>
                </a:solidFill>
              </a:defRPr>
            </a:pPr>
            <a:r>
              <a:rPr sz="682" b="0">
                <a:solidFill>
                  <a:srgbClr val="050505"/>
                </a:solidFill>
              </a:rPr>
              <a:t>• In 2025, Microsoft introduced the idea of the Agent Boss: an employee who builds, delegates to, and manages agents.</a:t>
            </a:r>
          </a:p>
          <a:p xmlns:a="http://schemas.openxmlformats.org/drawingml/2006/main">
            <a:pPr algn="l">
              <a:defRPr sz="682" b="0">
                <a:solidFill>
                  <a:srgbClr val="050505"/>
                </a:solidFill>
              </a:defRPr>
            </a:pPr>
            <a:r>
              <a:rPr sz="682" b="0">
                <a:solidFill>
                  <a:srgbClr val="050505"/>
                </a:solidFill>
              </a:rPr>
              <a:t>• OpenAI defines agents as systems that can complete workflows on a user’s behalf, rather than simply answer questions.</a:t>
            </a:r>
          </a:p>
          <a:p xmlns:a="http://schemas.openxmlformats.org/drawingml/2006/main">
            <a:pPr algn="l">
              <a:defRPr sz="682" b="0">
                <a:solidFill>
                  <a:srgbClr val="050505"/>
                </a:solidFill>
              </a:defRPr>
            </a:pPr>
            <a:r>
              <a:rPr sz="682" b="0">
                <a:solidFill>
                  <a:srgbClr val="050505"/>
                </a:solidFill>
              </a:rPr>
              <a:t>• Google describes enterprise agents as systems that connect models with company data, tools, memory, orchestration, and runtime infrastructure.</a:t>
            </a:r>
          </a:p>
          <a:p xmlns:a="http://schemas.openxmlformats.org/drawingml/2006/main">
            <a:pPr algn="l">
              <a:defRPr sz="682" b="0">
                <a:solidFill>
                  <a:srgbClr val="050505"/>
                </a:solidFill>
              </a:defRPr>
            </a:pPr>
            <a:r>
              <a:rPr sz="682" b="0">
                <a:solidFill>
                  <a:srgbClr val="050505"/>
                </a:solidFill>
              </a:rPr>
              <a:t>• Anthropic’s research suggests that people tend to decide what should be done, while agents make more of the execution decisions about how to do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EA9C98-9E39-4C35-9974-AEE77AE3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5029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440636-1374-47D3-9583-75B789BB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5029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050505"/>
                </a:solidFill>
              </a:defRPr>
            </a:pPr>
            <a:r>
              <a:rPr sz="1238" b="1">
                <a:solidFill>
                  <a:srgbClr val="050505"/>
                </a:solidFill>
              </a:rPr>
              <a:t>Operating efficiency will diverge with how AI-native a company becomes.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F6AEDF-8706-4C6B-9538-4D9BFE3F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EE5522-3BDA-4165-9871-57476A2E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9867253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91A522-01B4-4181-8D1E-71F32883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50505"/>
                </a:solidFill>
              </a:defRPr>
            </a:pPr>
            <a:r>
              <a:rPr sz="3150" b="0">
                <a:solidFill>
                  <a:srgbClr val="050505"/>
                </a:solidFill>
              </a:rPr>
              <a:t>The numbers are already moving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CCE657-777F-46EB-80AF-689C9B37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52575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50505"/>
                </a:solidFill>
              </a:defRPr>
            </a:pPr>
            <a:r>
              <a:rPr sz="2550" b="0">
                <a:solidFill>
                  <a:srgbClr val="050505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3C3DB6-7347-43EE-BD58-62D3A148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57162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50505"/>
                </a:solidFill>
              </a:defRPr>
            </a:pPr>
            <a:r>
              <a:rPr sz="788" b="1">
                <a:solidFill>
                  <a:srgbClr val="050505"/>
                </a:solidFill>
              </a:rPr>
              <a:t>Microsoft’s 2025 Work Trend Index surveyed 31,000 workers across 31 countries. 81% of surveyed leaders expected agents to enter their company’s AI strategy within 12–18 months.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907F63-37AB-4A9F-8425-FE3D62A1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571625"/>
            <a:ext cx="933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54565A"/>
                </a:solidFill>
              </a:defRPr>
            </a:pPr>
            <a:r>
              <a:rPr sz="563" b="0">
                <a:solidFill>
                  <a:srgbClr val="54565A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889D72-4BBA-401B-9657-C1047E4A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114550"/>
            <a:ext cx="36480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65EF25-A0D9-4EDE-97A0-5540CF5A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50505"/>
                </a:solidFill>
              </a:defRPr>
            </a:pPr>
            <a:r>
              <a:rPr sz="2550" b="0">
                <a:solidFill>
                  <a:srgbClr val="050505"/>
                </a:solidFill>
              </a:rPr>
              <a:t>1M+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2067E9-3E47-49AE-9FDA-71E218C8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3812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50505"/>
                </a:solidFill>
              </a:defRPr>
            </a:pPr>
            <a:r>
              <a:rPr sz="788" b="1">
                <a:solidFill>
                  <a:srgbClr val="050505"/>
                </a:solidFill>
              </a:rPr>
              <a:t>In 2025, OpenAI reported more than one million business customers.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4D9B26-FD5D-4C0B-B451-FB4AC233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81250"/>
            <a:ext cx="933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54565A"/>
                </a:solidFill>
              </a:defRPr>
            </a:pPr>
            <a:r>
              <a:rPr sz="563" b="0">
                <a:solidFill>
                  <a:srgbClr val="54565A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35CB6B-D98C-490E-83BE-27E002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924175"/>
            <a:ext cx="36480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A18145-ACD8-4A42-B00B-078E1B98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71825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50505"/>
                </a:solidFill>
              </a:defRPr>
            </a:pPr>
            <a:r>
              <a:rPr sz="2550" b="0">
                <a:solidFill>
                  <a:srgbClr val="050505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D51EDF-3EF4-4C30-8F1E-72E43A72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19087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50505"/>
                </a:solidFill>
              </a:defRPr>
            </a:pPr>
            <a:r>
              <a:rPr sz="788" b="1">
                <a:solidFill>
                  <a:srgbClr val="050505"/>
                </a:solidFill>
              </a:rPr>
              <a:t>Since February, weekly active Codex users grew 108× in legal, 41× in sales, 41× in recruiting, and 26× in marketing.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B4A79A-EF6A-42FB-B9B6-987FAB9A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90875"/>
            <a:ext cx="933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54565A"/>
                </a:solidFill>
              </a:defRPr>
            </a:pPr>
            <a:r>
              <a:rPr sz="563" b="0">
                <a:solidFill>
                  <a:srgbClr val="54565A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C99B70-AA5B-4FEE-9E2D-021E4DD4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733800"/>
            <a:ext cx="36480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B928DB-7A96-4ACE-A886-7EA219D2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05275"/>
            <a:ext cx="502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50505"/>
                </a:solidFill>
              </a:defRPr>
            </a:pPr>
            <a:r>
              <a:rPr sz="705" b="1">
                <a:solidFill>
                  <a:srgbClr val="050505"/>
                </a:solidFill>
              </a:rPr>
              <a:t>PUBLIC EXAMPLES ALREADY IN PRODUCTION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BEC846-6DA8-46DB-93F1-C1DAB418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4817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Cisco: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F85562-56A1-4ACA-B349-D1666D69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48175"/>
            <a:ext cx="4057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050505"/>
                </a:solidFill>
              </a:defRPr>
            </a:pPr>
            <a:r>
              <a:rPr sz="735" b="0">
                <a:solidFill>
                  <a:srgbClr val="050505"/>
                </a:solidFill>
              </a:rPr>
              <a:t>OpenAI reports that Codex reduced code review time by 50% and shortened some projects from weeks to days.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21B048-F530-4F1E-835A-69A59D86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5029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457A5D-A9D8-40EC-8CBC-B38443CF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967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Carlyle: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92BFF5-05AE-42BA-A68F-82CE4F0D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19675"/>
            <a:ext cx="4057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050505"/>
                </a:solidFill>
              </a:defRPr>
            </a:pPr>
            <a:r>
              <a:rPr sz="735" b="0">
                <a:solidFill>
                  <a:srgbClr val="050505"/>
                </a:solidFill>
              </a:rPr>
              <a:t>Its multi-agent due diligence framework reportedly cut development time by more than 50% and improved agent accuracy by 30%.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535CC3-B359-46DE-A15E-9723DD6A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5029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69D040-2173-48C5-A46D-AF57E19F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9117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TELUS: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9D6583-3E10-4BEB-9AC8-4E9442C0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591175"/>
            <a:ext cx="4057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050505"/>
                </a:solidFill>
              </a:defRPr>
            </a:pPr>
            <a:r>
              <a:rPr sz="735" b="0">
                <a:solidFill>
                  <a:srgbClr val="050505"/>
                </a:solidFill>
              </a:rPr>
              <a:t>A Google Cloud customer story reports $53.9 million in annual savings, 87% faster issue resolution, and 30% of calls resolved proactively with AI.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CFE6F4-E11D-4555-94D8-DD0A8A57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38850"/>
            <a:ext cx="5029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087D4A-A545-4444-A1A2-C4F1F912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6267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Lowe’s: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F2CF29-449F-437D-959B-E6CA2902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162675"/>
            <a:ext cx="4057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050505"/>
                </a:solidFill>
              </a:defRPr>
            </a:pPr>
            <a:r>
              <a:rPr sz="735" b="0">
                <a:solidFill>
                  <a:srgbClr val="050505"/>
                </a:solidFill>
              </a:rPr>
              <a:t>OpenAI reports that Lowe’s provides AI-powered project guidance to associates across more than 1,700 stores.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E75BCA-59A5-423C-9238-E5D814DF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536C58-450E-45EF-90FC-040470F4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8419720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07C609-17C4-4EB1-9CD4-23019743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50505"/>
                </a:solidFill>
              </a:defRPr>
            </a:pPr>
            <a:r>
              <a:rPr sz="2550" b="0">
                <a:solidFill>
                  <a:srgbClr val="050505"/>
                </a:solidFill>
              </a:rPr>
              <a:t>Leaders want higher efficiency,</a:t>
            </a:r>
          </a:p>
          <a:p xmlns:a="http://schemas.openxmlformats.org/drawingml/2006/main">
            <a:pPr algn="l">
              <a:defRPr sz="2550" b="0">
                <a:solidFill>
                  <a:srgbClr val="050505"/>
                </a:solidFill>
              </a:defRPr>
            </a:pPr>
            <a:r>
              <a:rPr sz="2550" b="0">
                <a:solidFill>
                  <a:srgbClr val="050505"/>
                </a:solidFill>
              </a:rPr>
              <a:t>but do not know where to begin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5F9C9C-B19F-45CB-926E-F8B90C32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3352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50505"/>
                </a:solidFill>
              </a:defRPr>
            </a:pPr>
            <a:r>
              <a:rPr sz="705" b="1">
                <a:solidFill>
                  <a:srgbClr val="050505"/>
                </a:solidFill>
              </a:rPr>
              <a:t>MANY COMPANIES HAVE ALREADY TRIED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929CF8-9E67-4D41-8B0A-333ED711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19275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Employees have subscriptions but use them only occasionally.</a:t>
            </a:r>
          </a:p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A demo looked good, but nobody used it after launch.</a:t>
            </a:r>
          </a:p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Other companies’ cases do not fit the way this company works.</a:t>
            </a:r>
          </a:p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Every department has ideas, but nobody can set priorities.</a:t>
            </a:r>
          </a:p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Information is scattered across chat, spreadsheets, PDFs, drives, and personal computers.</a:t>
            </a:r>
          </a:p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Leaders worry about security and do not know how much authority an agent should have.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5D9615-21C8-4C8D-A770-7966F581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3352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50505"/>
                </a:solidFill>
              </a:defRPr>
            </a:pPr>
            <a:r>
              <a:rPr sz="705" b="1">
                <a:solidFill>
                  <a:srgbClr val="050505"/>
                </a:solidFill>
              </a:rPr>
              <a:t>AI transformation crosses four boundaries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867F4F-6566-45D3-9360-BE706DED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573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1">
                <a:solidFill>
                  <a:srgbClr val="050505"/>
                </a:solidFill>
              </a:defRPr>
            </a:pPr>
            <a:r>
              <a:rPr sz="728" b="1">
                <a:solidFill>
                  <a:srgbClr val="050505"/>
                </a:solidFill>
              </a:rPr>
              <a:t>The outcome leadership wants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E5748-09D0-4641-BE33-4D882AFB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28850"/>
            <a:ext cx="23812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5C890B-3F38-4DF8-92D1-B95B1465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764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1">
                <a:solidFill>
                  <a:srgbClr val="050505"/>
                </a:solidFill>
              </a:defRPr>
            </a:pPr>
            <a:r>
              <a:rPr sz="728" b="1">
                <a:solidFill>
                  <a:srgbClr val="050505"/>
                </a:solidFill>
              </a:rPr>
              <a:t>How frontline work actually happens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BE530B-B91A-4CB6-A41A-9F79DE99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47950"/>
            <a:ext cx="23812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705FBE-6934-45FF-BC0F-D6727C3A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955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1">
                <a:solidFill>
                  <a:srgbClr val="050505"/>
                </a:solidFill>
              </a:defRPr>
            </a:pPr>
            <a:r>
              <a:rPr sz="728" b="1">
                <a:solidFill>
                  <a:srgbClr val="050505"/>
                </a:solidFill>
              </a:rPr>
              <a:t>Where the data and systems live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DA101B-A13D-4B7F-B8C7-EA808C83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67050"/>
            <a:ext cx="23812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9ACB30-C3D7-40FD-BF4A-EDDCCEBE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146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1">
                <a:solidFill>
                  <a:srgbClr val="050505"/>
                </a:solidFill>
              </a:defRPr>
            </a:pPr>
            <a:r>
              <a:rPr sz="728" b="1">
                <a:solidFill>
                  <a:srgbClr val="050505"/>
                </a:solidFill>
              </a:rPr>
              <a:t>How the solution gets built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38B64A-90AB-4DC0-9521-ABBC894A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814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50505"/>
                </a:solidFill>
              </a:defRPr>
            </a:pPr>
            <a:r>
              <a:rPr sz="705" b="1">
                <a:solidFill>
                  <a:srgbClr val="050505"/>
                </a:solidFill>
              </a:rPr>
              <a:t>Leave out one layer and the project often stalls.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52A5D9-EF65-41E7-8723-9C49E666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502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50505"/>
                </a:solidFill>
              </a:defRPr>
            </a:pPr>
            <a:r>
              <a:rPr sz="705" b="1">
                <a:solidFill>
                  <a:srgbClr val="050505"/>
                </a:solidFill>
              </a:rPr>
              <a:t>WHY INTERNAL PROJECTS STALL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538121-7BE6-4C04-AD8F-D9A50E3F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6720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50505"/>
                </a:solidFill>
              </a:defRPr>
            </a:pPr>
            <a:r>
              <a:rPr sz="713" b="1">
                <a:solidFill>
                  <a:srgbClr val="050505"/>
                </a:solidFill>
              </a:rPr>
              <a:t>Listen only to leadership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8D311D-8C64-49E9-8CA7-D1CEFFB3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67200"/>
            <a:ext cx="3619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50505"/>
                </a:solidFill>
              </a:defRPr>
            </a:pPr>
            <a:r>
              <a:rPr sz="690" b="0">
                <a:solidFill>
                  <a:srgbClr val="050505"/>
                </a:solidFill>
              </a:rPr>
              <a:t>The ambition is broad, but the first practical job remains unclear.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720389-6A93-4CB6-9C53-0603B2C8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5029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2C014D-704A-4060-984F-F2C24E01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52975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50505"/>
                </a:solidFill>
              </a:defRPr>
            </a:pPr>
            <a:r>
              <a:rPr sz="713" b="1">
                <a:solidFill>
                  <a:srgbClr val="050505"/>
                </a:solidFill>
              </a:rPr>
              <a:t>Listen only to frontline teams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7E54EE-F0A5-4354-810F-4FFF83E8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52975"/>
            <a:ext cx="3619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50505"/>
                </a:solidFill>
              </a:defRPr>
            </a:pPr>
            <a:r>
              <a:rPr sz="690" b="0">
                <a:solidFill>
                  <a:srgbClr val="050505"/>
                </a:solidFill>
              </a:rPr>
              <a:t>You collect scattered requests but cannot identify the best investment.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0C3477-3D74-4667-B0AE-E1D6AFB6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53025"/>
            <a:ext cx="5029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E5CE88-F82D-47AA-944E-2743661D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50505"/>
                </a:solidFill>
              </a:defRPr>
            </a:pPr>
            <a:r>
              <a:rPr sz="713" b="1">
                <a:solidFill>
                  <a:srgbClr val="050505"/>
                </a:solidFill>
              </a:rPr>
              <a:t>Start with a software vendor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0B100A-7154-44F8-891F-21F25211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38750"/>
            <a:ext cx="3619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50505"/>
                </a:solidFill>
              </a:defRPr>
            </a:pPr>
            <a:r>
              <a:rPr sz="690" b="0">
                <a:solidFill>
                  <a:srgbClr val="050505"/>
                </a:solidFill>
              </a:rPr>
              <a:t>The vendor needs clear requirements—the thing the company still lacks.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81C59E-39B6-48A8-82AA-6EEC53BF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8800"/>
            <a:ext cx="5029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E0C206-96AF-48CF-BB0F-2D2211D3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24525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50505"/>
                </a:solidFill>
              </a:defRPr>
            </a:pPr>
            <a:r>
              <a:rPr sz="713" b="1">
                <a:solidFill>
                  <a:srgbClr val="050505"/>
                </a:solidFill>
              </a:rPr>
              <a:t>Buy a standard product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147D7B-64E8-47A7-8259-EB3B07B3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24525"/>
            <a:ext cx="3619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50505"/>
                </a:solidFill>
              </a:defRPr>
            </a:pPr>
            <a:r>
              <a:rPr sz="690" b="0">
                <a:solidFill>
                  <a:srgbClr val="050505"/>
                </a:solidFill>
              </a:rPr>
              <a:t>Deployment is fast, but the workflow may not fit.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0DB3FC-B751-4308-95E8-438D0B97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24575"/>
            <a:ext cx="5029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090147-65F7-4EDB-AD38-D3866803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50505"/>
                </a:solidFill>
              </a:defRPr>
            </a:pPr>
            <a:r>
              <a:rPr sz="713" b="1">
                <a:solidFill>
                  <a:srgbClr val="050505"/>
                </a:solidFill>
              </a:rPr>
              <a:t>Build a large platform first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4D23A0-175C-4870-894E-C17D6A4E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210300"/>
            <a:ext cx="3619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50505"/>
                </a:solidFill>
              </a:defRPr>
            </a:pPr>
            <a:r>
              <a:rPr sz="690" b="0">
                <a:solidFill>
                  <a:srgbClr val="050505"/>
                </a:solidFill>
              </a:rPr>
              <a:t>Time and money are committed before business value is tested.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193B62-FE12-47EB-A33E-06E04CCF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10375"/>
            <a:ext cx="502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050505"/>
                </a:solidFill>
              </a:defRPr>
            </a:pPr>
            <a:r>
              <a:rPr sz="780" b="1">
                <a:solidFill>
                  <a:srgbClr val="050505"/>
                </a:solidFill>
              </a:rPr>
              <a:t>A company needs someone who can connect business, product, and technology. That is the FDE’s role.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355EB2-E731-4213-8734-3E15080D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26D469-CE64-45C6-BBE9-1EAA31CB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4192273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605F50-872A-4F39-9761-6EE4FD12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50505"/>
                </a:solidFill>
              </a:defRPr>
            </a:pPr>
            <a:r>
              <a:rPr sz="2550" b="0">
                <a:solidFill>
                  <a:srgbClr val="050505"/>
                </a:solidFill>
              </a:rPr>
              <a:t>An FDE starts with ambiguity</a:t>
            </a:r>
          </a:p>
          <a:p xmlns:a="http://schemas.openxmlformats.org/drawingml/2006/main">
            <a:pPr algn="l">
              <a:defRPr sz="2550" b="0">
                <a:solidFill>
                  <a:srgbClr val="050505"/>
                </a:solidFill>
              </a:defRPr>
            </a:pPr>
            <a:r>
              <a:rPr sz="2550" b="0">
                <a:solidFill>
                  <a:srgbClr val="050505"/>
                </a:solidFill>
              </a:rPr>
              <a:t>and stays until results can be tested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4A0788-9475-433D-A77C-0680D0A6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5029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50505"/>
                </a:solidFill>
              </a:defRPr>
            </a:pPr>
            <a:r>
              <a:rPr sz="840" b="0">
                <a:solidFill>
                  <a:srgbClr val="050505"/>
                </a:solidFill>
              </a:rPr>
              <a:t>A Forward Deployed Engineer does more than write code at a customer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40" b="0">
                <a:solidFill>
                  <a:srgbClr val="050505"/>
                </a:solidFill>
              </a:defRPr>
            </a:pPr>
            <a:r>
              <a:rPr sz="840" b="0">
                <a:solidFill>
                  <a:srgbClr val="050505"/>
                </a:solidFill>
              </a:rPr>
              <a:t>The work starts by observing the business: why leadership wants AI, what employees do each day, where the data lives, and where time, errors, or slow response hurt the company.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323DEB-9A00-4E81-9089-2FAE2209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502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5887F3-7096-4FEA-AE31-41622CB6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048000"/>
            <a:ext cx="47434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050505"/>
                </a:solidFill>
              </a:defRPr>
            </a:pPr>
            <a:r>
              <a:rPr sz="810" b="1">
                <a:solidFill>
                  <a:srgbClr val="050505"/>
                </a:solidFill>
              </a:rPr>
              <a:t>Once the problem is clear, the FDE chooses how to solve it: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F060B7-EDEA-4A10-9A3D-55524B59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05225"/>
            <a:ext cx="5029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050505"/>
                </a:solidFill>
              </a:defRPr>
            </a:pPr>
            <a:r>
              <a:rPr sz="803" b="0">
                <a:solidFill>
                  <a:srgbClr val="050505"/>
                </a:solidFill>
              </a:rPr>
              <a:t>• Use an existing product when it already solves the problem.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908E75-0564-4E3B-B044-128FE15C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76725"/>
            <a:ext cx="5029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356C3A-9448-4772-BC62-86EC3F8C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5029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050505"/>
                </a:solidFill>
              </a:defRPr>
            </a:pPr>
            <a:r>
              <a:rPr sz="803" b="0">
                <a:solidFill>
                  <a:srgbClr val="050505"/>
                </a:solidFill>
              </a:rPr>
              <a:t>• Build a Skill when a Skill is enough.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19FEFF-A477-4740-B566-79ED093C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5029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2E1C4D-6BCF-44E9-81DF-C94EEF5C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43475"/>
            <a:ext cx="5029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050505"/>
                </a:solidFill>
              </a:defRPr>
            </a:pPr>
            <a:r>
              <a:rPr sz="803" b="0">
                <a:solidFill>
                  <a:srgbClr val="050505"/>
                </a:solidFill>
              </a:rPr>
              <a:t>• Integrate with existing systems when the workflow crosses tools.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415C5D-F9E4-453C-B605-A9B1F45E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14975"/>
            <a:ext cx="5029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4B4FD1-C626-4B96-98C0-299468DE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5029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050505"/>
                </a:solidFill>
              </a:defRPr>
            </a:pPr>
            <a:r>
              <a:rPr sz="803" b="0">
                <a:solidFill>
                  <a:srgbClr val="050505"/>
                </a:solidFill>
              </a:rPr>
              <a:t>• Create a database or knowledge base when the data must be organized first.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6ABC53-5086-4F28-B1C6-A0B5850E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34100"/>
            <a:ext cx="5029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A5471D-E656-42CE-BD66-063320DF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81725"/>
            <a:ext cx="5029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050505"/>
                </a:solidFill>
              </a:defRPr>
            </a:pPr>
            <a:r>
              <a:rPr sz="803" b="0">
                <a:solidFill>
                  <a:srgbClr val="050505"/>
                </a:solidFill>
              </a:rPr>
              <a:t>• Design the division of work between people and agents when the workflow is suitable.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441BBF-589F-4548-9A40-55109604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22236C-DEB8-4B70-86C0-212E4A3E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9051750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9B4E69-4442-41B1-A304-48173A26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50505"/>
                </a:solidFill>
              </a:defRPr>
            </a:pPr>
            <a:r>
              <a:rPr sz="2325" b="0">
                <a:solidFill>
                  <a:srgbClr val="050505"/>
                </a:solidFill>
              </a:rPr>
              <a:t>From one small tool</a:t>
            </a:r>
          </a:p>
          <a:p xmlns:a="http://schemas.openxmlformats.org/drawingml/2006/main">
            <a:pPr algn="l">
              <a:defRPr sz="2325" b="0">
                <a:solidFill>
                  <a:srgbClr val="050505"/>
                </a:solidFill>
              </a:defRPr>
            </a:pPr>
            <a:r>
              <a:rPr sz="2325" b="0">
                <a:solidFill>
                  <a:srgbClr val="050505"/>
                </a:solidFill>
              </a:rPr>
              <a:t>to a company-wide AI upgrade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B066CD-A010-43E6-8FFB-0C4EF2ED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43075"/>
            <a:ext cx="5029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A60644-2753-4ACF-BD95-E02AC6BC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147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7" b="1">
                <a:solidFill>
                  <a:srgbClr val="050505"/>
                </a:solidFill>
              </a:defRPr>
            </a:pPr>
            <a:r>
              <a:rPr sz="757" b="1">
                <a:solidFill>
                  <a:srgbClr val="050505"/>
                </a:solidFill>
              </a:rPr>
              <a:t>One specific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20D5C5-72CE-4DC6-BFAF-9726832F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952625"/>
            <a:ext cx="2362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050505"/>
                </a:solidFill>
              </a:defRPr>
            </a:pPr>
            <a:r>
              <a:rPr sz="668" b="0">
                <a:solidFill>
                  <a:srgbClr val="050505"/>
                </a:solidFill>
              </a:rPr>
              <a:t>• Company-specific Skills</a:t>
            </a:r>
          </a:p>
          <a:p xmlns:a="http://schemas.openxmlformats.org/drawingml/2006/main">
            <a:pPr algn="l">
              <a:defRPr sz="668" b="0">
                <a:solidFill>
                  <a:srgbClr val="050505"/>
                </a:solidFill>
              </a:defRPr>
            </a:pPr>
            <a:r>
              <a:rPr sz="668" b="0">
                <a:solidFill>
                  <a:srgbClr val="050505"/>
                </a:solidFill>
              </a:rPr>
              <a:t>• Document, spreadsheet, and image processing</a:t>
            </a:r>
          </a:p>
          <a:p xmlns:a="http://schemas.openxmlformats.org/drawingml/2006/main">
            <a:pPr algn="l">
              <a:defRPr sz="668" b="0">
                <a:solidFill>
                  <a:srgbClr val="050505"/>
                </a:solidFill>
              </a:defRPr>
            </a:pPr>
            <a:r>
              <a:rPr sz="668" b="0">
                <a:solidFill>
                  <a:srgbClr val="050505"/>
                </a:solidFill>
              </a:rPr>
              <a:t>• Quotation, entry, reconciliation, and reporting automation</a:t>
            </a:r>
          </a:p>
          <a:p xmlns:a="http://schemas.openxmlformats.org/drawingml/2006/main">
            <a:pPr algn="l">
              <a:defRPr sz="668" b="0">
                <a:solidFill>
                  <a:srgbClr val="050505"/>
                </a:solidFill>
              </a:defRPr>
            </a:pPr>
            <a:r>
              <a:rPr sz="668" b="0">
                <a:solidFill>
                  <a:srgbClr val="050505"/>
                </a:solidFill>
              </a:rPr>
              <a:t>• Small custom SaaS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DA22AA-7852-4F96-97A9-7FA44C77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52625"/>
            <a:ext cx="857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4565A"/>
                </a:solidFill>
              </a:defRPr>
            </a:pPr>
            <a:r>
              <a:rPr sz="638" b="0">
                <a:solidFill>
                  <a:srgbClr val="54565A"/>
                </a:solidFill>
              </a:rPr>
              <a:t>Best when the problem is clear and results are needed quickly.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C342BE-E83B-4A49-A5C3-3C5028D3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19425"/>
            <a:ext cx="5029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B20BA9-1A44-4148-911A-E3FA44CD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9925"/>
            <a:ext cx="147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7" b="1">
                <a:solidFill>
                  <a:srgbClr val="050505"/>
                </a:solidFill>
              </a:defRPr>
            </a:pPr>
            <a:r>
              <a:rPr sz="757" b="1">
                <a:solidFill>
                  <a:srgbClr val="050505"/>
                </a:solidFill>
              </a:rPr>
              <a:t>One business workflow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D31C13-F6F3-4863-811D-F44989B4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209925"/>
            <a:ext cx="2362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050505"/>
                </a:solidFill>
              </a:defRPr>
            </a:pPr>
            <a:r>
              <a:rPr sz="668" b="0">
                <a:solidFill>
                  <a:srgbClr val="050505"/>
                </a:solidFill>
              </a:rPr>
              <a:t>• Interviews and workflow mapping</a:t>
            </a:r>
          </a:p>
          <a:p xmlns:a="http://schemas.openxmlformats.org/drawingml/2006/main">
            <a:pPr algn="l">
              <a:defRPr sz="668" b="0">
                <a:solidFill>
                  <a:srgbClr val="050505"/>
                </a:solidFill>
              </a:defRPr>
            </a:pPr>
            <a:r>
              <a:rPr sz="668" b="0">
                <a:solidFill>
                  <a:srgbClr val="050505"/>
                </a:solidFill>
              </a:rPr>
              <a:t>• Role-specific agents</a:t>
            </a:r>
          </a:p>
          <a:p xmlns:a="http://schemas.openxmlformats.org/drawingml/2006/main">
            <a:pPr algn="l">
              <a:defRPr sz="668" b="0">
                <a:solidFill>
                  <a:srgbClr val="050505"/>
                </a:solidFill>
              </a:defRPr>
            </a:pPr>
            <a:r>
              <a:rPr sz="668" b="0">
                <a:solidFill>
                  <a:srgbClr val="050505"/>
                </a:solidFill>
              </a:rPr>
              <a:t>• ERP, CRM, collaboration, and messaging integrations</a:t>
            </a:r>
          </a:p>
          <a:p xmlns:a="http://schemas.openxmlformats.org/drawingml/2006/main">
            <a:pPr algn="l">
              <a:defRPr sz="668" b="0">
                <a:solidFill>
                  <a:srgbClr val="050505"/>
                </a:solidFill>
              </a:defRPr>
            </a:pPr>
            <a:r>
              <a:rPr sz="668" b="0">
                <a:solidFill>
                  <a:srgbClr val="050505"/>
                </a:solidFill>
              </a:rPr>
              <a:t>• Exception handling and human approval</a:t>
            </a:r>
          </a:p>
          <a:p xmlns:a="http://schemas.openxmlformats.org/drawingml/2006/main">
            <a:pPr algn="l">
              <a:defRPr sz="668" b="0">
                <a:solidFill>
                  <a:srgbClr val="050505"/>
                </a:solidFill>
              </a:defRPr>
            </a:pPr>
            <a:r>
              <a:rPr sz="668" b="0">
                <a:solidFill>
                  <a:srgbClr val="050505"/>
                </a:solidFill>
              </a:rPr>
              <a:t>• Progress, result, and activity records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4D8405-AADD-4293-8518-1581612F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09925"/>
            <a:ext cx="857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4565A"/>
                </a:solidFill>
              </a:defRPr>
            </a:pPr>
            <a:r>
              <a:rPr sz="638" b="0">
                <a:solidFill>
                  <a:srgbClr val="54565A"/>
                </a:solidFill>
              </a:rPr>
              <a:t>Best when work crosses people and systems through manual handoffs.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6C580C-0839-42E2-8AFF-8F570D55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76725"/>
            <a:ext cx="5029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43EA97-B951-46CC-85E9-A262FCC9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67225"/>
            <a:ext cx="147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7" b="1">
                <a:solidFill>
                  <a:srgbClr val="050505"/>
                </a:solidFill>
              </a:defRPr>
            </a:pPr>
            <a:r>
              <a:rPr sz="757" b="1">
                <a:solidFill>
                  <a:srgbClr val="050505"/>
                </a:solidFill>
              </a:rPr>
              <a:t>A data foundation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FB0401-293F-4582-BD40-C9F1694A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467225"/>
            <a:ext cx="2362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050505"/>
                </a:solidFill>
              </a:defRPr>
            </a:pPr>
            <a:r>
              <a:rPr sz="668" b="0">
                <a:solidFill>
                  <a:srgbClr val="050505"/>
                </a:solidFill>
              </a:rPr>
              <a:t>• Operational databases</a:t>
            </a:r>
          </a:p>
          <a:p xmlns:a="http://schemas.openxmlformats.org/drawingml/2006/main">
            <a:pPr algn="l">
              <a:defRPr sz="668" b="0">
                <a:solidFill>
                  <a:srgbClr val="050505"/>
                </a:solidFill>
              </a:defRPr>
            </a:pPr>
            <a:r>
              <a:rPr sz="668" b="0">
                <a:solidFill>
                  <a:srgbClr val="050505"/>
                </a:solidFill>
              </a:rPr>
              <a:t>• Enterprise knowledge bases</a:t>
            </a:r>
          </a:p>
          <a:p xmlns:a="http://schemas.openxmlformats.org/drawingml/2006/main">
            <a:pPr algn="l">
              <a:defRPr sz="668" b="0">
                <a:solidFill>
                  <a:srgbClr val="050505"/>
                </a:solidFill>
              </a:defRPr>
            </a:pPr>
            <a:r>
              <a:rPr sz="668" b="0">
                <a:solidFill>
                  <a:srgbClr val="050505"/>
                </a:solidFill>
              </a:rPr>
              <a:t>• Data cleanup and consistent naming</a:t>
            </a:r>
          </a:p>
          <a:p xmlns:a="http://schemas.openxmlformats.org/drawingml/2006/main">
            <a:pPr algn="l">
              <a:defRPr sz="668" b="0">
                <a:solidFill>
                  <a:srgbClr val="050505"/>
                </a:solidFill>
              </a:defRPr>
            </a:pPr>
            <a:r>
              <a:rPr sz="668" b="0">
                <a:solidFill>
                  <a:srgbClr val="050505"/>
                </a:solidFill>
              </a:rPr>
              <a:t>• Permissions and usage boundaries</a:t>
            </a:r>
          </a:p>
          <a:p xmlns:a="http://schemas.openxmlformats.org/drawingml/2006/main">
            <a:pPr algn="l">
              <a:defRPr sz="668" b="0">
                <a:solidFill>
                  <a:srgbClr val="050505"/>
                </a:solidFill>
              </a:defRPr>
            </a:pPr>
            <a:r>
              <a:rPr sz="668" b="0">
                <a:solidFill>
                  <a:srgbClr val="050505"/>
                </a:solidFill>
              </a:rPr>
              <a:t>• Trusted data for agents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F03757-3753-4BD4-8A74-E126E39E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67225"/>
            <a:ext cx="857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4565A"/>
                </a:solidFill>
              </a:defRPr>
            </a:pPr>
            <a:r>
              <a:rPr sz="638" b="0">
                <a:solidFill>
                  <a:srgbClr val="54565A"/>
                </a:solidFill>
              </a:rPr>
              <a:t>Best when information is hard to find, share, or trust.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43FF9A-CA08-4FA8-BF20-40495775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34025"/>
            <a:ext cx="5029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15DB84-A965-4140-A235-EDCDCD3F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24525"/>
            <a:ext cx="147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7" b="1">
                <a:solidFill>
                  <a:srgbClr val="050505"/>
                </a:solidFill>
              </a:defRPr>
            </a:pPr>
            <a:r>
              <a:rPr sz="757" b="1">
                <a:solidFill>
                  <a:srgbClr val="050505"/>
                </a:solidFill>
              </a:rPr>
              <a:t>A company-wide upgrade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6EE3E3-8A9E-4D09-B308-C31FF1D7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724525"/>
            <a:ext cx="2362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050505"/>
                </a:solidFill>
              </a:defRPr>
            </a:pPr>
            <a:r>
              <a:rPr sz="668" b="0">
                <a:solidFill>
                  <a:srgbClr val="050505"/>
                </a:solidFill>
              </a:rPr>
              <a:t>• Identify work suitable for AI across departments</a:t>
            </a:r>
          </a:p>
          <a:p xmlns:a="http://schemas.openxmlformats.org/drawingml/2006/main">
            <a:pPr algn="l">
              <a:defRPr sz="668" b="0">
                <a:solidFill>
                  <a:srgbClr val="050505"/>
                </a:solidFill>
              </a:defRPr>
            </a:pPr>
            <a:r>
              <a:rPr sz="668" b="0">
                <a:solidFill>
                  <a:srgbClr val="050505"/>
                </a:solidFill>
              </a:rPr>
              <a:t>• Redesign how people and agents divide the work</a:t>
            </a:r>
          </a:p>
          <a:p xmlns:a="http://schemas.openxmlformats.org/drawingml/2006/main">
            <a:pPr algn="l">
              <a:defRPr sz="668" b="0">
                <a:solidFill>
                  <a:srgbClr val="050505"/>
                </a:solidFill>
              </a:defRPr>
            </a:pPr>
            <a:r>
              <a:rPr sz="668" b="0">
                <a:solidFill>
                  <a:srgbClr val="050505"/>
                </a:solidFill>
              </a:rPr>
              <a:t>• Set permissions, approvals, and accountability</a:t>
            </a:r>
          </a:p>
          <a:p xmlns:a="http://schemas.openxmlformats.org/drawingml/2006/main">
            <a:pPr algn="l">
              <a:defRPr sz="668" b="0">
                <a:solidFill>
                  <a:srgbClr val="050505"/>
                </a:solidFill>
              </a:defRPr>
            </a:pPr>
            <a:r>
              <a:rPr sz="668" b="0">
                <a:solidFill>
                  <a:srgbClr val="050505"/>
                </a:solidFill>
              </a:rPr>
              <a:t>• Define the pilot sequence and expansion plan</a:t>
            </a:r>
          </a:p>
          <a:p xmlns:a="http://schemas.openxmlformats.org/drawingml/2006/main">
            <a:pPr algn="l">
              <a:defRPr sz="668" b="0">
                <a:solidFill>
                  <a:srgbClr val="050505"/>
                </a:solidFill>
              </a:defRPr>
            </a:pPr>
            <a:r>
              <a:rPr sz="668" b="0">
                <a:solidFill>
                  <a:srgbClr val="050505"/>
                </a:solidFill>
              </a:rPr>
              <a:t>• Train the company’s own Agent Bosses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10568C-0EFF-4796-9D68-9F909271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724525"/>
            <a:ext cx="857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4565A"/>
                </a:solidFill>
              </a:defRPr>
            </a:pPr>
            <a:r>
              <a:rPr sz="638" b="0">
                <a:solidFill>
                  <a:srgbClr val="54565A"/>
                </a:solidFill>
              </a:rPr>
              <a:t>Best when leadership wants one coordinated program.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69AAEE-7438-49DC-9971-9C91C5DC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E6F8B7-5D49-4935-8D48-2B0E398A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6841657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486606-39C8-4BCB-888D-098D0117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50505"/>
                </a:solidFill>
              </a:defRPr>
            </a:pPr>
            <a:r>
              <a:rPr sz="2250" b="0">
                <a:solidFill>
                  <a:srgbClr val="050505"/>
                </a:solidFill>
              </a:rPr>
              <a:t>Assess first.</a:t>
            </a:r>
          </a:p>
          <a:p xmlns:a="http://schemas.openxmlformats.org/drawingml/2006/main">
            <a:pPr algn="l">
              <a:defRPr sz="2250" b="0">
                <a:solidFill>
                  <a:srgbClr val="050505"/>
                </a:solidFill>
              </a:defRPr>
            </a:pPr>
            <a:r>
              <a:rPr sz="2250" b="0">
                <a:solidFill>
                  <a:srgbClr val="050505"/>
                </a:solidFill>
              </a:rPr>
              <a:t>Build only if it is worth building.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10745A-FADC-4DE1-80AD-DF4138A7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049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ACCE5D-4752-4122-B486-106E5D3C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685925"/>
            <a:ext cx="46005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050505"/>
                </a:solidFill>
              </a:defRPr>
            </a:pPr>
            <a:r>
              <a:rPr sz="803" b="0">
                <a:solidFill>
                  <a:srgbClr val="050505"/>
                </a:solidFill>
              </a:rPr>
              <a:t>Clarify why the company wants AI: save time, reduce errors, increase revenue, or change how the company works.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AA9097-3421-4CD3-89B1-1DD31FAD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600325"/>
            <a:ext cx="46005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B60A1-8DD5-4C2E-8F12-EB5ADA4A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B0EA7C-16F9-4402-87E6-92A8C4F9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647950"/>
            <a:ext cx="46005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050505"/>
                </a:solidFill>
              </a:defRPr>
            </a:pPr>
            <a:r>
              <a:rPr sz="803" b="0">
                <a:solidFill>
                  <a:srgbClr val="050505"/>
                </a:solidFill>
              </a:rPr>
              <a:t>Observe the spreadsheets, files, messages, and business systems employees really use—including exceptions outside the official process.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7771E0-A893-45E4-AE42-31204B64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562350"/>
            <a:ext cx="46005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603DB7-C626-428B-A285-01884ECC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2902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E370AC-A541-493C-834F-D55F1FFF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609975"/>
            <a:ext cx="46005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050505"/>
                </a:solidFill>
              </a:defRPr>
            </a:pPr>
            <a:r>
              <a:rPr sz="803" b="0">
                <a:solidFill>
                  <a:srgbClr val="050505"/>
                </a:solidFill>
              </a:rPr>
              <a:t>Rank opportunities by value, difficulty, data readiness, risk, and time to validation. Not every problem needs AI.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5B1346-F543-4481-919C-B113DFF3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524375"/>
            <a:ext cx="46005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FFE030-1BE7-4950-9A8C-623C60A8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9105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390D36-C243-4E7F-AE58-DB402E87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572000"/>
            <a:ext cx="46005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050505"/>
                </a:solidFill>
              </a:defRPr>
            </a:pPr>
            <a:r>
              <a:rPr sz="803" b="0">
                <a:solidFill>
                  <a:srgbClr val="050505"/>
                </a:solidFill>
              </a:rPr>
              <a:t>Choose one job. Agree on the owner, data, scope, and result metric before building a usable version.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B1387-F64E-4507-B7B3-711B85C5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486400"/>
            <a:ext cx="46005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AC4762-EF9F-4FB1-A182-9567FD85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530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7ED8F3-0479-4672-B867-5888A40D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34025"/>
            <a:ext cx="46005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050505"/>
                </a:solidFill>
              </a:defRPr>
            </a:pPr>
            <a:r>
              <a:rPr sz="803" b="0">
                <a:solidFill>
                  <a:srgbClr val="050505"/>
                </a:solidFill>
              </a:rPr>
              <a:t>After real users have tried it, decide whether to improve it, expand it, or stop.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D39031-8F67-4E27-8054-354CFDF0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0D32BA-2FF1-4DD1-93B3-63894D16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4416129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876AD1-DE3D-4A01-8805-4D65FD94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50505"/>
                </a:solidFill>
              </a:defRPr>
            </a:pPr>
            <a:r>
              <a:rPr sz="2325" b="0">
                <a:solidFill>
                  <a:srgbClr val="050505"/>
                </a:solidFill>
              </a:rPr>
              <a:t>Not a demo.</a:t>
            </a:r>
          </a:p>
          <a:p xmlns:a="http://schemas.openxmlformats.org/drawingml/2006/main">
            <a:pPr algn="l">
              <a:defRPr sz="2325" b="0">
                <a:solidFill>
                  <a:srgbClr val="050505"/>
                </a:solidFill>
              </a:defRPr>
            </a:pPr>
            <a:r>
              <a:rPr sz="2325" b="0">
                <a:solidFill>
                  <a:srgbClr val="050505"/>
                </a:solidFill>
              </a:rPr>
              <a:t>A working test with evidence.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2C1BDF-4628-4D71-929B-39FBD9C7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5029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8" b="0">
                <a:solidFill>
                  <a:srgbClr val="050505"/>
                </a:solidFill>
              </a:defRPr>
            </a:pPr>
            <a:r>
              <a:rPr sz="818" b="0">
                <a:solidFill>
                  <a:srgbClr val="050505"/>
                </a:solidFill>
              </a:rPr>
              <a:t>Depending on the agreed scope, a pilot may include: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95DDB8-6606-4736-9F54-635B5BC3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2400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50505"/>
                </a:solidFill>
              </a:defRPr>
            </a:pPr>
            <a:r>
              <a:rPr sz="750" b="1">
                <a:solidFill>
                  <a:srgbClr val="050505"/>
                </a:solidFill>
              </a:rPr>
              <a:t>• A map of the current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C01550-5399-4857-9E0F-70720CC2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2400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2AF5AA-D848-4966-9B14-D19CD5D6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047875"/>
            <a:ext cx="2400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50505"/>
                </a:solidFill>
              </a:defRPr>
            </a:pPr>
            <a:r>
              <a:rPr sz="750" b="1">
                <a:solidFill>
                  <a:srgbClr val="050505"/>
                </a:solidFill>
              </a:rPr>
              <a:t>• The problem and pilot boundary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86C77-BDA9-4E7F-A740-76C659EC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514600"/>
            <a:ext cx="2400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D39264-D1EF-4BD5-9372-F8E1F619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2400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50505"/>
                </a:solidFill>
              </a:defRPr>
            </a:pPr>
            <a:r>
              <a:rPr sz="750" b="1">
                <a:solidFill>
                  <a:srgbClr val="050505"/>
                </a:solidFill>
              </a:rPr>
              <a:t>• A working prototype or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B6AF54-AD47-4851-A47D-083D1229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52775"/>
            <a:ext cx="2400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FEE92A-C33B-4FAC-B3CD-50E9015E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686050"/>
            <a:ext cx="2400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50505"/>
                </a:solidFill>
              </a:defRPr>
            </a:pPr>
            <a:r>
              <a:rPr sz="750" b="1">
                <a:solidFill>
                  <a:srgbClr val="050505"/>
                </a:solidFill>
              </a:rPr>
              <a:t>• The data and permissions used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EAFD8D-975E-4D46-94F7-237504AC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152775"/>
            <a:ext cx="2400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7AD7B1-85E6-4369-8775-BE9C99AF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24225"/>
            <a:ext cx="2400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50505"/>
                </a:solidFill>
              </a:defRPr>
            </a:pPr>
            <a:r>
              <a:rPr sz="750" b="1">
                <a:solidFill>
                  <a:srgbClr val="050505"/>
                </a:solidFill>
              </a:rPr>
              <a:t>• Responsibilities for people and agents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73F5EB-58CD-4AE5-B2D0-C611C68A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90950"/>
            <a:ext cx="2400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93CAB0-44B3-4D8D-8C31-D755C8D3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324225"/>
            <a:ext cx="2400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50505"/>
                </a:solidFill>
              </a:defRPr>
            </a:pPr>
            <a:r>
              <a:rPr sz="750" b="1">
                <a:solidFill>
                  <a:srgbClr val="050505"/>
                </a:solidFill>
              </a:rPr>
              <a:t>• Human approval points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CBE952-37FC-456F-B9E1-A5D3D37D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90950"/>
            <a:ext cx="2400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CFA440-2FF3-47B4-B4CB-074E3AD6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62400"/>
            <a:ext cx="2400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50505"/>
                </a:solidFill>
              </a:defRPr>
            </a:pPr>
            <a:r>
              <a:rPr sz="750" b="1">
                <a:solidFill>
                  <a:srgbClr val="050505"/>
                </a:solidFill>
              </a:rPr>
              <a:t>• A before-and-after comparison method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9EC6F4-502B-4AFB-BA92-28B22A25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29125"/>
            <a:ext cx="2400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C6D858-0748-4007-B18D-D5E4E3B7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962400"/>
            <a:ext cx="2400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50505"/>
                </a:solidFill>
              </a:defRPr>
            </a:pPr>
            <a:r>
              <a:rPr sz="750" b="1">
                <a:solidFill>
                  <a:srgbClr val="050505"/>
                </a:solidFill>
              </a:rPr>
              <a:t>• A recommendation to continue, adjust, or stop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247072-E461-418C-AB73-54A47C69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429125"/>
            <a:ext cx="2400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385B40-C36A-478D-9049-8B195843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24425"/>
            <a:ext cx="5029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ED98E4-6C77-4D11-AA58-7AF6A27C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24450"/>
            <a:ext cx="472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50505"/>
                </a:solidFill>
              </a:defRPr>
            </a:pPr>
            <a:r>
              <a:rPr sz="705" b="1">
                <a:solidFill>
                  <a:srgbClr val="050505"/>
                </a:solidFill>
              </a:rPr>
              <a:t>BEFORE WORK BEGINS, WE AGREE 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73689F-1D68-46A7-B40E-A15E06CE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0"/>
            <a:ext cx="2219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1">
                <a:solidFill>
                  <a:srgbClr val="050505"/>
                </a:solidFill>
              </a:defRPr>
            </a:pPr>
            <a:r>
              <a:rPr sz="728" b="1">
                <a:solidFill>
                  <a:srgbClr val="050505"/>
                </a:solidFill>
              </a:rPr>
              <a:t>• Who owns the outcome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4ED473-D280-44D2-AF5D-DF741D8D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524500"/>
            <a:ext cx="2219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1">
                <a:solidFill>
                  <a:srgbClr val="050505"/>
                </a:solidFill>
              </a:defRPr>
            </a:pPr>
            <a:r>
              <a:rPr sz="728" b="1">
                <a:solidFill>
                  <a:srgbClr val="050505"/>
                </a:solidFill>
              </a:rPr>
              <a:t>• What completion means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1D2C92-8E68-4059-8133-5EDCBB45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53125"/>
            <a:ext cx="2219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1">
                <a:solidFill>
                  <a:srgbClr val="050505"/>
                </a:solidFill>
              </a:defRPr>
            </a:pPr>
            <a:r>
              <a:rPr sz="728" b="1">
                <a:solidFill>
                  <a:srgbClr val="050505"/>
                </a:solidFill>
              </a:rPr>
              <a:t>• What is outside this pilot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608612-12F4-40ED-B221-1B205BC9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953125"/>
            <a:ext cx="2219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1">
                <a:solidFill>
                  <a:srgbClr val="050505"/>
                </a:solidFill>
              </a:defRPr>
            </a:pPr>
            <a:r>
              <a:rPr sz="728" b="1">
                <a:solidFill>
                  <a:srgbClr val="050505"/>
                </a:solidFill>
              </a:rPr>
              <a:t>• How the result will be judged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D320A6-035C-4014-9BA1-2F8FC642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DBE72F-F89C-4659-9A7B-863E27C2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8389713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FECDEB-C000-4D66-AEFC-7EA88BDD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50505"/>
                </a:solidFill>
              </a:defRPr>
            </a:pPr>
            <a:r>
              <a:rPr sz="2325" b="0">
                <a:solidFill>
                  <a:srgbClr val="050505"/>
                </a:solidFill>
              </a:rPr>
              <a:t>Show what changed in the business,</a:t>
            </a:r>
          </a:p>
          <a:p xmlns:a="http://schemas.openxmlformats.org/drawingml/2006/main">
            <a:pPr algn="l">
              <a:defRPr sz="2325" b="0">
                <a:solidFill>
                  <a:srgbClr val="050505"/>
                </a:solidFill>
              </a:defRPr>
            </a:pPr>
            <a:r>
              <a:rPr sz="2325" b="0">
                <a:solidFill>
                  <a:srgbClr val="050505"/>
                </a:solidFill>
              </a:rPr>
              <a:t>not only what the system looks like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310C4C-64E9-41E1-BCFB-1EA882CB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95425"/>
            <a:ext cx="502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C5DD00-A78F-4FFE-8164-6304986D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9725"/>
            <a:ext cx="4800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050505"/>
                </a:solidFill>
              </a:defRPr>
            </a:pPr>
            <a:r>
              <a:rPr sz="615" b="1">
                <a:solidFill>
                  <a:srgbClr val="050505"/>
                </a:solidFill>
              </a:rPr>
              <a:t>Case details are pending customer confirmation. No company name, logo, or performance figure will be used without permission and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17837C-3343-4B95-A0BE-5A361D5F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502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50505"/>
                </a:solidFill>
              </a:defRPr>
            </a:pPr>
            <a:r>
              <a:rPr sz="705" b="1">
                <a:solidFill>
                  <a:srgbClr val="050505"/>
                </a:solidFill>
              </a:rPr>
              <a:t>COMPANIES WE HAVE SERVED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6E997E-90EA-49F6-B3CD-8EB34E6E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11239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2"/>
          </a:solidFill>
          <a:ln xmlns:a="http://schemas.openxmlformats.org/drawingml/2006/main" w="7620">
            <a:solidFill>
              <a:srgbClr val="AEB0B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AD4751-4E76-43F5-A778-50761C9B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1123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585" b="0">
                <a:solidFill>
                  <a:srgbClr val="54565A"/>
                </a:solidFill>
              </a:defRPr>
            </a:pPr>
            <a:r>
              <a:rPr sz="585" b="0">
                <a:solidFill>
                  <a:srgbClr val="54565A"/>
                </a:solidFill>
              </a:rPr>
              <a:t>[Client logo 1]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01BD53-BA7F-4427-8F0A-96373452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400300"/>
            <a:ext cx="11239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2"/>
          </a:solidFill>
          <a:ln xmlns:a="http://schemas.openxmlformats.org/drawingml/2006/main" w="7620">
            <a:solidFill>
              <a:srgbClr val="AEB0B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F683B5-4C09-4D99-84D9-7F9BCEBF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514600"/>
            <a:ext cx="1123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585" b="0">
                <a:solidFill>
                  <a:srgbClr val="54565A"/>
                </a:solidFill>
              </a:defRPr>
            </a:pPr>
            <a:r>
              <a:rPr sz="585" b="0">
                <a:solidFill>
                  <a:srgbClr val="54565A"/>
                </a:solidFill>
              </a:rPr>
              <a:t>[Client logo 2]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1015BD-5925-4A62-B123-FA63FD31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00300"/>
            <a:ext cx="11239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2"/>
          </a:solidFill>
          <a:ln xmlns:a="http://schemas.openxmlformats.org/drawingml/2006/main" w="7620">
            <a:solidFill>
              <a:srgbClr val="AEB0B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D662B6-9858-4836-84EE-35158A0B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14600"/>
            <a:ext cx="1123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585" b="0">
                <a:solidFill>
                  <a:srgbClr val="54565A"/>
                </a:solidFill>
              </a:defRPr>
            </a:pPr>
            <a:r>
              <a:rPr sz="585" b="0">
                <a:solidFill>
                  <a:srgbClr val="54565A"/>
                </a:solidFill>
              </a:rPr>
              <a:t>[Client logo 3]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83276A-B630-4DE7-8B65-21EC2B7C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400300"/>
            <a:ext cx="11239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2"/>
          </a:solidFill>
          <a:ln xmlns:a="http://schemas.openxmlformats.org/drawingml/2006/main" w="7620">
            <a:solidFill>
              <a:srgbClr val="AEB0B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EA43EA-17F9-4D3D-8A6C-40CB1BB6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514600"/>
            <a:ext cx="1123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585" b="0">
                <a:solidFill>
                  <a:srgbClr val="54565A"/>
                </a:solidFill>
              </a:defRPr>
            </a:pPr>
            <a:r>
              <a:rPr sz="585" b="0">
                <a:solidFill>
                  <a:srgbClr val="54565A"/>
                </a:solidFill>
              </a:rPr>
              <a:t>[Client logo 4]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FB06CC-0599-4AEC-B6A2-E3E4B3C1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1714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050505"/>
                </a:solidFill>
              </a:defRPr>
            </a:pPr>
            <a:r>
              <a:rPr sz="607" b="1">
                <a:solidFill>
                  <a:srgbClr val="050505"/>
                </a:solidFill>
              </a:rPr>
              <a:t>One line under each logo: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DCBE37-D8E0-406F-9F15-0D75645D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914650"/>
            <a:ext cx="3219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050505"/>
                </a:solidFill>
              </a:defRPr>
            </a:pPr>
            <a:r>
              <a:rPr sz="607" b="0">
                <a:solidFill>
                  <a:srgbClr val="050505"/>
                </a:solidFill>
              </a:rPr>
              <a:t>[Company or industry] | We helped the team [one-sentence description of the actual service].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5DAF5C-500F-45EA-B3F2-09EEA953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502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8" b="0">
                <a:solidFill>
                  <a:srgbClr val="54565A"/>
                </a:solidFill>
              </a:defRPr>
            </a:pPr>
            <a:r>
              <a:rPr sz="578" b="0">
                <a:solidFill>
                  <a:srgbClr val="54565A"/>
                </a:solidFill>
              </a:rPr>
              <a:t>Include a logo only when the service was actually delivered, the client has approved public use of its name and logo, and the work can be verified. A sales conversation, proposal, or public vendor case study is not a client engagement.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A23C61-FFE4-4743-9BD6-ECB3F739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502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50505"/>
                </a:solidFill>
              </a:defRPr>
            </a:pPr>
            <a:r>
              <a:rPr sz="705" b="1">
                <a:solidFill>
                  <a:srgbClr val="050505"/>
                </a:solidFill>
              </a:rPr>
              <a:t>CASE STUDY 1 | [Factory type / business function]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CE9D2A-4D29-49EC-8762-CB2FAC70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3385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50505"/>
                </a:solidFill>
              </a:defRPr>
            </a:pPr>
            <a:r>
              <a:rPr sz="705" b="1">
                <a:solidFill>
                  <a:srgbClr val="050505"/>
                </a:solidFill>
              </a:rPr>
              <a:t>Before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E602FF-A8ED-4843-8286-0E9D5654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71975"/>
            <a:ext cx="2400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[Role] used [chat / spreadsheets / PDFs / ERP / email] to complete [specific task]. It happened [frequency], required [people or time], and often caused [specific issue].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C471ED-FC04-4C17-8F0C-DA33F415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53025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50505"/>
                </a:solidFill>
              </a:defRPr>
            </a:pPr>
            <a:r>
              <a:rPr sz="705" b="1">
                <a:solidFill>
                  <a:srgbClr val="050505"/>
                </a:solidFill>
              </a:rPr>
              <a:t>What we found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AC8427-504B-4D76-8C8C-1A117CCB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2400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The initial request was [customer’s original request]. After observing the workflow, the problem affecting the business was [confirmed problem].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387A3E-8BEE-413D-B9E7-8E48AA60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3385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50505"/>
                </a:solidFill>
              </a:defRPr>
            </a:pPr>
            <a:r>
              <a:rPr sz="705" b="1">
                <a:solidFill>
                  <a:srgbClr val="050505"/>
                </a:solidFill>
              </a:rPr>
              <a:t>What we delivered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98D973-5F94-486F-939A-1953A677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371975"/>
            <a:ext cx="2400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[Skill / custom SaaS / automation / database / agent workflow], connected to [existing systems or data].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6374D2-AADB-4AFB-B868-2B8CBB02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04825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50505"/>
                </a:solidFill>
              </a:defRPr>
            </a:pPr>
            <a:r>
              <a:rPr sz="705" b="1">
                <a:solidFill>
                  <a:srgbClr val="050505"/>
                </a:solidFill>
              </a:rPr>
              <a:t>What changed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E90B32-0978-422E-9AA0-D626D8E0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286375"/>
            <a:ext cx="2400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• Processing time: [before] → [after]</a:t>
            </a:r>
          </a:p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• Manual steps: [before] → [after]</a:t>
            </a:r>
          </a:p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• Errors or rework: [before] → [after]</a:t>
            </a:r>
          </a:p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• Business result: [customer-confirmed result]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B70BC6-8237-4A6A-9494-C28E278C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9825"/>
            <a:ext cx="5029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A1CFBB-DF9F-4B53-9BBE-0ECA0E41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50505"/>
                </a:solidFill>
              </a:defRPr>
            </a:pPr>
            <a:r>
              <a:rPr sz="705" b="1">
                <a:solidFill>
                  <a:srgbClr val="050505"/>
                </a:solidFill>
              </a:rPr>
              <a:t>CASE STUDY 2 | [Factory type / business function]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3F9A08-27E2-4DA8-B3CE-3D549C73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6372225"/>
            <a:ext cx="2705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Use the same structure. A useful set would include one small tool, one end-to-end workflow, and one database or company-wide transformation.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E5E1A0-9C8F-4EDD-B081-EDC85588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D540F0-98E3-49B0-A757-ADE507CE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5165480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F0AD42-155F-4DDF-B2EA-E280E3D7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50505"/>
                </a:solidFill>
              </a:defRPr>
            </a:pPr>
            <a:r>
              <a:rPr sz="2250" b="0">
                <a:solidFill>
                  <a:srgbClr val="050505"/>
                </a:solidFill>
              </a:rPr>
              <a:t>A working agent still needs</a:t>
            </a:r>
          </a:p>
          <a:p xmlns:a="http://schemas.openxmlformats.org/drawingml/2006/main">
            <a:pPr algn="l">
              <a:defRPr sz="2250" b="0">
                <a:solidFill>
                  <a:srgbClr val="050505"/>
                </a:solidFill>
              </a:defRPr>
            </a:pPr>
            <a:r>
              <a:rPr sz="2250" b="0">
                <a:solidFill>
                  <a:srgbClr val="050505"/>
                </a:solidFill>
              </a:rPr>
              <a:t>someone who knows how to lead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671B72-DF49-45B4-B5B2-7939AECE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2143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050505"/>
                </a:solidFill>
              </a:defRPr>
            </a:pPr>
            <a:r>
              <a:rPr sz="803" b="0">
                <a:solidFill>
                  <a:srgbClr val="050505"/>
                </a:solidFill>
              </a:rPr>
              <a:t>FDE delivery builds the company’s AI upgrade.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03" b="0">
                <a:solidFill>
                  <a:srgbClr val="050505"/>
                </a:solidFill>
              </a:defRPr>
            </a:pPr>
            <a:r>
              <a:rPr sz="803" b="0">
                <a:solidFill>
                  <a:srgbClr val="050505"/>
                </a:solidFill>
              </a:rPr>
              <a:t>After launch, managers and employees need to know how to: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42F8A4-E9E2-4791-B744-2D860DEA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50505"/>
                </a:solidFill>
              </a:defRPr>
            </a:pPr>
            <a:r>
              <a:rPr sz="690" b="0">
                <a:solidFill>
                  <a:srgbClr val="050505"/>
                </a:solidFill>
              </a:rPr>
              <a:t>• Give agents clear goals and completion criteria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23A2D2-44FE-4BDA-915C-41DF4E65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057400"/>
            <a:ext cx="24193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3A6424-93FC-4BCB-81BE-8CC05D4A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05025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50505"/>
                </a:solidFill>
              </a:defRPr>
            </a:pPr>
            <a:r>
              <a:rPr sz="690" b="0">
                <a:solidFill>
                  <a:srgbClr val="050505"/>
                </a:solidFill>
              </a:rPr>
              <a:t>• Decide which work can be delegated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F325D8-0C3D-4747-AA63-72B469A9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00325"/>
            <a:ext cx="24193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A2FEC6-F9EB-428D-8B48-2EB9CBD9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47950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50505"/>
                </a:solidFill>
              </a:defRPr>
            </a:pPr>
            <a:r>
              <a:rPr sz="690" b="0">
                <a:solidFill>
                  <a:srgbClr val="050505"/>
                </a:solidFill>
              </a:rPr>
              <a:t>• Review the process and the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20A0AE-863C-4BC0-8696-049A8F16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43250"/>
            <a:ext cx="24193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30CE38-F349-448F-BD4C-D17488D7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90875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50505"/>
                </a:solidFill>
              </a:defRPr>
            </a:pPr>
            <a:r>
              <a:rPr sz="690" b="0">
                <a:solidFill>
                  <a:srgbClr val="050505"/>
                </a:solidFill>
              </a:rPr>
              <a:t>• Handle exceptions, request changes, or stop a task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3EB281-E0B2-4B03-892D-CED87C93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86175"/>
            <a:ext cx="24193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42AA32-7485-436C-AE05-82543E44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33800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50505"/>
                </a:solidFill>
              </a:defRPr>
            </a:pPr>
            <a:r>
              <a:rPr sz="690" b="0">
                <a:solidFill>
                  <a:srgbClr val="050505"/>
                </a:solidFill>
              </a:rPr>
              <a:t>• Manage data, tools, and permissions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6D79D4-9A11-4796-B4B4-41BFE168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229100"/>
            <a:ext cx="24193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D49C35-4156-4211-9562-1F764A9A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276725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50505"/>
                </a:solidFill>
              </a:defRPr>
            </a:pPr>
            <a:r>
              <a:rPr sz="690" b="0">
                <a:solidFill>
                  <a:srgbClr val="050505"/>
                </a:solidFill>
              </a:rPr>
              <a:t>• Turn good practices into shared Skills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8700CF-6837-4FD9-AC8A-DD54AEB1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72025"/>
            <a:ext cx="24193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D4C048-45F5-449D-B954-EB14A486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819650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50505"/>
                </a:solidFill>
              </a:defRPr>
            </a:pPr>
            <a:r>
              <a:rPr sz="690" b="0">
                <a:solidFill>
                  <a:srgbClr val="050505"/>
                </a:solidFill>
              </a:rPr>
              <a:t>• Remain accountable for the business outcome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4CDACF-3762-4FB3-A354-E4BDEC67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60" b="1">
                <a:solidFill>
                  <a:srgbClr val="050505"/>
                </a:solidFill>
              </a:defRPr>
            </a:pPr>
            <a:r>
              <a:rPr sz="960" b="1">
                <a:solidFill>
                  <a:srgbClr val="050505"/>
                </a:solidFill>
              </a:rPr>
              <a:t>We call this training Agent Boss.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D9E531-F479-4A45-B3F3-FA0A9310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214312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050505"/>
                </a:solidFill>
              </a:defRPr>
            </a:pPr>
            <a:r>
              <a:rPr sz="780" b="0">
                <a:solidFill>
                  <a:srgbClr val="050505"/>
                </a:solidFill>
              </a:rPr>
              <a:t>It is not a prompt-writing class or a tour of AI tools. It teaches people how to lead work carried out by both humans and agents.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1C9B10-81FE-46B1-92D9-2002698C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5029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7718C6-15F4-4FFC-AFDA-2EFB29AC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50505"/>
                </a:solidFill>
              </a:defRPr>
            </a:pPr>
            <a:r>
              <a:rPr sz="788" b="1">
                <a:solidFill>
                  <a:srgbClr val="050505"/>
                </a:solidFill>
              </a:rPr>
              <a:t>FDE: build and launch the system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2FFEAD-36BE-44B1-B096-5DE6D288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9817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050505"/>
                </a:solidFill>
              </a:defRPr>
            </a:pPr>
            <a:r>
              <a:rPr sz="765" b="1">
                <a:solidFill>
                  <a:srgbClr val="050505"/>
                </a:solidFill>
              </a:rPr>
              <a:t>Agent Boss: help the team take ownership and keep improving 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A4C933-053A-4242-BAA0-2B5BA2C3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10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DB979A-D8A7-4132-8E1D-B22D4AF5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4900854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D9FE68-18A8-4B76-8C69-CC040780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50505"/>
                </a:solidFill>
              </a:defRPr>
            </a:pPr>
            <a:r>
              <a:rPr sz="3150" b="0">
                <a:solidFill>
                  <a:srgbClr val="050505"/>
                </a:solidFill>
              </a:rPr>
              <a:t>Find the right first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22C6F7-A68E-4816-8D49-66472BDE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502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50505"/>
                </a:solidFill>
              </a:defRPr>
            </a:pPr>
            <a:r>
              <a:rPr sz="840" b="0">
                <a:solidFill>
                  <a:srgbClr val="050505"/>
                </a:solidFill>
              </a:rPr>
              <a:t>During the event, we are offering a complimentary enterprise AI assessment.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15ED78-80C4-4252-B67C-AF0B6DB0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2362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50505"/>
                </a:solidFill>
              </a:defRPr>
            </a:pPr>
            <a:r>
              <a:rPr sz="705" b="1">
                <a:solidFill>
                  <a:srgbClr val="050505"/>
                </a:solidFill>
              </a:rPr>
              <a:t>YOU WILL RECEIVE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1CD2DF-134D-46F6-B4DE-701E795A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90775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One to three areas worth examining first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595747-7B05-4FF6-ABE4-508A1A57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38475"/>
            <a:ext cx="2362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B03477-1882-4019-B93B-CFF0D81BA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86100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An initial judgment on whether AI fits the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983A4D-21C1-41EE-AC66-A7535065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33800"/>
            <a:ext cx="2362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000397-757B-4B12-B375-60F9ED5B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81425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The data, systems, and people required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CAA291-1CBA-4F91-AAB7-457D22CC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29125"/>
            <a:ext cx="2362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A936D5-22C3-4BBC-8888-E2AC67CC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A recommendation: buy software, build a Skill, create custom SaaS, organize data, or redesign the workflow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3DB7DC-77ED-47FF-8C71-3F3627AE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2362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D74513-5628-47A1-94AD-EEF39CCB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72075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An honest view on whether a pilot is worthwhile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8BC409-338C-4ECE-A0A3-28181308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38350"/>
            <a:ext cx="2362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50505"/>
                </a:solidFill>
              </a:defRPr>
            </a:pPr>
            <a:r>
              <a:rPr sz="705" b="1">
                <a:solidFill>
                  <a:srgbClr val="050505"/>
                </a:solidFill>
              </a:rPr>
              <a:t>WE MAY ALSO TELL YOU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16E9CC-C1F4-4734-99A3-F29D0E92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390775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The problem does not need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B5143E-25C4-472B-9AE9-9AF9FCE3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38475"/>
            <a:ext cx="2362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93F65E-5840-459C-BF84-54D2DD6C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86100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The data is not ready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3B660A-A7E8-48BA-ACEA-4161934E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733800"/>
            <a:ext cx="2362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7B2CC0-EE95-467E-8798-D4DEB6FB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781425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Fix the workflow before building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4E3CA1-79A3-4012-9CA3-F36D72E3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29125"/>
            <a:ext cx="2362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5F938B-BCCA-4B48-9705-DA1F2474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76750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An existing product is better value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0BDE08-753D-45B3-BFB9-C0C8B435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438775"/>
            <a:ext cx="23622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17391C-A27C-4CCF-9D7E-07C34F26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648325"/>
            <a:ext cx="2076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50505"/>
                </a:solidFill>
              </a:defRPr>
            </a:pPr>
            <a:r>
              <a:rPr sz="705" b="1">
                <a:solidFill>
                  <a:srgbClr val="050505"/>
                </a:solidFill>
              </a:rPr>
              <a:t>The assessment does not include a complete plan and does not require access to unauthorized sensitive data.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71471A-EAEC-4A4C-8591-0AC4B4E3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11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AA7C44-F2D3-4E82-BF64-7B7EC0CF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3686360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D9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8C0F9C-8EC9-48E4-AF9A-B18040F4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050505"/>
                </a:solidFill>
              </a:defRPr>
            </a:pPr>
            <a:r>
              <a:rPr sz="3300" b="0">
                <a:solidFill>
                  <a:srgbClr val="050505"/>
                </a:solidFill>
              </a:rPr>
              <a:t>Which part of your business</a:t>
            </a:r>
          </a:p>
          <a:p xmlns:a="http://schemas.openxmlformats.org/drawingml/2006/main">
            <a:pPr algn="l">
              <a:defRPr sz="3300" b="0">
                <a:solidFill>
                  <a:srgbClr val="050505"/>
                </a:solidFill>
              </a:defRPr>
            </a:pPr>
            <a:r>
              <a:rPr sz="3300" b="0">
                <a:solidFill>
                  <a:srgbClr val="050505"/>
                </a:solidFill>
              </a:rPr>
              <a:t>should AI improve first?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8E0339-3AE9-44D0-86EC-7AB1A714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5CFF"/>
                </a:solidFill>
              </a:defRPr>
            </a:pPr>
            <a:r>
              <a:rPr sz="1050" b="1">
                <a:solidFill>
                  <a:srgbClr val="135CFF"/>
                </a:solidFill>
              </a:rPr>
              <a:t>10 companies per day</a:t>
            </a:r>
          </a:p>
          <a:p xmlns:a="http://schemas.openxmlformats.org/drawingml/2006/main">
            <a:pPr algn="l">
              <a:defRPr sz="1050" b="1">
                <a:solidFill>
                  <a:srgbClr val="135CFF"/>
                </a:solidFill>
              </a:defRPr>
            </a:pPr>
            <a:r>
              <a:rPr sz="1050" b="1">
                <a:solidFill>
                  <a:srgbClr val="135CFF"/>
                </a:solidFill>
              </a:rPr>
              <a:t>20 over the two-day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CF61A2-F15E-40F6-9007-7D5FE6A6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952625"/>
            <a:ext cx="1362075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05050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8EE8AF-2891-4D6B-A13B-5A04CF26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552700"/>
            <a:ext cx="1362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4565A"/>
                </a:solidFill>
              </a:defRPr>
            </a:pPr>
            <a:r>
              <a:rPr sz="675" b="0">
                <a:solidFill>
                  <a:srgbClr val="54565A"/>
                </a:solidFill>
              </a:rPr>
              <a:t>QR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68F17E-1F9D-4A30-BA30-341B8597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337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50505"/>
                </a:solidFill>
              </a:defRPr>
            </a:pPr>
            <a:r>
              <a:rPr sz="705" b="1">
                <a:solidFill>
                  <a:srgbClr val="050505"/>
                </a:solidFill>
              </a:rPr>
              <a:t>SCAN AND TELL US: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B9B3FC-5F2A-4A54-A82B-7BF518F3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052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B579D6-8AFC-41D6-9F6E-74945315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48615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50505"/>
                </a:solidFill>
              </a:defRPr>
            </a:pPr>
            <a:r>
              <a:rPr sz="750" b="0">
                <a:solidFill>
                  <a:srgbClr val="050505"/>
                </a:solidFill>
              </a:rPr>
              <a:t>Your company and industry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99B08B-78F8-48CD-9A22-690DF3F9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943350"/>
            <a:ext cx="2714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539547-9E1F-4647-882D-0C80D468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1002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8B37EA-64B4-44DD-B6A1-F0274FF2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990975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50505"/>
                </a:solidFill>
              </a:defRPr>
            </a:pPr>
            <a:r>
              <a:rPr sz="750" b="0">
                <a:solidFill>
                  <a:srgbClr val="050505"/>
                </a:solidFill>
              </a:rPr>
              <a:t>The one area you most want to improve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671CE0-A829-4E86-BB05-19BABEFB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448175"/>
            <a:ext cx="2714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23D7E3-B83D-4DF1-81D8-23E9327F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E6F0D3-937A-418B-B605-FA436835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49580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50505"/>
                </a:solidFill>
              </a:defRPr>
            </a:pPr>
            <a:r>
              <a:rPr sz="750" b="0">
                <a:solidFill>
                  <a:srgbClr val="050505"/>
                </a:solidFill>
              </a:rPr>
              <a:t>How the work is done today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7182D0-292D-487E-A342-20D54F98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953000"/>
            <a:ext cx="2714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FF47CD-0432-471D-BAE5-2F983D1D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96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8BE345-7C59-4A04-97DF-EA6DDD9C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000625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50505"/>
                </a:solidFill>
              </a:defRPr>
            </a:pPr>
            <a:r>
              <a:rPr sz="750" b="0">
                <a:solidFill>
                  <a:srgbClr val="050505"/>
                </a:solidFill>
              </a:rPr>
              <a:t>Who owns that part of the business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1AF042-0810-42B6-8C2E-A37B1F13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457825"/>
            <a:ext cx="2714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ED2CFF-6DA4-4A23-BA4A-1B2ECD96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A4D19D-B700-40C8-8A08-50436C3F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0545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50505"/>
                </a:solidFill>
              </a:defRPr>
            </a:pPr>
            <a:r>
              <a:rPr sz="750" b="0">
                <a:solidFill>
                  <a:srgbClr val="050505"/>
                </a:solidFill>
              </a:rPr>
              <a:t>Your contact details and preferred 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741E50-30A1-46AB-9E00-CB96C0EC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050505"/>
                </a:solidFill>
              </a:defRPr>
            </a:pPr>
            <a:r>
              <a:rPr sz="840" b="1">
                <a:solidFill>
                  <a:srgbClr val="050505"/>
                </a:solidFill>
              </a:rPr>
              <a:t>SCAN TO RESERVE · AVAILABLE UNTIL FULL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4E9072-F42B-4331-B4C3-78E508BF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610552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60" b="0">
                <a:solidFill>
                  <a:srgbClr val="050505"/>
                </a:solidFill>
              </a:defRPr>
            </a:pPr>
            <a:r>
              <a:rPr sz="660" b="0">
                <a:solidFill>
                  <a:srgbClr val="050505"/>
                </a:solidFill>
              </a:rPr>
              <a:t>[Brand name]</a:t>
            </a:r>
          </a:p>
          <a:p xmlns:a="http://schemas.openxmlformats.org/drawingml/2006/main">
            <a:pPr algn="r">
              <a:defRPr sz="660" b="0">
                <a:solidFill>
                  <a:srgbClr val="050505"/>
                </a:solidFill>
              </a:defRPr>
            </a:pPr>
            <a:r>
              <a:rPr sz="660" b="0">
                <a:solidFill>
                  <a:srgbClr val="050505"/>
                </a:solidFill>
              </a:rPr>
              <a:t>[Name / phone / WeChat / website]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88B18D-5926-42AB-A3EC-91A88FEC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705600"/>
            <a:ext cx="5029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9B6B7F-F8F6-44F8-9F3C-6A31F8C7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67525"/>
            <a:ext cx="502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0" b="1">
                <a:solidFill>
                  <a:srgbClr val="050505"/>
                </a:solidFill>
              </a:defRPr>
            </a:pPr>
            <a:r>
              <a:rPr sz="870" b="1">
                <a:solidFill>
                  <a:srgbClr val="050505"/>
                </a:solidFill>
              </a:rPr>
              <a:t>Start with one problem you can understand, complete, and measure.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A05BDE-7179-4FB8-8BC7-860E414E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F65E6D-3024-4CB7-8DFF-7E7737F8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5448039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2026-08-24T06:27:20.5470000Z</dcterms:created>
  <dcterms:modified xsi:type="dcterms:W3CDTF">2026-08-24T06:27:20.5470000Z</dcterms:modified>
</coreProperties>
</file>