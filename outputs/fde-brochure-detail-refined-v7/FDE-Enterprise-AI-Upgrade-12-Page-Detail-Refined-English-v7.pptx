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2bfe29fd024252" /><Relationship Type="http://schemas.openxmlformats.org/officeDocument/2006/relationships/extended-properties" Target="/docProps/app.xml" Id="R74534f09b9034878" /><Relationship Type="http://schemas.openxmlformats.org/officeDocument/2006/relationships/officeDocument" Target="/ppt/presentation.xml" Id="Rd113c5df57c546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88825d880d4972"/>
  </p:sldMasterIdLst>
  <p:notesMasterIdLst>
    <p:notesMasterId xmlns:r="http://schemas.openxmlformats.org/officeDocument/2006/relationships" r:id="R719026d608584bb7"/>
  </p:notesMasterIdLst>
  <p:sldIdLst>
    <p:sldId xmlns:r="http://schemas.openxmlformats.org/officeDocument/2006/relationships" id="256" r:id="Rbbdb2b87c9c14993"/>
    <p:sldId xmlns:r="http://schemas.openxmlformats.org/officeDocument/2006/relationships" id="257" r:id="R295fd27df2664c5b"/>
    <p:sldId xmlns:r="http://schemas.openxmlformats.org/officeDocument/2006/relationships" id="258" r:id="R0c9b8860f878448d"/>
    <p:sldId xmlns:r="http://schemas.openxmlformats.org/officeDocument/2006/relationships" id="259" r:id="Rc9a17e565eee4e38"/>
    <p:sldId xmlns:r="http://schemas.openxmlformats.org/officeDocument/2006/relationships" id="260" r:id="R54314f074c8b4115"/>
    <p:sldId xmlns:r="http://schemas.openxmlformats.org/officeDocument/2006/relationships" id="261" r:id="R23c73033f8c1438a"/>
    <p:sldId xmlns:r="http://schemas.openxmlformats.org/officeDocument/2006/relationships" id="262" r:id="R5d0ab743727e413a"/>
    <p:sldId xmlns:r="http://schemas.openxmlformats.org/officeDocument/2006/relationships" id="263" r:id="R0dd3e85863d644b4"/>
    <p:sldId xmlns:r="http://schemas.openxmlformats.org/officeDocument/2006/relationships" id="264" r:id="R5a0c041e9a3f4d55"/>
    <p:sldId xmlns:r="http://schemas.openxmlformats.org/officeDocument/2006/relationships" id="265" r:id="R87710dd61f924895"/>
    <p:sldId xmlns:r="http://schemas.openxmlformats.org/officeDocument/2006/relationships" id="266" r:id="R223b87068c3c4d48"/>
    <p:sldId xmlns:r="http://schemas.openxmlformats.org/officeDocument/2006/relationships" id="267" r:id="R2a54790be59e4d45"/>
  </p:sldIdLst>
  <p:sldSz cx="5829300" cy="7543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dbc7d330ac4529" /><Relationship Type="http://schemas.openxmlformats.org/officeDocument/2006/relationships/slideMaster" Target="/ppt/slideMasters/slideMaster1.xml" Id="R7588825d880d4972" /><Relationship Type="http://schemas.openxmlformats.org/officeDocument/2006/relationships/notesMaster" Target="/ppt/notesMasters/notesMaster1.xml" Id="R719026d608584bb7" /><Relationship Type="http://schemas.openxmlformats.org/officeDocument/2006/relationships/presProps" Target="/ppt/presProps.xml" Id="R9e937f42c4a241f9" /><Relationship Type="http://schemas.openxmlformats.org/officeDocument/2006/relationships/tableStyles" Target="/ppt/tableStyles.xml" Id="R66987e6a780d4ebe" /><Relationship Type="http://schemas.openxmlformats.org/officeDocument/2006/relationships/slide" Target="/ppt/slides/slide1.xml" Id="Rbbdb2b87c9c14993" /><Relationship Type="http://schemas.openxmlformats.org/officeDocument/2006/relationships/slide" Target="/ppt/slides/slide2.xml" Id="R295fd27df2664c5b" /><Relationship Type="http://schemas.openxmlformats.org/officeDocument/2006/relationships/slide" Target="/ppt/slides/slide3.xml" Id="R0c9b8860f878448d" /><Relationship Type="http://schemas.openxmlformats.org/officeDocument/2006/relationships/slide" Target="/ppt/slides/slide4.xml" Id="Rc9a17e565eee4e38" /><Relationship Type="http://schemas.openxmlformats.org/officeDocument/2006/relationships/slide" Target="/ppt/slides/slide5.xml" Id="R54314f074c8b4115" /><Relationship Type="http://schemas.openxmlformats.org/officeDocument/2006/relationships/slide" Target="/ppt/slides/slide6.xml" Id="R23c73033f8c1438a" /><Relationship Type="http://schemas.openxmlformats.org/officeDocument/2006/relationships/slide" Target="/ppt/slides/slide7.xml" Id="R5d0ab743727e413a" /><Relationship Type="http://schemas.openxmlformats.org/officeDocument/2006/relationships/slide" Target="/ppt/slides/slide8.xml" Id="R0dd3e85863d644b4" /><Relationship Type="http://schemas.openxmlformats.org/officeDocument/2006/relationships/slide" Target="/ppt/slides/slide9.xml" Id="R5a0c041e9a3f4d55" /><Relationship Type="http://schemas.openxmlformats.org/officeDocument/2006/relationships/slide" Target="/ppt/slides/slide10.xml" Id="R87710dd61f924895" /><Relationship Type="http://schemas.openxmlformats.org/officeDocument/2006/relationships/slide" Target="/ppt/slides/slide11.xml" Id="R223b87068c3c4d48" /><Relationship Type="http://schemas.openxmlformats.org/officeDocument/2006/relationships/slide" Target="/ppt/slides/slide12.xml" Id="R2a54790be59e4d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f33fc9108845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5880332db5405a" /><Relationship Type="http://schemas.openxmlformats.org/officeDocument/2006/relationships/notesMaster" Target="/ppt/notesMasters/notesMaster1.xml" Id="Re41bbad046f24c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6fa642acf64be1" /><Relationship Type="http://schemas.openxmlformats.org/officeDocument/2006/relationships/notesMaster" Target="/ppt/notesMasters/notesMaster1.xml" Id="Re35f3cb0a93b4a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9ef25872334a73" /><Relationship Type="http://schemas.openxmlformats.org/officeDocument/2006/relationships/notesMaster" Target="/ppt/notesMasters/notesMaster1.xml" Id="R65f98292089540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f5c140ca39455d" /><Relationship Type="http://schemas.openxmlformats.org/officeDocument/2006/relationships/notesMaster" Target="/ppt/notesMasters/notesMaster1.xml" Id="R0a25f34bd3384f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dab19862aa4eb4" /><Relationship Type="http://schemas.openxmlformats.org/officeDocument/2006/relationships/notesMaster" Target="/ppt/notesMasters/notesMaster1.xml" Id="R7f21aa40e7e646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e070a216174750" /><Relationship Type="http://schemas.openxmlformats.org/officeDocument/2006/relationships/notesMaster" Target="/ppt/notesMasters/notesMaster1.xml" Id="R22f45c5da74449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691b3aa7124bfb" /><Relationship Type="http://schemas.openxmlformats.org/officeDocument/2006/relationships/notesMaster" Target="/ppt/notesMasters/notesMaster1.xml" Id="R742902fff7d945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6a4c851c204559" /><Relationship Type="http://schemas.openxmlformats.org/officeDocument/2006/relationships/notesMaster" Target="/ppt/notesMasters/notesMaster1.xml" Id="R7c04818ee6a74c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b12371cc434aed" /><Relationship Type="http://schemas.openxmlformats.org/officeDocument/2006/relationships/notesMaster" Target="/ppt/notesMasters/notesMaster1.xml" Id="R6307b7a4a9b744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3c72ec9a8a4e7e" /><Relationship Type="http://schemas.openxmlformats.org/officeDocument/2006/relationships/notesMaster" Target="/ppt/notesMasters/notesMaster1.xml" Id="R0bc36ae277e540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eb7d5df2524c4d" /><Relationship Type="http://schemas.openxmlformats.org/officeDocument/2006/relationships/notesMaster" Target="/ppt/notesMasters/notesMaster1.xml" Id="Re7c353a8a1d244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c701cc84374aee" /><Relationship Type="http://schemas.openxmlformats.org/officeDocument/2006/relationships/notesMaster" Target="/ppt/notesMasters/notesMaster1.xml" Id="R305e530bf42142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5b074d7e145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d4fe12aee54aab" /><Relationship Type="http://schemas.openxmlformats.org/officeDocument/2006/relationships/slideLayout" Target="/ppt/slideLayouts/slideLayout1.xml" Id="R32178c73f1684e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178c73f1684e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c423ae4774b38" /><Relationship Type="http://schemas.openxmlformats.org/officeDocument/2006/relationships/image" Target="/ppt/media/image.png" Id="R64e5841099084645" /><Relationship Type="http://schemas.openxmlformats.org/officeDocument/2006/relationships/notesSlide" Target="/ppt/notesSlides/notesSlide1.xml" Id="Rf2a4f39e13f64d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db5f7f83245f2" /><Relationship Type="http://schemas.openxmlformats.org/officeDocument/2006/relationships/notesSlide" Target="/ppt/notesSlides/notesSlide2.xml" Id="R8d6f519da3db45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aae1eaa7a4b67" /><Relationship Type="http://schemas.openxmlformats.org/officeDocument/2006/relationships/notesSlide" Target="/ppt/notesSlides/notesSlide3.xml" Id="Rfd3e477ac8204d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c1dfdb0834374" /><Relationship Type="http://schemas.openxmlformats.org/officeDocument/2006/relationships/notesSlide" Target="/ppt/notesSlides/notesSlide4.xml" Id="R707618018aea49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421a94b1f4e55" /><Relationship Type="http://schemas.openxmlformats.org/officeDocument/2006/relationships/notesSlide" Target="/ppt/notesSlides/notesSlide5.xml" Id="R116a64027a6245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66fa34a4b422f" /><Relationship Type="http://schemas.openxmlformats.org/officeDocument/2006/relationships/notesSlide" Target="/ppt/notesSlides/notesSlide6.xml" Id="R6b4d01dbf69740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89a30458c4e34" /><Relationship Type="http://schemas.openxmlformats.org/officeDocument/2006/relationships/notesSlide" Target="/ppt/notesSlides/notesSlide7.xml" Id="R42745941c84143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0b9e7fd374851" /><Relationship Type="http://schemas.openxmlformats.org/officeDocument/2006/relationships/notesSlide" Target="/ppt/notesSlides/notesSlide8.xml" Id="R36a38bee82b049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915cfd65e43fd" /><Relationship Type="http://schemas.openxmlformats.org/officeDocument/2006/relationships/notesSlide" Target="/ppt/notesSlides/notesSlide9.xml" Id="Rd341133f611f4d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881cce45a476e" /><Relationship Type="http://schemas.openxmlformats.org/officeDocument/2006/relationships/notesSlide" Target="/ppt/notesSlides/notesSlide10.xml" Id="R871441b2278248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377ad7fec4af4" /><Relationship Type="http://schemas.openxmlformats.org/officeDocument/2006/relationships/notesSlide" Target="/ppt/notesSlides/notesSlide11.xml" Id="R02fbbd7ea7d142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3e0d058694069" /><Relationship Type="http://schemas.openxmlformats.org/officeDocument/2006/relationships/notesSlide" Target="/ppt/notesSlides/notesSlide12.xml" Id="Rb604f0d8084b48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A566C-4C90-40D3-A45E-406F4B86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FB7F0-3A9E-4187-9273-1598BD5D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0292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Your company wants to use AI.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Where should it start?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89169-1015-4ECC-8A3E-BC0E75BF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then turns it into a system people use and results can 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93056-A773-4CC5-9178-DDE9BA74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1947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050505"/>
                </a:solidFill>
              </a:defRPr>
            </a:pPr>
            <a:r>
              <a:rPr sz="653" b="1">
                <a:solidFill>
                  <a:srgbClr val="050505"/>
                </a:solidFill>
              </a:rPr>
              <a:t>Business assessment | Workflow redesign | Skills | Custom SaaS | Databases | Agents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5841099084645"/>
          <a:srcRect xmlns:a="http://schemas.openxmlformats.org/drawingml/2006/main" l="0" t="9801" r="0" b="9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3829050"/>
            <a:ext cx="5029200" cy="26955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1B02C-7C13-4922-B27A-4184C939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4565A"/>
                </a:solidFill>
              </a:defRPr>
            </a:pPr>
            <a:r>
              <a:rPr sz="675" b="0">
                <a:solidFill>
                  <a:srgbClr val="54565A"/>
                </a:solidFill>
              </a:rPr>
              <a:t>Event offer: complimentary enterprise AI assessment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E027E-56BC-4D8C-A45F-97298685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627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50505"/>
                </a:solidFill>
              </a:defRPr>
            </a:pPr>
            <a:r>
              <a:rPr sz="675" b="1">
                <a:solidFill>
                  <a:srgbClr val="050505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1979662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2597FC-6EDC-4F24-BB63-081C9391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050505"/>
                </a:solidFill>
              </a:defRPr>
            </a:pPr>
            <a:r>
              <a:rPr sz="3750" b="0">
                <a:solidFill>
                  <a:srgbClr val="050505"/>
                </a:solidFill>
              </a:rPr>
              <a:t>AI can now</a:t>
            </a:r>
          </a:p>
          <a:p xmlns:a="http://schemas.openxmlformats.org/drawingml/2006/main">
            <a:pPr algn="l">
              <a:defRPr sz="3750" b="0">
                <a:solidFill>
                  <a:srgbClr val="050505"/>
                </a:solidFill>
              </a:defRPr>
            </a:pPr>
            <a:r>
              <a:rPr sz="3750" b="0">
                <a:solidFill>
                  <a:srgbClr val="050505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B53DA-F833-47AC-87D7-4D8CDE5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029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We used to complete every step manually.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C3BA8-11A5-4096-BDED-1BF5EEBE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HOW THE OPERATING MODEL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E43FE-A90D-4F75-8D18-C410302C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19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6F8A8-40A3-4145-84E4-C8A98B10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Agents take on repetitive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BA161-E4DF-472A-AC5A-1497CDF4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501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3DC3-FAB7-4C3B-9159-66EE69EB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81525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People remain responsible for goals, judgment, and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0B046-D6EB-41A9-A38B-386C25BF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882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DC92E-C33B-46A9-A543-F24C0BA3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One manager can direct several agents.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94D6C-52EE-4F8A-BEFC-1B9585A3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63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C4A17-193A-4865-A1C7-95966BA2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40313-DDD9-4504-BC7C-8D38E37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4119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09E79-6B2F-4C38-94E9-BAB2E61F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343400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0ECA1-A38F-4FB2-B720-4EE6F49B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6786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55420-45BD-43C4-B66F-BE5FC27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610100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8CA5E-624D-4348-B8E4-A376E61A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453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1F3AD-5246-4661-93BD-D0747B0B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876800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79F51-304C-4D04-BC19-B901A731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2120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951B7-0F95-4C16-8610-3E383671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143500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C2EE6-F895-479D-9437-8D4182D3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0292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0CA08-1693-4392-ACF4-655EDCB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502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50505"/>
                </a:solidFill>
              </a:defRPr>
            </a:pPr>
            <a:r>
              <a:rPr sz="1238" b="1">
                <a:solidFill>
                  <a:srgbClr val="050505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B693C-9EE6-42BC-ADD7-6DC03E53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2AF52-1CCE-4D89-923F-2FAEE2A6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39214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C8EA65-3D19-4DDA-9EEF-66B5DE04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BC0B3-423B-480D-BA52-EB77905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95194-3B8E-4F39-BC67-97D1D047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571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CDAE1-27EB-49A9-B6EA-8B0CB102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7162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87AEE-D207-45D6-A640-FDDC67C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114550"/>
            <a:ext cx="3648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E08A5-5E3E-4990-99C6-A8976F43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64BCA-6087-45F6-92ED-4B5B00EC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812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478D5-623A-486B-A1BB-610C1AE7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D2E6C-1CC8-4C3C-9212-44DFED78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24175"/>
            <a:ext cx="3648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C9127-7C90-4D72-A9AA-E175CCB1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7A5F9-86AF-4410-B18B-F0BFE50A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1908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275F4-40A5-4D63-A6FB-D0C87CC0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9087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E50C0-4D63-470C-A432-0D14D836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733800"/>
            <a:ext cx="3648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D9D37-51E8-4473-A1B2-B09E44A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PUBLIC EXAMPLES ALREADY IN 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D7694-CF5A-46B7-97F0-0B40F284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Cisco: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616F7-B4AD-47FD-99EC-89F1FC0F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481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03B07-87BD-4F23-9A81-780249C8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39EBA-EB7A-4031-84F1-51423583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5CF15-79A0-4285-9743-AA485498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96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E7480-A0A9-4D4F-8CAD-B7BA3785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215C00-7296-4004-900F-7CFC66BB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TELUS: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82AC1-8D20-4789-A830-7A7098FD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911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34AC2-2264-41D4-9CC8-E90249BA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4A1EF-8B65-42B8-A266-30B0E444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626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Lowe’s: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2BA47-2187-4BE9-A9BA-01492DD4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626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48FB91-1243-47E6-A2B2-6501E5FB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D02F2F-8B45-4256-B0AD-5127616D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5158894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4B6EC6-7D6B-4B13-B8FE-679CDFE5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Leaders want higher efficiency,</a:t>
            </a:r>
          </a:p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D753F-8332-41C0-B6C0-6603222D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C7801-501A-4E1E-912F-7FAF5E1D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78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1F53E-48DB-4866-BB0C-9774F25E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670AA-AA9D-4309-B290-55380ED0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07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F595D-6188-4933-92CD-801CDAF3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7B24D-1F14-4444-A780-CAAA1D5E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36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86545-702F-45DC-9219-C1985F14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B1D24-A663-4148-9220-57DD74DD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65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D1BEC-611C-4320-BBCD-04A8CB84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D9BFD-72DD-43F8-8887-B404D933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94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9DA90-3A44-4AD9-B9B1-7950B27D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2FA61-D001-4DC4-8EFB-BD43A875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23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ABAF2-09E7-4E6B-ABAB-98073DD1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2A001-D99D-4DF0-AC08-3C9CD086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33ADC-7E58-4F2C-9B9B-FCF00588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573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9FA24-799F-41BC-8615-A78400A7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23812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77CB1-DB5E-4EC9-BE30-8D7A7350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76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1ED89-95C9-4943-BD93-8B1C7937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23812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C17B6-078F-4E0B-95C2-02C28D3B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955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037E9-384F-4B4C-BBA8-71A7C04D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23812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D9E48-E593-4513-A327-083C1EEC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146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1D555-C356-4F17-9997-A7838252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81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AFDF5E-9205-4377-865F-62E84DB6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08B6A2-0685-4E39-8501-CAA804EC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4387B-81E2-4C9F-A9D4-2C830679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C06CD-D928-4D25-9451-F309B592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92206-7CD4-4316-864D-CEA52EB3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61B191-5682-4089-B652-0DD3E5BF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5297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D3C458-7E18-46CD-922F-61EFDA2E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4C314A-B0DD-4582-8B75-ED3B60E3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DEDC0-7E60-49D5-94C2-E01E601F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D75049-CE59-40AC-B628-1B2FCE5D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EDAF1E-5792-42AE-96A3-E14A2934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326D44-4C85-4EB4-BA06-E8CB72DC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2452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3D5431-01A2-4854-9D86-7DABAB42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B1A3FF-0225-4C44-BAA3-47412700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13D59B-1B7E-4C62-9F03-441468B1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1030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C7A583-E084-45B4-9416-77B0B984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10375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1838EC-1B78-4930-94D6-FAA24E54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62FD87-6774-47FC-B174-6904A1A8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60854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7EE23-7925-4E42-9DC2-C3D5DC24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An FDE starts with ambiguity</a:t>
            </a:r>
          </a:p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78EC2-5A0C-4968-AA10-B8F24DFC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29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50505"/>
                </a:solidFill>
              </a:defRPr>
            </a:pPr>
            <a:r>
              <a:rPr sz="840" b="0">
                <a:solidFill>
                  <a:srgbClr val="050505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050505"/>
                </a:solidFill>
              </a:defRPr>
            </a:pPr>
            <a:r>
              <a:rPr sz="840" b="0">
                <a:solidFill>
                  <a:srgbClr val="050505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A4EB0-1CB8-4E8B-8867-33280DF0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02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65E49-4494-4CEC-8A18-1C9156BF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48000"/>
            <a:ext cx="4743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57072-AE52-4326-8DD4-E727022E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3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18723-1598-421F-B32C-6494F4F6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E6FD7-24F6-4C56-8F94-BC770F3E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4895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44F88-3B73-4AB0-8FED-5D2CEB6D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29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05941-37EF-490C-BCC8-37BB140D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4FAEF-F50B-4C2F-8AD9-0FBE1AE7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4895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243C3-7034-4D76-82AD-42476987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20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579CF-3FA0-4F3E-A97C-CF3F4821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43475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B4F48-4FAF-4E8F-A1CF-5922512F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4895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90409-3407-4578-A345-46A07764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11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BEA42-AA48-49F7-BFD0-9D697647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9D0EA-11B5-4C61-93BA-30C04B70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4895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EE351-444C-4178-8F96-AD796FBE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03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736B6-F019-4FC4-95BF-317339AC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CC27C-F231-4193-B6C3-8B39C4BF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BBC09-17EC-4CA8-88A4-16AFE9CA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10886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F3F928-1864-43AA-9492-F44F75BA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From one small tool</a:t>
            </a:r>
          </a:p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07F23-1D45-4D28-9AEB-8BB2579B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C9FAE-010E-40D6-880F-627399A0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26C65-8EDE-4BEB-993C-BF62C0BD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212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C986A-01D7-4D7B-B351-0886ACC0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526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A422D-EA57-419C-83FD-2DA9C70C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402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90818-06BB-4FD2-9528-20B32E8B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Document, spreadsheet, and image processing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51834-D5D2-4C65-A725-800E5706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593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3F5E8-9661-4523-9B9D-BB478AA2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9077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Quotation, entry, reconciliation, and reporting 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139FA-C3D2-44BB-9124-F5146A8A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784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44BAF-9DEC-4B4E-8372-60DF1F6C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098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B3B49-0728-45D0-B2F3-98263C1D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the problem is clear and results are needed quickly.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B171F-6071-4F63-B053-3AF334B7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B5D7E-118D-4C78-A986-3C6138D5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One business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F64D1-511A-446F-BDC5-7D57E0E9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785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E9BC1-AE14-4B4E-9704-B7B986C6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099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Interviews and workflow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5F744-E88F-4782-B69C-8F84638B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975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95A80-8F13-4431-8CA1-B03D4E5F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2900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Role-specific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51482-DCFA-46CB-A051-3EB418AF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166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33FC2-F54E-40C4-BF3B-F1305E56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4807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ERP, CRM, collaboration, and messaging integrations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F0E753-F25B-4E7D-8DE5-02C24041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357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790A8-2AD4-47B1-88FB-62C7FC02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671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Exception handling and human 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524AA-DA09-4CDA-9751-F49ECF35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54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B2E3E-F939-44FA-A316-867D10A5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Progress, result, and activity 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116B2F-7C3F-4464-B89B-1DE39E0E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99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work crosses people and systems through manual handoffs.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F337EA-3977-4377-88F4-B1A90FDA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A4ECA-D03C-409C-A837-63207E5F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672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A data foundation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E20D3C-848A-4683-A52A-40A3C437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35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2682C1-D27C-4CE5-B291-9FC29E88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672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Operational databases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E3D1C0-1DA4-42CC-81AE-C488EE84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548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433B51-BA3A-4D03-A3BD-7F1B6CDF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8630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Enterprise knowledge 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D644B5-E005-4396-9391-7E12F51C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739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14DFA8-B368-4256-B45C-3FD1B35D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0537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8B0034-98AA-447B-8366-3FF73FA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930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F8E6EB-48DD-4BE3-8B5F-18019B4D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244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Permissions and usage boundaries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E8F7E9-BB69-4D6B-9A55-50A3D42B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121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55BCEF-C01E-4BE2-8FBC-3E9156B6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435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Trusted data for agents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56165E-8A18-4CFC-9089-3408B6F9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672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information is hard to find, share, or trust.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B4BB3F-94E1-4598-8CC3-651BC152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3402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CE422A-72B6-4EB3-A19B-051C62A0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A company-wide upgrade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E46046-C9C5-4D0D-80E8-DBDF773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931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5F010C-1C4C-4CBF-B372-32224F1E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7245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Identify work suitable for AI across departments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8D8F1B-47F3-4305-8ED3-1FF46A93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0121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7903FC-3CFE-40BD-84C4-1641D801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4360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Redesign how people and agents divide the work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93A82F-35CE-4360-9B3D-921938C3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2312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48CBB4-4EB6-4681-96C4-CAB20E7F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6267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Set permissions, approvals, and accountability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31DA01-6BF3-4BC7-9D7B-5B3CB535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4503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94898F-4E72-4222-B518-C42C12FE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3817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Define the pilot sequence and expansion plan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D0CFBC-B3A0-4065-8A12-6A5E5212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6694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B32158-3633-494D-A51C-46418C20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6008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Train the company’s own Agent Bosses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9C1E33-52A8-4851-9035-077B03C7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245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leadership wants one coordinated program.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1372AD-1D4D-4AF6-9463-B71D3804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C310DB-D227-4BBC-9C39-66A66174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934711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8F5F4-95DD-4C6E-8248-5661FF18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Assess first.</a:t>
            </a:r>
          </a:p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A406D-8750-4E37-AE57-3CD9B396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40A73-4C4F-4DBD-800C-AAE4D168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859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190A9-9445-443A-8D1E-40C5E192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00325"/>
            <a:ext cx="46005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F6458-A4E3-425A-A959-3B3A94EC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78998-CAA5-4D2F-A3B4-1C6DFE3D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4795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0573F-B246-4C92-BA31-BDEC9861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62350"/>
            <a:ext cx="46005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9582A-E03B-4854-A12C-8954DCEB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29F56-18D3-44BE-A860-C1FE88E3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997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9A76E-1E3A-4230-A2AA-D03507BB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24375"/>
            <a:ext cx="46005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6796F-1299-4BD3-8238-FA85E69C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C333F-09ED-4FC6-BB00-FCA52C33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7200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6E348-8B9A-4FE1-A292-DED2FBE6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86400"/>
            <a:ext cx="46005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316C8-3F80-4902-AD78-316FB297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3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36893-1DD2-4E69-9676-FC90ECAB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4824E-C58B-404C-8BB1-5911ABEB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D3A9B-B5AA-43A8-9B98-83F3F7BB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86923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84E1A5-8DDE-473E-817B-00C55DA8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Not a demo.</a:t>
            </a:r>
          </a:p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0F2DA-6BA9-4402-92DF-2EC403A3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02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050505"/>
                </a:solidFill>
              </a:defRPr>
            </a:pPr>
            <a:r>
              <a:rPr sz="818" b="0">
                <a:solidFill>
                  <a:srgbClr val="050505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AA909-62D8-4D29-B918-13C715F7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64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7F351-64DE-4735-931A-4A1CCC93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981F3-4C9D-4B9D-B3C1-1DCAA844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35E60-8248-48C0-8FE7-F583DF23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164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EE27A-3BB3-4A20-8079-FC1218F5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4787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058CF-FC3C-41D1-B492-728EC975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14600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AE9B9-B8A3-49DB-A01D-1183FF4C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46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EA2D1-6F0A-433F-87FF-C6A0212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FF844-90C6-4BEE-9A73-CA9D5C46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834B7-23A3-4006-B1F0-4A59342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546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B69E8-DDEE-4113-8063-F5C4115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86050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3DFE5-81CF-4395-B3CE-BD8ACF99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52775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0D31F-AD90-462E-A865-4EE2E9CB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2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9C861-2A3D-45B6-A780-168AC208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22F11-31A3-48BB-A9DE-6D809A46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AAE83-F1A9-4556-8C9E-012971ED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92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4D1C4-A70B-459E-9BEA-534F8555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2422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AEF8C-C536-487A-AD14-17C68492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90950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EA111-DD77-44C4-864F-347341B3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09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5268C-7DFA-4F56-933D-6DEF130A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3AA4DC-BCB3-41B5-B77F-720EC70A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9DD510-A379-4F85-81A1-9D33CC49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309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C1061-57FB-4921-8C5E-00D39A61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962400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CBCB0F-6D4C-4A68-AFD9-1746E51A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29125"/>
            <a:ext cx="24003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D67821-AE46-4058-874D-C3ED7C89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24425"/>
            <a:ext cx="5029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84EA47-0F1C-4B71-A55E-9B7CE600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7F6C15-1559-4403-A82D-A2B76B0C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30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B2BFF-2B21-44B0-AC2B-ED4B9506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9B40F8-6A91-42AE-AAA4-6AAACCDB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930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ADD74-39BF-49D1-8D60-572EF947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245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53E515-5303-4B4C-B529-EDC78374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217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9333F4-D470-4B94-ABE4-174B0A3F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1C1571-377D-4022-8479-97543861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217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FB5E3D-A496-4318-80DA-E4D8BE8E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53125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B661F1-9D88-425E-B87C-D1400664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F3A400-9CE9-4476-BBFF-61DA55E3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98995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A3AA28-D6A9-47C5-816C-6DD75914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5232D-BB72-4365-A5B9-4E6DF55A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502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62B94-0CE6-4E30-8593-EC5A70B0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9725"/>
            <a:ext cx="480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50505"/>
                </a:solidFill>
              </a:defRPr>
            </a:pPr>
            <a:r>
              <a:rPr sz="615" b="1">
                <a:solidFill>
                  <a:srgbClr val="050505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22A43-BC26-4DE9-823B-45C2E10B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23981-8603-4811-AC7C-69EA2D0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4286">
            <a:solidFill>
              <a:srgbClr val="D5D5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DBD52-35D7-432B-AD0F-17ABABB3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C0807-4A74-4029-A2DC-3CDD9381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4286">
            <a:solidFill>
              <a:srgbClr val="D5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C3717-E6E4-45CB-905E-61DFCEFF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8FF73-4FD6-496A-84AB-955DE656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4286">
            <a:solidFill>
              <a:srgbClr val="D5D5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9283E-58CD-4D34-BD72-87F55FCF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72C78-75C0-48BE-852D-18055119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4286">
            <a:solidFill>
              <a:srgbClr val="D5D5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073AE-CAA5-495C-B29D-773C9383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4D693-9C24-4F88-A301-D1570255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71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050505"/>
                </a:solidFill>
              </a:defRPr>
            </a:pPr>
            <a:r>
              <a:rPr sz="607" b="1">
                <a:solidFill>
                  <a:srgbClr val="050505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3D36F-3E89-43C6-BB37-8A93DE5E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14650"/>
            <a:ext cx="3219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050505"/>
                </a:solidFill>
              </a:defRPr>
            </a:pPr>
            <a:r>
              <a:rPr sz="607" b="0">
                <a:solidFill>
                  <a:srgbClr val="050505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B6C94-2E9B-4C1F-9C1F-8DC7C6B6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54565A"/>
                </a:solidFill>
              </a:defRPr>
            </a:pPr>
            <a:r>
              <a:rPr sz="578" b="0">
                <a:solidFill>
                  <a:srgbClr val="54565A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3146D-747E-4B51-A4C5-C17D84CA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67601-8730-4E18-BAC3-1814F335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43950-45FD-4092-B2D3-28CFFF94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B5F3F-FFB6-403A-AC3F-61B8EDDF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8414B-A7C3-40E6-84D5-F7704434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C64C7-D317-4086-8CE2-52F593C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338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4B121D-9139-45E0-AA35-45A8DCB7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7197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5D9E3-5A38-4F2C-AA14-56C72D63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48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A2D16-C80D-476A-9149-4521C7E2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387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7D24A-6238-4BDD-A336-0DED8F88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86375"/>
            <a:ext cx="226695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783D27-01A0-4BF9-A1BD-482A7E56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864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2C260-8EBC-4B99-8087-63DD1582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34013"/>
            <a:ext cx="226695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294959-294D-414B-9ABC-E8E6861F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3403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083ECD-71C0-4AD0-812C-D0BB540C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81650"/>
            <a:ext cx="226695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CAFCC7-C096-4F49-B490-462D081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81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5A4382-BB7E-40D5-A734-ADB7D22E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29288"/>
            <a:ext cx="226695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88ADC2-7E90-45E2-BE1C-F9F60A95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9825"/>
            <a:ext cx="50292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AB9A30-A9AF-4364-9DBF-15629EA5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295714-17D6-48AD-B952-19E2E577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372225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9B7630-C01B-4491-A4FA-56875DF3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BD9649-2EAC-42F7-8E80-5422CBC8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9643261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26B0C-1478-4FDE-A9D7-B3435732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A working agent still needs</a:t>
            </a:r>
          </a:p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82E35-C089-48AC-A872-66E4B3C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143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0CBFD-0D27-4132-BA22-D261E05E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06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E9473-6BFC-48D8-970B-71D3CF22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Give agents clear goals and completion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8E8B3-4EEE-4FA6-B2D7-9E1FCC5E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57400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BF005-B2B9-42EA-8A7E-694FB0DA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36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22DE2-D2AB-4923-8C2D-F2276019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050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Decide which work can be delegated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5F6FB-3141-409A-8C26-944649B6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0325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70DA9-1754-401A-88FF-5B74539B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165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5ABDC-EC2A-4EA9-BC4E-03E62627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Review the process and the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E47BD-3359-4F3E-A2CD-047F9529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FDDAC-D611-453E-A42C-8FC8227C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594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FDAB6-F4E2-418B-93B0-E5016BB9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Handle exceptions, request changes, or stop a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0C1C8-B8BA-415F-8371-57C5EDAD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6175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699C4-08AD-4F1E-B6F1-BE8DF70E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023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AF9C0-6EB0-40B2-8BB3-1FA94C2C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Manage data, tools, and 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F3B3F-1AD7-45CF-9FA4-4440C31D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29100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CDA42-5FF6-4025-BCBF-5208160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453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6244D-E32F-43D2-84F6-A92CB0DE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767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Turn good practices into shared Skills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0AF96-E762-426D-9099-54974E20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72025"/>
            <a:ext cx="22860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17C06-3F00-4E2A-976F-7A151AF3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882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C57CD-5666-48F5-9E19-262A0119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Remain accountable for the business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85304-C482-42FD-90B9-22001466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50505"/>
                </a:solidFill>
              </a:defRPr>
            </a:pPr>
            <a:r>
              <a:rPr sz="960" b="1">
                <a:solidFill>
                  <a:srgbClr val="050505"/>
                </a:solidFill>
              </a:rPr>
              <a:t>We call this training Agent Boss.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40284-F117-42D1-9E2B-292BACBE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43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50505"/>
                </a:solidFill>
              </a:defRPr>
            </a:pPr>
            <a:r>
              <a:rPr sz="780" b="0">
                <a:solidFill>
                  <a:srgbClr val="050505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DC57A-DDD5-44DB-AE40-58A941A8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02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0FB711-44CB-42A3-9C21-1CD18534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92D24F-352B-44D5-B9B7-41A7DA13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817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50505"/>
                </a:solidFill>
              </a:defRPr>
            </a:pPr>
            <a:r>
              <a:rPr sz="765" b="1">
                <a:solidFill>
                  <a:srgbClr val="050505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A43831-4F4C-462B-B7E7-E5076D06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0CD54E-AA80-4273-81FF-9C2A6E85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698855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ED8FA8-83F1-4FF3-A7ED-671E5B10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A0DAF-D11F-4E9B-9856-E906EE01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50505"/>
                </a:solidFill>
              </a:defRPr>
            </a:pPr>
            <a:r>
              <a:rPr sz="840" b="0">
                <a:solidFill>
                  <a:srgbClr val="050505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EF5FD-5CE5-4F52-B91C-C83C36A3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94700-A671-4A26-83F9-2DE3E3A3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93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A9DD2-33B1-4337-BA72-4560F063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One to three areas worth examining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F0FF6-3573-464D-A2AD-04DF161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4CAE1-9FDB-47C6-88FC-5060B4F6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46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84931-0A45-4712-BCE1-062CF4FE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An initial judgment on whether AI fits the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5BC8A-C779-4A14-8683-EB27C9CC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E6838-9EA2-408A-A42C-021EDF36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00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1758C-161D-42B5-9D50-71563192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81425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The data, systems, and people required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26106-7F88-4CF0-B8A6-C2E4A751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A2FEE-4467-4518-ADCC-D371218E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53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A8001-7319-4273-A0E2-7532DE96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391B6-817E-465C-A831-A79771E1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E9D0E-7F3D-4A9E-A5F5-EE1CEF39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406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DEC4C-7FB1-4C46-93F6-5771A0BE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72075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An honest view on whether a pilot is worthwhile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0BDF2-7F3B-4F8A-9AAA-8D1A79C0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WE MAY ALSO TELL YOU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58B16-7631-4CA3-94D1-57B28E7D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93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299E1-F72D-408C-AD68-8BE10A85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90775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D4F1A-40EC-4161-91E6-562CEB74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38475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15709-435D-45EF-8544-B4EE0B12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546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5C23E-B777-4CB9-970B-4BDDE72C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8610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91491-D885-4F53-8775-47DD02B6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33800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85FE9-219E-4A5F-8848-CD8BDCD6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500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A2CA7F-457B-45D1-95DC-027D0DD4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81425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9E7EFD-BF89-478F-BD13-71454E63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29125"/>
            <a:ext cx="22288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5C784-F702-4165-99BE-F62E069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453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3C0F13-EB8D-482C-BA92-3E706B17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D6D49E-9A65-45F7-99CF-DF571955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38775"/>
            <a:ext cx="23622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3CD1D8-4F09-485E-9630-45CB4371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648325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2B2025-AF1F-4C6F-AFF2-AA0CBE94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F98788-5DEA-499C-B5F0-C9B6C203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1184636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0EE1D-EB26-48F1-BFA5-A7902C12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Which part of your business</a:t>
            </a:r>
          </a:p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ED844-4829-4271-8D20-2B43E809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5CFF"/>
                </a:solidFill>
              </a:defRPr>
            </a:pPr>
            <a:r>
              <a:rPr sz="1050" b="1">
                <a:solidFill>
                  <a:srgbClr val="135CFF"/>
                </a:solidFill>
              </a:rPr>
              <a:t>10 companies per day</a:t>
            </a:r>
          </a:p>
          <a:p xmlns:a="http://schemas.openxmlformats.org/drawingml/2006/main">
            <a:pPr algn="l">
              <a:defRPr sz="1050" b="1">
                <a:solidFill>
                  <a:srgbClr val="135CFF"/>
                </a:solidFill>
              </a:defRPr>
            </a:pPr>
            <a:r>
              <a:rPr sz="1050" b="1">
                <a:solidFill>
                  <a:srgbClr val="135C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90ACC-A396-48B6-AF14-D44083E2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52625"/>
            <a:ext cx="13620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0505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76298-90B6-46F3-BF8F-0426B2C0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5270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4565A"/>
                </a:solidFill>
              </a:defRPr>
            </a:pPr>
            <a:r>
              <a:rPr sz="675" b="0">
                <a:solidFill>
                  <a:srgbClr val="54565A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80ACA-97F5-4BA6-A96E-0CD337AF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68BB4-83F4-43CD-95D2-F508F388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8342B-A721-41B4-B324-9111CD4C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861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A7C1C-6407-4A70-8CE5-0D409F44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27146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335E7-3EE9-48A5-A819-291A2FA5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BE3F2-C7C3-471E-9426-7E943EAD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BBBF3-FC33-49D2-9EB2-53334F77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48175"/>
            <a:ext cx="27146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DF65B-D83A-43E8-8064-BB1D1A00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71F90-E1A6-48F6-983B-0B49CFBC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43B26-EDCD-4746-96C0-3D07B717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53000"/>
            <a:ext cx="27146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7A5BA-532F-4F45-94AB-BF5BD9FF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2204B-B692-44D9-995B-60682811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006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AA649-CC10-40E2-AC50-7785CC7D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57825"/>
            <a:ext cx="27146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21685-936A-46B5-99B9-A79A401C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218EB-C3AA-4796-8768-A991D66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054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ACC73-E910-4466-9544-9295626E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39A58-6AA8-4EC5-9A7B-870C742C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1055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050505"/>
                </a:solidFill>
              </a:defRPr>
            </a:pPr>
            <a:r>
              <a:rPr sz="660" b="0">
                <a:solidFill>
                  <a:srgbClr val="050505"/>
                </a:solidFill>
              </a:rPr>
              <a:t>[Brand name]</a:t>
            </a:r>
          </a:p>
          <a:p xmlns:a="http://schemas.openxmlformats.org/drawingml/2006/main">
            <a:pPr algn="r">
              <a:defRPr sz="660" b="0">
                <a:solidFill>
                  <a:srgbClr val="050505"/>
                </a:solidFill>
              </a:defRPr>
            </a:pPr>
            <a:r>
              <a:rPr sz="660" b="0">
                <a:solidFill>
                  <a:srgbClr val="050505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06365-008C-41EB-99A0-77926E3A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05600"/>
            <a:ext cx="50292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B72A3-99EE-45E8-AA37-56625CFB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67525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050505"/>
                </a:solidFill>
              </a:defRPr>
            </a:pPr>
            <a:r>
              <a:rPr sz="870" b="1">
                <a:solidFill>
                  <a:srgbClr val="050505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A98BE1-FC1B-4499-A482-C6754CAF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AA00A-328B-4301-A854-889E13B9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44196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2026-08-24T06:56:33.3600000Z</dcterms:created>
  <dcterms:modified xsi:type="dcterms:W3CDTF">2026-08-24T06:56:33.3600000Z</dcterms:modified>
</coreProperties>
</file>