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b785762782f4a55" /><Relationship Type="http://schemas.openxmlformats.org/officeDocument/2006/relationships/extended-properties" Target="/docProps/app.xml" Id="Rf1470f7a57f343b0" /><Relationship Type="http://schemas.openxmlformats.org/officeDocument/2006/relationships/officeDocument" Target="/ppt/presentation.xml" Id="Ref581e38088642f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ab20f6b7a794861"/>
  </p:sldMasterIdLst>
  <p:notesMasterIdLst>
    <p:notesMasterId xmlns:r="http://schemas.openxmlformats.org/officeDocument/2006/relationships" r:id="R5d4fac6174e447ee"/>
  </p:notesMasterIdLst>
  <p:sldIdLst>
    <p:sldId xmlns:r="http://schemas.openxmlformats.org/officeDocument/2006/relationships" id="256" r:id="R97a9c27cf7df4405"/>
    <p:sldId xmlns:r="http://schemas.openxmlformats.org/officeDocument/2006/relationships" id="257" r:id="R460167472ad14883"/>
    <p:sldId xmlns:r="http://schemas.openxmlformats.org/officeDocument/2006/relationships" id="258" r:id="R9bbe4376f5d64dbb"/>
    <p:sldId xmlns:r="http://schemas.openxmlformats.org/officeDocument/2006/relationships" id="259" r:id="R7c22dbdc0bc547cd"/>
    <p:sldId xmlns:r="http://schemas.openxmlformats.org/officeDocument/2006/relationships" id="260" r:id="Ra8de8951e1004e62"/>
    <p:sldId xmlns:r="http://schemas.openxmlformats.org/officeDocument/2006/relationships" id="261" r:id="R4a7fa376bf7f4486"/>
    <p:sldId xmlns:r="http://schemas.openxmlformats.org/officeDocument/2006/relationships" id="262" r:id="R67005ad3cd65460c"/>
    <p:sldId xmlns:r="http://schemas.openxmlformats.org/officeDocument/2006/relationships" id="263" r:id="R560e660c9d494336"/>
    <p:sldId xmlns:r="http://schemas.openxmlformats.org/officeDocument/2006/relationships" id="264" r:id="R969ebabaee154553"/>
    <p:sldId xmlns:r="http://schemas.openxmlformats.org/officeDocument/2006/relationships" id="265" r:id="R0d7427dfc156436e"/>
    <p:sldId xmlns:r="http://schemas.openxmlformats.org/officeDocument/2006/relationships" id="266" r:id="R6900db9cb4b84dd2"/>
    <p:sldId xmlns:r="http://schemas.openxmlformats.org/officeDocument/2006/relationships" id="267" r:id="R3111ed16dca14869"/>
  </p:sldIdLst>
  <p:sldSz cx="7562850" cy="106965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92efc9b7f244a01" /><Relationship Type="http://schemas.openxmlformats.org/officeDocument/2006/relationships/slideMaster" Target="/ppt/slideMasters/slideMaster1.xml" Id="Reab20f6b7a794861" /><Relationship Type="http://schemas.openxmlformats.org/officeDocument/2006/relationships/notesMaster" Target="/ppt/notesMasters/notesMaster1.xml" Id="R5d4fac6174e447ee" /><Relationship Type="http://schemas.openxmlformats.org/officeDocument/2006/relationships/presProps" Target="/ppt/presProps.xml" Id="Rd6b60438aa974ba4" /><Relationship Type="http://schemas.openxmlformats.org/officeDocument/2006/relationships/tableStyles" Target="/ppt/tableStyles.xml" Id="R5bcddc94c8f74676" /><Relationship Type="http://schemas.openxmlformats.org/officeDocument/2006/relationships/slide" Target="/ppt/slides/slide1.xml" Id="R97a9c27cf7df4405" /><Relationship Type="http://schemas.openxmlformats.org/officeDocument/2006/relationships/slide" Target="/ppt/slides/slide2.xml" Id="R460167472ad14883" /><Relationship Type="http://schemas.openxmlformats.org/officeDocument/2006/relationships/slide" Target="/ppt/slides/slide3.xml" Id="R9bbe4376f5d64dbb" /><Relationship Type="http://schemas.openxmlformats.org/officeDocument/2006/relationships/slide" Target="/ppt/slides/slide4.xml" Id="R7c22dbdc0bc547cd" /><Relationship Type="http://schemas.openxmlformats.org/officeDocument/2006/relationships/slide" Target="/ppt/slides/slide5.xml" Id="Ra8de8951e1004e62" /><Relationship Type="http://schemas.openxmlformats.org/officeDocument/2006/relationships/slide" Target="/ppt/slides/slide6.xml" Id="R4a7fa376bf7f4486" /><Relationship Type="http://schemas.openxmlformats.org/officeDocument/2006/relationships/slide" Target="/ppt/slides/slide7.xml" Id="R67005ad3cd65460c" /><Relationship Type="http://schemas.openxmlformats.org/officeDocument/2006/relationships/slide" Target="/ppt/slides/slide8.xml" Id="R560e660c9d494336" /><Relationship Type="http://schemas.openxmlformats.org/officeDocument/2006/relationships/slide" Target="/ppt/slides/slide9.xml" Id="R969ebabaee154553" /><Relationship Type="http://schemas.openxmlformats.org/officeDocument/2006/relationships/slide" Target="/ppt/slides/slide10.xml" Id="R0d7427dfc156436e" /><Relationship Type="http://schemas.openxmlformats.org/officeDocument/2006/relationships/slide" Target="/ppt/slides/slide11.xml" Id="R6900db9cb4b84dd2" /><Relationship Type="http://schemas.openxmlformats.org/officeDocument/2006/relationships/slide" Target="/ppt/slides/slide12.xml" Id="R3111ed16dca1486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90aa9a58e764e0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85ddea8f5f4439e" /><Relationship Type="http://schemas.openxmlformats.org/officeDocument/2006/relationships/notesMaster" Target="/ppt/notesMasters/notesMaster1.xml" Id="Re324fd7483dc440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1b3606d03464b8b" /><Relationship Type="http://schemas.openxmlformats.org/officeDocument/2006/relationships/notesMaster" Target="/ppt/notesMasters/notesMaster1.xml" Id="R9e4e50ddf08b48b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c20323e780e4b66" /><Relationship Type="http://schemas.openxmlformats.org/officeDocument/2006/relationships/notesMaster" Target="/ppt/notesMasters/notesMaster1.xml" Id="Rf730eb583a4c46d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0b9c4e024784c49" /><Relationship Type="http://schemas.openxmlformats.org/officeDocument/2006/relationships/notesMaster" Target="/ppt/notesMasters/notesMaster1.xml" Id="Rb180b5ab12e74be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849c6b7946c431b" /><Relationship Type="http://schemas.openxmlformats.org/officeDocument/2006/relationships/notesMaster" Target="/ppt/notesMasters/notesMaster1.xml" Id="R58bc964c9665430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5c90334e6d1446a" /><Relationship Type="http://schemas.openxmlformats.org/officeDocument/2006/relationships/notesMaster" Target="/ppt/notesMasters/notesMaster1.xml" Id="R404e2f7bc9c0485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ebff3fc82264a57" /><Relationship Type="http://schemas.openxmlformats.org/officeDocument/2006/relationships/notesMaster" Target="/ppt/notesMasters/notesMaster1.xml" Id="Rf24f0212cfa0429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762537bf3204d64" /><Relationship Type="http://schemas.openxmlformats.org/officeDocument/2006/relationships/notesMaster" Target="/ppt/notesMasters/notesMaster1.xml" Id="Rf490eb0175cf4bd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f916f68d3aa440a" /><Relationship Type="http://schemas.openxmlformats.org/officeDocument/2006/relationships/notesMaster" Target="/ppt/notesMasters/notesMaster1.xml" Id="Re9eb37f2b1fe4b2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3d649b3209f4611" /><Relationship Type="http://schemas.openxmlformats.org/officeDocument/2006/relationships/notesMaster" Target="/ppt/notesMasters/notesMaster1.xml" Id="R61b95ed93fd343d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2aa2227e0ff410e" /><Relationship Type="http://schemas.openxmlformats.org/officeDocument/2006/relationships/notesMaster" Target="/ppt/notesMasters/notesMaster1.xml" Id="R9c522b8b48934ae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ad7d74ea812476e" /><Relationship Type="http://schemas.openxmlformats.org/officeDocument/2006/relationships/notesMaster" Target="/ppt/notesMasters/notesMaster1.xml" Id="Re17872a85b1a4ba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docs/marketing/assets/fde-tech-light-path-v1.png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https://openai.com/business/guides-and-resources/a-practical-guide-to-building-ai-agents/</a:t>
            </a:r>
          </a:p>
          <a:p xmlns:a="http://schemas.openxmlformats.org/drawingml/2006/main">
            <a:r>
              <a:t>- https://cloud.google.com/resources/core-concepts-ai-agents</a:t>
            </a:r>
          </a:p>
          <a:p xmlns:a="http://schemas.openxmlformats.org/drawingml/2006/main">
            <a:r>
              <a:t>- https://www.anthropic.com/research/claude-code-expertise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https://openai.com/index/1-million-businesses-putting-ai-to-work/</a:t>
            </a:r>
          </a:p>
          <a:p xmlns:a="http://schemas.openxmlformats.org/drawingml/2006/main">
            <a:r>
              <a:t>- https://openai.com/index/how-enterprises-put-ai-to-work/</a:t>
            </a:r>
          </a:p>
          <a:p xmlns:a="http://schemas.openxmlformats.org/drawingml/2006/main">
            <a:r>
              <a:t>- https://openai.com/index/introducing-openai-frontier/</a:t>
            </a:r>
          </a:p>
          <a:p xmlns:a="http://schemas.openxmlformats.org/drawingml/2006/main">
            <a:r>
              <a:t>- https://cloud.google.com/customers/telus-gemini-enterprise-cx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674612d8864d6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55ad6538cc542ea" /><Relationship Type="http://schemas.openxmlformats.org/officeDocument/2006/relationships/slideLayout" Target="/ppt/slideLayouts/slideLayout1.xml" Id="R11efb5bfeb2c4c5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1efb5bfeb2c4c5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922ef34ce349b1" /><Relationship Type="http://schemas.openxmlformats.org/officeDocument/2006/relationships/image" Target="/ppt/media/image.png" Id="R5e252c5b3a244c6b" /><Relationship Type="http://schemas.openxmlformats.org/officeDocument/2006/relationships/notesSlide" Target="/ppt/notesSlides/notesSlide1.xml" Id="R3223bd8613fa424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343e532ace41fe" /><Relationship Type="http://schemas.openxmlformats.org/officeDocument/2006/relationships/notesSlide" Target="/ppt/notesSlides/notesSlide2.xml" Id="R8e4d22c7b6e14d1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ef642da1de46b3" /><Relationship Type="http://schemas.openxmlformats.org/officeDocument/2006/relationships/notesSlide" Target="/ppt/notesSlides/notesSlide3.xml" Id="R8708bc892b25470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422f90099d4dc8" /><Relationship Type="http://schemas.openxmlformats.org/officeDocument/2006/relationships/notesSlide" Target="/ppt/notesSlides/notesSlide4.xml" Id="R7d9df3394b064ef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e7eb6aea1a40ed" /><Relationship Type="http://schemas.openxmlformats.org/officeDocument/2006/relationships/notesSlide" Target="/ppt/notesSlides/notesSlide5.xml" Id="Rd8d7465cccca440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a792a15340478e" /><Relationship Type="http://schemas.openxmlformats.org/officeDocument/2006/relationships/notesSlide" Target="/ppt/notesSlides/notesSlide6.xml" Id="Rc5297d4beb5646c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7db0e3c94844f1" /><Relationship Type="http://schemas.openxmlformats.org/officeDocument/2006/relationships/notesSlide" Target="/ppt/notesSlides/notesSlide7.xml" Id="Rfea5afdc8f3c44f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f3d264a71f4300" /><Relationship Type="http://schemas.openxmlformats.org/officeDocument/2006/relationships/notesSlide" Target="/ppt/notesSlides/notesSlide8.xml" Id="Rabac5415883d4da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683c554da9498a" /><Relationship Type="http://schemas.openxmlformats.org/officeDocument/2006/relationships/notesSlide" Target="/ppt/notesSlides/notesSlide9.xml" Id="R996173b04277429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ada4197e8842f1" /><Relationship Type="http://schemas.openxmlformats.org/officeDocument/2006/relationships/notesSlide" Target="/ppt/notesSlides/notesSlide10.xml" Id="R9a1be25bb4fa40d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967dc2e6c54db5" /><Relationship Type="http://schemas.openxmlformats.org/officeDocument/2006/relationships/notesSlide" Target="/ppt/notesSlides/notesSlide11.xml" Id="R03f4969c75bf4de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baa79bea3a4adf" /><Relationship Type="http://schemas.openxmlformats.org/officeDocument/2006/relationships/notesSlide" Target="/ppt/notesSlides/notesSlide12.xml" Id="R6d4e43b1c88546a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CBCA3C-454F-4AC4-8E3D-2BA1E3075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FDE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2CA9F7-7B7D-48EA-B2E0-F3F160F80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0">
                <a:solidFill>
                  <a:srgbClr val="070707"/>
                </a:solidFill>
              </a:defRPr>
            </a:pPr>
            <a:r>
              <a:rPr sz="3600" b="0">
                <a:solidFill>
                  <a:srgbClr val="070707"/>
                </a:solidFill>
              </a:rPr>
              <a:t>Your company wants to use AI.</a:t>
            </a:r>
          </a:p>
          <a:p xmlns:a="http://schemas.openxmlformats.org/drawingml/2006/main">
            <a:pPr algn="l">
              <a:buNone/>
              <a:defRPr sz="3600" b="0">
                <a:solidFill>
                  <a:srgbClr val="070707"/>
                </a:solidFill>
              </a:defRPr>
            </a:pPr>
            <a:r>
              <a:rPr sz="3600" b="0">
                <a:solidFill>
                  <a:srgbClr val="070707"/>
                </a:solidFill>
              </a:rPr>
              <a:t>Where should it start?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0F1DF9-59C9-4554-8A05-9FFCDBF11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0"/>
            <a:ext cx="653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An FDE works inside the business to find the right first problem,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then turns it into a system people use and results can prove.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252c5b3a244c6b"/>
          <a:srcRect xmlns:a="http://schemas.openxmlformats.org/drawingml/2006/main" l="612" t="0" r="61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4333875"/>
            <a:ext cx="6534150" cy="44100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1D74A1-7765-470F-B333-AAA898A80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916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03" b="1">
                <a:solidFill>
                  <a:srgbClr val="070707"/>
                </a:solidFill>
              </a:defRPr>
            </a:pPr>
            <a:r>
              <a:rPr sz="803" b="1">
                <a:solidFill>
                  <a:srgbClr val="070707"/>
                </a:solidFill>
              </a:rPr>
              <a:t>Business assessment | Workflow redesign | Skills | Custom SaaS | Databases | Agents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6C83F5-28FB-4508-BC24-EE11BE1C2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9096375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88" b="1">
                <a:solidFill>
                  <a:srgbClr val="070707"/>
                </a:solidFill>
              </a:defRPr>
            </a:pPr>
            <a:r>
              <a:rPr sz="788" b="1">
                <a:solidFill>
                  <a:srgbClr val="070707"/>
                </a:solidFill>
              </a:rPr>
              <a:t>Event offer: complimentary enterprise AI assessment</a:t>
            </a:r>
          </a:p>
          <a:p xmlns:a="http://schemas.openxmlformats.org/drawingml/2006/main">
            <a:pPr algn="r">
              <a:buNone/>
              <a:defRPr sz="788" b="1">
                <a:solidFill>
                  <a:srgbClr val="070707"/>
                </a:solidFill>
              </a:defRPr>
            </a:pPr>
            <a:r>
              <a:rPr sz="788" b="1">
                <a:solidFill>
                  <a:srgbClr val="070707"/>
                </a:solidFill>
              </a:rPr>
              <a:t>10 companies per day</a:t>
            </a:r>
          </a:p>
        </p:txBody>
      </p:sp>
    </p:spTree>
    <p:extLst>
      <p:ext uri="{BB962C8B-B14F-4D97-AF65-F5344CB8AC3E}">
        <p14:creationId xmlns:p14="http://schemas.microsoft.com/office/powerpoint/2010/main" val="2170058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D9D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C513DB-BF7E-43DF-B1C9-0ED6443FA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65341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750" b="0">
                <a:solidFill>
                  <a:srgbClr val="070707"/>
                </a:solidFill>
              </a:defRPr>
            </a:pPr>
            <a:r>
              <a:rPr sz="3750" b="0">
                <a:solidFill>
                  <a:srgbClr val="070707"/>
                </a:solidFill>
              </a:rPr>
              <a:t>AI can now</a:t>
            </a:r>
          </a:p>
          <a:p xmlns:a="http://schemas.openxmlformats.org/drawingml/2006/main">
            <a:pPr algn="l">
              <a:buNone/>
              <a:defRPr sz="3750" b="0">
                <a:solidFill>
                  <a:srgbClr val="070707"/>
                </a:solidFill>
              </a:defRPr>
            </a:pPr>
            <a:r>
              <a:rPr sz="3750" b="0">
                <a:solidFill>
                  <a:srgbClr val="070707"/>
                </a:solidFill>
              </a:rPr>
              <a:t>do the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11AFA5-B18F-4A18-B8FE-342CBD370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14650"/>
            <a:ext cx="653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10" b="0">
                <a:solidFill>
                  <a:srgbClr val="070707"/>
                </a:solidFill>
              </a:defRPr>
            </a:pPr>
            <a:r>
              <a:rPr sz="1110" b="0">
                <a:solidFill>
                  <a:srgbClr val="070707"/>
                </a:solidFill>
              </a:rPr>
              <a:t>We used to complete every step manually.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373B06-31B4-4563-971A-773DAAE0C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76625"/>
            <a:ext cx="6534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70707"/>
                </a:solidFill>
              </a:defRPr>
            </a:pPr>
            <a:r>
              <a:rPr sz="1088" b="0">
                <a:solidFill>
                  <a:srgbClr val="070707"/>
                </a:solidFill>
              </a:rPr>
              <a:t>Agents can now read documents, retrieve data, use tools, and complete a sequence of tasks. When review is required, they hand the decision back to a person.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97B1CF-57DE-47D0-B6F3-13699F07D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HOW THE OPERATING MODEL CHANGES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272E23-4A92-4887-9D0D-A08A5F434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958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80FC0C-2845-49C8-9D82-0DEC9880B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10150"/>
            <a:ext cx="6305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8" b="0">
                <a:solidFill>
                  <a:srgbClr val="070707"/>
                </a:solidFill>
              </a:defRPr>
            </a:pPr>
            <a:r>
              <a:rPr sz="968" b="0">
                <a:solidFill>
                  <a:srgbClr val="070707"/>
                </a:solidFill>
              </a:rPr>
              <a:t>Agents take on repetitive execution.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F63C99-1CAD-43F7-8AD0-D736FB553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530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E69D54-5106-4804-896F-B94FE18C4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67350"/>
            <a:ext cx="6305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8" b="0">
                <a:solidFill>
                  <a:srgbClr val="070707"/>
                </a:solidFill>
              </a:defRPr>
            </a:pPr>
            <a:r>
              <a:rPr sz="968" b="0">
                <a:solidFill>
                  <a:srgbClr val="070707"/>
                </a:solidFill>
              </a:rPr>
              <a:t>People remain responsible for goals, judgment, and review.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0D4442-1503-4746-A335-21D033390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102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AD063C-422F-4828-98E9-165958C6F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24550"/>
            <a:ext cx="6305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8" b="0">
                <a:solidFill>
                  <a:srgbClr val="070707"/>
                </a:solidFill>
              </a:defRPr>
            </a:pPr>
            <a:r>
              <a:rPr sz="968" b="0">
                <a:solidFill>
                  <a:srgbClr val="070707"/>
                </a:solidFill>
              </a:rPr>
              <a:t>One manager can direct several agents.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D632CE-AD26-41C0-B48C-F6C63AA6A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674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67C91D-DD28-43C2-A47E-58049D505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81750"/>
            <a:ext cx="6305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8" b="0">
                <a:solidFill>
                  <a:srgbClr val="070707"/>
                </a:solidFill>
              </a:defRPr>
            </a:pPr>
            <a:r>
              <a:rPr sz="968" b="0">
                <a:solidFill>
                  <a:srgbClr val="070707"/>
                </a:solidFill>
              </a:rPr>
              <a:t>Companies can turn working knowledge into reusable workflows and Skills.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8D575A-DFC0-44FB-BC37-CF8D4F470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1056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EC740E-2BCA-4758-820C-B34BE59A5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29450"/>
            <a:ext cx="6305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40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In 2025, Microsoft introduced the idea of the Agent Boss: an employee who builds, delegates to, and manages agents.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368766-B019-48ED-88C9-B3F5A346B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866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4D88A5-395E-4F4A-87A1-853362EA3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10450"/>
            <a:ext cx="6305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40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OpenAI defines agents as systems that can complete workflows on a user’s behalf, rather than simply answer questions.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0094AB-64AA-4C2F-AC05-5F23264D0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676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2CEAB1-059B-4330-822B-BC9B37200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791450"/>
            <a:ext cx="6305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40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Google describes enterprise agents as systems that connect models with company data, tools, memory, orchestration, and runtime infrastructure.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E091CF-1DC1-471A-9231-02E6AAD6F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2486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91C02C-33AD-40A7-814B-90C5C0A45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172450"/>
            <a:ext cx="6305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40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Anthropic’s research suggests that people tend to decide what should be done, while agents make more of the execution decisions about how to do it.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0BB2E8-6931-488C-8D14-473F98C97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14E9CB-6887-4AFD-B879-75BA34C44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39200"/>
            <a:ext cx="6534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Operating efficiency will diverge with how AI-native a company becomes.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7D600F-C585-4D23-B061-933F47501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F7AC05-8B83-4BC5-B3D2-1301BC959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8062395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A41D9D-B1E9-4402-8B9B-DB9EF72C3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0">
                <a:solidFill>
                  <a:srgbClr val="070707"/>
                </a:solidFill>
              </a:defRPr>
            </a:pPr>
            <a:r>
              <a:rPr sz="3150" b="0">
                <a:solidFill>
                  <a:srgbClr val="070707"/>
                </a:solidFill>
              </a:rPr>
              <a:t>The numbers are already moving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96FFC7-79DA-46A8-84B9-A37617DEB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81%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CE5CFC-3974-431F-82C6-E0680FE7F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5240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73" b="1">
                <a:solidFill>
                  <a:srgbClr val="070707"/>
                </a:solidFill>
              </a:defRPr>
            </a:pPr>
            <a:r>
              <a:rPr sz="1073" b="1">
                <a:solidFill>
                  <a:srgbClr val="070707"/>
                </a:solidFill>
              </a:rPr>
              <a:t>Microsoft’s 2025 Work Trend Index surveyed 31,000 workers across 31 countries. 81% of surveyed leaders expected agents to enter their company’s AI strategy within 12–18 months.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4BBB4A-B36B-4248-8A06-C6E100918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525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Microsoft · 2025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36BB50-9244-4C4C-BC5C-F06A04A9A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4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CC3C4F-2E6E-43A6-846C-BEEF2423D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861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1M+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98CC75-ADBC-4035-8D67-8E0691634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0861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73" b="1">
                <a:solidFill>
                  <a:srgbClr val="070707"/>
                </a:solidFill>
              </a:defRPr>
            </a:pPr>
            <a:r>
              <a:rPr sz="1073" b="1">
                <a:solidFill>
                  <a:srgbClr val="070707"/>
                </a:solidFill>
              </a:rPr>
              <a:t>In 2025, OpenAI reported more than one million business customers.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2CA252-0A26-4ED8-BF2F-0BB4AF226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146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OpenAI · 2025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E0D8C5-1E17-438E-B53E-B6B812C92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CB7E5E-4DF8-4DDD-9138-16E2F0BC5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482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108×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0FEC66-96D3-4F41-BC47-DBD3651AA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6482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73" b="1">
                <a:solidFill>
                  <a:srgbClr val="070707"/>
                </a:solidFill>
              </a:defRPr>
            </a:pPr>
            <a:r>
              <a:rPr sz="1073" b="1">
                <a:solidFill>
                  <a:srgbClr val="070707"/>
                </a:solidFill>
              </a:rPr>
              <a:t>Since February, weekly active Codex users grew 108× in legal, 41× in sales, 41× in recruiting, and 26× in marketing.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1517C2-F84B-4DF8-8ED1-30E967365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767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OpenAI ·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AD62D6-E7E8-4B5A-A7AC-1E2FFF813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433D8B-4583-4B65-BEFD-61A139E1F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B96F57-34BF-48E4-A402-DAD9088A0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008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070707"/>
                </a:solidFill>
              </a:defRPr>
            </a:pPr>
            <a:r>
              <a:rPr sz="788" b="1">
                <a:solidFill>
                  <a:srgbClr val="070707"/>
                </a:solidFill>
              </a:rPr>
              <a:t>PUBLIC EXAMPLES ALREADY IN PRODUCTION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7B9025-D16A-4C2A-89D7-5985DFAA9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Cisco: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841BD7-A747-4AE9-AE83-2E722C24E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5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OpenAI reports that Codex reduced code review time by 50% and shortened some projects from weeks to days.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C64831-4FE7-42D1-9384-4CBAC0DA6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Carlyle: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B8ACF1-275F-434D-BD86-0D6D57C50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5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Its multi-agent due diligence framework reportedly cut development time by more than 50% and improved agent accuracy by 30%.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306452-7062-4B90-AEC9-472D4C2C5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TELUS: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DDE42C-F9F8-45A8-9AFA-839DCBBF2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5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A Google Cloud customer story reports $53.9 million in annual savings, 87% faster issue resolution, and 30% of calls resolved proactively with AI.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9D1744-2138-4642-9D8E-7F0C898EC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Lowe’s: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FA207E-4F42-4965-AB66-18DCB423D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5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OpenAI reports that Lowe’s provides AI-powered project guidance to associates across more than 1,700 stores.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8518B4-BF33-45EA-8177-9A2EB4297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FF1B0A-CA8B-4E88-8387-171A9FAF6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8170032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082551A-3177-4478-8288-84952B09A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75" b="0">
                <a:solidFill>
                  <a:srgbClr val="070707"/>
                </a:solidFill>
              </a:defRPr>
            </a:pPr>
            <a:r>
              <a:rPr sz="2775" b="0">
                <a:solidFill>
                  <a:srgbClr val="070707"/>
                </a:solidFill>
              </a:rPr>
              <a:t>Leaders want higher efficiency,</a:t>
            </a:r>
          </a:p>
          <a:p xmlns:a="http://schemas.openxmlformats.org/drawingml/2006/main">
            <a:pPr algn="l">
              <a:buNone/>
              <a:defRPr sz="2775" b="0">
                <a:solidFill>
                  <a:srgbClr val="070707"/>
                </a:solidFill>
              </a:defRPr>
            </a:pPr>
            <a:r>
              <a:rPr sz="2775" b="0">
                <a:solidFill>
                  <a:srgbClr val="070707"/>
                </a:solidFill>
              </a:rPr>
              <a:t>but do not know where to begin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669C03-9532-4122-B139-C4A9CAD39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MANY COMPANIES HAVE ALREADY TRIED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BC8C3F-EC34-465D-8AD4-FD088981F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383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A0B92E-AA9D-4816-AD86-3C144A1DA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52650"/>
            <a:ext cx="6305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Employees have subscriptions but use them only occasionally.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607B19-81D9-4A85-8625-AD680B221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336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7E73B8-E97D-4A23-BB0D-FF373BACE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47925"/>
            <a:ext cx="6305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A demo looked good, but nobody used it after launch.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A924D8-FB93-4098-B0CA-34FC6EA12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2892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6BA9A2-7269-4540-8062-7409F3819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43200"/>
            <a:ext cx="6305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Other companies’ cases do not fit the way this company works.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002381-0B5A-42A1-9118-F628BDFFE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2420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64E307-6241-458F-9E2C-12B7DDFE0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38475"/>
            <a:ext cx="6305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Every department has ideas, but nobody can set priorities.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A05453-BB3F-4FA3-B617-F990FF020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194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62AC54-9719-4A1F-AAEB-BB54C0E07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0"/>
            <a:ext cx="6305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Information is scattered across chat, spreadsheets, PDFs, drives, and personal computers.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8CF6F3-C60C-4669-A964-87E4BAC7C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147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643AAC-720A-4887-AB9A-AD52EC582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29025"/>
            <a:ext cx="6305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Leaders worry about security and do not know how much authority an agent should have.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FA7815-894D-41DD-8773-675A1552B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5765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AI transformation crosses four boundaries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C79B02-FACB-49D5-BECF-D901A9657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00550"/>
            <a:ext cx="653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1">
                <a:solidFill>
                  <a:srgbClr val="070707"/>
                </a:solidFill>
              </a:defRPr>
            </a:pPr>
            <a:r>
              <a:rPr sz="1005" b="1">
                <a:solidFill>
                  <a:srgbClr val="070707"/>
                </a:solidFill>
              </a:rPr>
              <a:t>The outcome leadership wants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299F4A-6C02-41CF-8179-415815139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05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7EDED3-060F-49A9-A6B1-0F4E9E277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43450"/>
            <a:ext cx="653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1">
                <a:solidFill>
                  <a:srgbClr val="070707"/>
                </a:solidFill>
              </a:defRPr>
            </a:pPr>
            <a:r>
              <a:rPr sz="1005" b="1">
                <a:solidFill>
                  <a:srgbClr val="070707"/>
                </a:solidFill>
              </a:rPr>
              <a:t>How frontline work actually happens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220E28-2255-4503-ACAF-5FB803624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F23E11-1341-4F90-AC74-795B9712B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86350"/>
            <a:ext cx="653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1">
                <a:solidFill>
                  <a:srgbClr val="070707"/>
                </a:solidFill>
              </a:defRPr>
            </a:pPr>
            <a:r>
              <a:rPr sz="1005" b="1">
                <a:solidFill>
                  <a:srgbClr val="070707"/>
                </a:solidFill>
              </a:rPr>
              <a:t>Where the data and systems live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4FA846-236F-4AEE-8793-EECFC9AD2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91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DB3E0C-8C00-4F66-96D6-F357805E5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653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1">
                <a:solidFill>
                  <a:srgbClr val="070707"/>
                </a:solidFill>
              </a:defRPr>
            </a:pPr>
            <a:r>
              <a:rPr sz="1005" b="1">
                <a:solidFill>
                  <a:srgbClr val="070707"/>
                </a:solidFill>
              </a:rPr>
              <a:t>How the solution gets built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964490-5FB2-4AD4-8DBA-932C21E9B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653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Leave out one layer and the project often stalls.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300AF1-FF09-486D-8EDF-6D29752E1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WHY INTERNAL PROJECTS STALL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0B3F10-BB82-4B9D-9025-1F351F02B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056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Listen only to leadership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AC064A-5026-409A-9C2C-CA916C33F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705600"/>
            <a:ext cx="471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The ambition is broad, but the first practical job remains unclear.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BF782E-8CC7-4FD5-82A1-AA9C24BCA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153275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C6EC97-42B0-498B-96C0-9686EA0ED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009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Listen only to frontline teams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1B945E-9AA4-47DE-A3E9-68BA09F58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200900"/>
            <a:ext cx="471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You collect scattered requests but cannot identify the best investment.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8F3C16-57E2-4254-A5ED-37E1372D7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648575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11FA649-0679-4AF8-86F2-3A04ACE2E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696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Start with a software vendor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68B1C6B-FBCF-423C-83D4-5CDF31B1A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696200"/>
            <a:ext cx="471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The vendor needs clear requirements—the thing the company still lacks.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2F3A24-080D-4BB3-AA6D-93C957FF0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43875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F831BC0-C003-4D47-94E6-D73284DF6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Buy a standard product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F0A8932-2DC2-436E-920C-7314791D1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191500"/>
            <a:ext cx="471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Deployment is fast, but the workflow may not fit.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3366AC2-AEBC-47A3-AD14-8535FEE3F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39175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A3EB13C-0D71-4E43-8491-D511E15B4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868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Build a large platform first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FE99549-D4D1-44C6-8BCD-491704E6A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686800"/>
            <a:ext cx="471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Time and money are committed before business value is tested.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CD4E6F0-E51D-4B32-A49F-A53377D17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353550"/>
            <a:ext cx="653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23" b="1">
                <a:solidFill>
                  <a:srgbClr val="070707"/>
                </a:solidFill>
              </a:defRPr>
            </a:pPr>
            <a:r>
              <a:rPr sz="923" b="1">
                <a:solidFill>
                  <a:srgbClr val="070707"/>
                </a:solidFill>
              </a:rPr>
              <a:t>A company needs someone who can connect business, product, and technology. That is the FDE’s role.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22D9760-3FE5-406D-86CF-959B71FE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D09688F-79CC-4C11-BA8D-9002BA143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8328364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66D293-CC18-45DA-8C45-FA20F1719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75" b="0">
                <a:solidFill>
                  <a:srgbClr val="070707"/>
                </a:solidFill>
              </a:defRPr>
            </a:pPr>
            <a:r>
              <a:rPr sz="2775" b="0">
                <a:solidFill>
                  <a:srgbClr val="070707"/>
                </a:solidFill>
              </a:rPr>
              <a:t>An FDE starts with ambiguity</a:t>
            </a:r>
          </a:p>
          <a:p xmlns:a="http://schemas.openxmlformats.org/drawingml/2006/main">
            <a:pPr algn="l">
              <a:buNone/>
              <a:defRPr sz="2775" b="0">
                <a:solidFill>
                  <a:srgbClr val="070707"/>
                </a:solidFill>
              </a:defRPr>
            </a:pPr>
            <a:r>
              <a:rPr sz="2775" b="0">
                <a:solidFill>
                  <a:srgbClr val="070707"/>
                </a:solidFill>
              </a:rPr>
              <a:t>and stays until results can be tested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051C7A-3AB2-4D4C-A00A-2B7DB3F14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38375"/>
            <a:ext cx="65341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95" b="0">
                <a:solidFill>
                  <a:srgbClr val="070707"/>
                </a:solidFill>
              </a:defRPr>
            </a:pPr>
            <a:r>
              <a:rPr sz="1095" b="0">
                <a:solidFill>
                  <a:srgbClr val="070707"/>
                </a:solidFill>
              </a:rPr>
              <a:t>A Forward Deployed Engineer does more than write code at a customer site.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095" b="0">
                <a:solidFill>
                  <a:srgbClr val="070707"/>
                </a:solidFill>
              </a:defRPr>
            </a:pPr>
            <a:r>
              <a:rPr sz="1095" b="0">
                <a:solidFill>
                  <a:srgbClr val="070707"/>
                </a:solidFill>
              </a:rPr>
              <a:t>The work starts by observing the business: why leadership wants AI, what employees do each day, where the data lives, and where time, errors, or slow response hurt the company.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378AFB-0DC1-41A1-A248-6BAA41426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A9430B-2994-421D-BA86-0A950D2E5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Once the problem is clear, the FDE chooses how to solve it: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A18334-98EF-4860-B444-552E33A6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F56634-FFC6-462E-9ED1-262CAEEC0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863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0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Use an existing product when it already solves the problem.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EBFCCA-77AC-4E82-B953-4C7F2F0B1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0552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6C8820-3BF1-4F9A-9DC2-42DD7AA71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9602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FC2FCD-046A-4604-848F-78FF4A2B5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5315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0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Build a Skill when a Skill is enough.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2A0B29-EC03-46A6-9E83-7B5A49E15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97230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86DAF9-99C6-43F4-A618-76E43B212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16280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1036E0-539F-440E-912D-83BA6E311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1992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0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Integrate with existing systems when the workflow crosses tools.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6134B8-FCB9-497F-ADC3-17BE48F78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3907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BC4E9C-4084-430E-833A-2343E98B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295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3A4518-551D-4C83-8BFB-D51449F20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8670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0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Create a database or knowledge base when the data must be organized first.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52F5E6-11A1-4F97-BBC2-3253821F8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0585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3F4290-9321-430D-B420-9E12761DA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963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C09567-C15A-44B6-A22B-5062D2040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534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0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Design the division of work between people and agents when the workflow is suitable.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0013E1-F511-4A75-B777-DD30BA63F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6A85D2-98EF-483C-BF0B-F604DF92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8282359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BA23301-5D76-4643-8493-EF4EF5D0E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From one small tool</a:t>
            </a:r>
          </a:p>
          <a:p xmlns:a="http://schemas.openxmlformats.org/drawingml/2006/main">
            <a:pPr algn="l">
              <a:buNone/>
              <a:defRPr sz="28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to a company-wide AI upgrade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8C3C7D-C118-424D-905D-A05AFADFC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0035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A5DD41-9C88-45C5-83A7-A209622C9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3847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38" b="1">
                <a:solidFill>
                  <a:srgbClr val="070707"/>
                </a:solidFill>
              </a:defRPr>
            </a:pPr>
            <a:r>
              <a:rPr sz="1238" b="1">
                <a:solidFill>
                  <a:srgbClr val="070707"/>
                </a:solidFill>
              </a:rPr>
              <a:t>One specific 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28C932-FA23-4714-8F70-DB9D28541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09975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46918B-6626-48A7-8639-248CD1EBC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43300"/>
            <a:ext cx="1514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Company-specific Skills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193663-8F63-4B76-B053-593CD639E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81450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365F96-9A79-4B25-8B09-3CADE0D06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14775"/>
            <a:ext cx="1514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Quotation, entry, reconciliation, and reporting automation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33DDD4-70C8-458E-AE1E-5A04BD405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609975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B92183-4D5D-4DA8-A48B-EAA784A5C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3543300"/>
            <a:ext cx="150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Document, spreadsheet, and image processing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DE1B32-ADD2-472B-B5A0-60051C2EC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981450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3268C4-0396-4CE5-A176-EDF77DBD4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3914775"/>
            <a:ext cx="150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Small custom SaaS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3D4290-E322-47F8-BD4A-124B6AEC3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339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BAEF88-EF3A-4446-AB75-E99A07AB5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10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Best when the problem is clear and results are needed quickly.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B27C6A-59A1-4817-A908-49758992F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57775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7B3941-FFBC-40B3-89D3-4CF83343A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95900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38" b="1">
                <a:solidFill>
                  <a:srgbClr val="070707"/>
                </a:solidFill>
              </a:defRPr>
            </a:pPr>
            <a:r>
              <a:rPr sz="1238" b="1">
                <a:solidFill>
                  <a:srgbClr val="070707"/>
                </a:solidFill>
              </a:rPr>
              <a:t>One business workflow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FD2955-F690-4114-8A3A-312E48802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67400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FEED9C-D229-4E90-A262-970A110C6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00725"/>
            <a:ext cx="1514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Interviews and workflow mapping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81509E-7C8B-4DB2-92CE-81AAB1CB7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38875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61D74A-CAC8-41F3-9959-A9D11CED3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72200"/>
            <a:ext cx="1514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ERP, CRM, collaboration, and messaging integrations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DA7777-92CF-4C99-9CD7-6FD8BD925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10350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ACD471-E9EE-4D08-9170-84AD0A722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43675"/>
            <a:ext cx="1514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Progress, result, and activity records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96B310-A599-43C1-84DF-723D572D0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5867400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2E991F-49AC-4DFB-9207-223E2DADA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5800725"/>
            <a:ext cx="150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Role-specific agents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116E84-8886-49CC-BF26-E3673E4A5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6238875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680156-2AD2-4332-B6C6-0335550C0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6172200"/>
            <a:ext cx="150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Exception handling and human approval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9D6008-507E-46E7-B7AF-CAED1BC51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91325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4C13C6-A3BC-4CAE-8C22-4F7596685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43725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10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Best when work crosses people and systems through manual handoffs.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8073BD-B02E-408F-B4DB-6DAB70B24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1520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2443021-4B9C-4AB3-AC6C-0C11823F5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55332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38" b="1">
                <a:solidFill>
                  <a:srgbClr val="070707"/>
                </a:solidFill>
              </a:defRPr>
            </a:pPr>
            <a:r>
              <a:rPr sz="1238" b="1">
                <a:solidFill>
                  <a:srgbClr val="070707"/>
                </a:solidFill>
              </a:rPr>
              <a:t>A data foundation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37C323-8CBE-4F23-A2B1-1132C5819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24825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70B4E3-292E-42C6-91ED-D81CDE69A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058150"/>
            <a:ext cx="1514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Operational databases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AA1CFD2-6EB1-47F3-BB5F-C86C428A7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496300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9333FE1-EA94-49E7-8F04-78BF048F3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429625"/>
            <a:ext cx="1514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Data cleanup and consistent naming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B4C7860-DECC-4DE7-9181-82887C2BC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67775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DAD2F3D-77D4-43D3-AC93-C5C404C45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801100"/>
            <a:ext cx="1514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Trusted data for agents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30068F3-1DC4-4A51-9F94-007A4CFA4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8124825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582CFA6-E4BA-4F96-9C05-12DF90991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8058150"/>
            <a:ext cx="150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Enterprise knowledge bases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915227A-16F9-47CD-A200-9BB712356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8496300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9E34BA1-158F-4645-AC88-64DACA381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8429625"/>
            <a:ext cx="150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Permissions and usage boundaries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AB3C513-64D6-425B-B99F-E17A6EB81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04875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B4FD7CC-C2E9-48F1-9AB1-ECA004491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01150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10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Best when information is hard to find, share, or trust.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089E954-C9CB-4693-BC10-D31F49BC5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00350"/>
            <a:ext cx="2533650" cy="678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AD10527-254D-4D45-BAC2-1EF52B379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00350"/>
            <a:ext cx="2114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22C2C23-8A6A-4D15-A850-5B8C5476D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00400"/>
            <a:ext cx="2076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70707"/>
                </a:solidFill>
              </a:defRPr>
            </a:pPr>
            <a:r>
              <a:rPr sz="1650" b="1">
                <a:solidFill>
                  <a:srgbClr val="070707"/>
                </a:solidFill>
              </a:rPr>
              <a:t>A company-wide upgrade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6C05674-6CEB-4E1F-AD7E-521FCFB6A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562475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E605551-11E8-4BDB-98DB-6A0E951E8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4767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Identify work suitable for AI across departments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0DF3CA0-8DB0-46E3-AE5D-7643605FE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305425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E9C4C9A-F90E-4448-928D-71FDF5DB1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2197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Redesign how people and agents divide the work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E4E4A4C-A2B4-4A05-8112-AC730B1A3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048375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DAC99DD-059D-4307-A6F0-EAB8EB32F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9626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Set permissions, approvals, and accountability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0F610FD-6733-4CB0-A8E0-E4F5BAE60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791325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53F37C9-C965-47F1-900F-76AC3DCEC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67056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Define the pilot sequence and expansion plan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528B9C4-73B7-4B46-9E96-244CEC402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534275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6F236A6-A534-4231-9DA6-EA7560E14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74485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Train the company’s own Agent Bosses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E59E06B-B7C7-43C3-9A53-47DAAFE05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8858250"/>
            <a:ext cx="20764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A9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3A7CEBC-95C3-48F0-B8CB-AFA364CF1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9067800"/>
            <a:ext cx="2076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18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Best when leadership wants one coordinated program.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5864354-200E-498C-AE8B-985DB2E9D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6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4483A95-6817-4467-8E1F-49524A56C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6548196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035BA1-03E2-4CBE-8BD4-ED9637D9C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Assess first.</a:t>
            </a:r>
          </a:p>
          <a:p xmlns:a="http://schemas.openxmlformats.org/drawingml/2006/main">
            <a:pPr algn="l">
              <a:buNone/>
              <a:defRPr sz="28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Build only if it is worth building.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E1EC75-0837-4973-A33B-3CA043DE6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09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754C5F-92F0-455C-A734-B03733A89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4003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8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Clarify why the company wants AI: save time, reduce errors, increase revenue, or change how the company works.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3F8960-C551-4C4B-AC5D-70B0B7973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0047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AE0803-2FCB-4231-BADC-0BC6FA11A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67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E00FA1-1CA9-4C71-A8EC-F0E47019D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5762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8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Observe the spreadsheets, files, messages, and business systems employees really use—including exceptions outside the official process.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625F96-EE8A-4FD1-9557-034977E77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25780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743597-7EAD-452A-8C7A-8D054CDC2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244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E7FDD7-900D-4201-A972-6D22516C5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31495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8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Rank opportunities by value, difficulty, data readiness, risk, and time to validation. Not every problem needs AI.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63C021-F2C7-40FA-9BF6-7017B4F11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1512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24A63F-F9C0-44C8-A9CD-31B03B0C2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818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957F8C-6FC9-4B19-B332-6D4382C11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7227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8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Choose one job. Agree on the owner, data, scope, and result metric before building a usable version.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BE5AD8-B29B-4945-B6AB-0D83ED772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17245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ED2E70-567D-4B5B-A258-DF6D23F22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2391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36904B-DC13-4CCE-9078-56416226F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2296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8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After real users have tried it, decide whether to improve it, expand it, or stop.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F07762-6886-4E30-8CB6-A27D77E7B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37251D-74F9-4FF0-9ADF-49B5EA469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28197684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A1E096B-CCE6-4E52-817F-CE03A3BF3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Not a demo.</a:t>
            </a:r>
          </a:p>
          <a:p xmlns:a="http://schemas.openxmlformats.org/drawingml/2006/main">
            <a:pPr algn="l">
              <a:buNone/>
              <a:defRPr sz="28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A working test with evidence.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B3AFE8-6C43-4C08-AD20-77F425713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653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070707"/>
                </a:solidFill>
              </a:defRPr>
            </a:pPr>
            <a:r>
              <a:rPr sz="1013" b="0">
                <a:solidFill>
                  <a:srgbClr val="070707"/>
                </a:solidFill>
              </a:rPr>
              <a:t>Depending on the agreed scope, a pilot may include: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90CD50-39F0-4FE0-AE6F-0A1B9DA0C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2890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9E1A3C-EBF1-4617-A491-EF673AB54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A map of the current workflow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E14DAB-5011-47B7-9BFD-E1F62B7ED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05E8C3-2E8A-4A7F-98F9-941683696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62890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53FE26-12A1-44FC-8B69-40760C04F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The problem and pilot boundary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9ED051-59A9-4FA8-8854-F7530D877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5DD4CE-B94E-43CA-A286-BB58F08B8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099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35147B-7A7C-46A1-B370-FA97E335B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A working prototype or system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530F88-E76E-4742-9978-989FC7561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8197F8-5959-46B9-AB43-42F890649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6099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57A2EE-5397-47B9-9F97-0A6184535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The data and permissions used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78F896-A7D4-41E5-A95E-A72359FDF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C38557-0B4C-4798-9604-91E2C74B5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910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AF8EA5-2236-4D80-A5E7-FF942D209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Responsibilities for people and agents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0F527E-6498-4E4D-96A7-404926B64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AD0512-8FA0-4516-8157-B3EEE785D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5910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0EC57E-F4AD-48BF-9796-2D83760E5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Human approval points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B12CDA-03CA-4A6E-902E-9611C0729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B14732-5C68-4676-AFE9-4FE463DAD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7212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1E00AD-5DCE-411A-8071-5676CF072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A before-and-after comparison method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0779C2-A610-4DF9-81AB-1426CAFE0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B9891C-8494-4079-940F-743051BBE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557212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599995-4E2D-4667-B479-0307F2EF5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A recommendation to continue, adjust, or stop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74E775-7D63-4829-A8DE-291D9C02B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A8A02A-2FC2-4375-90EB-C35721B9F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05625"/>
            <a:ext cx="6534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72708A-0CB0-4EC3-9370-9BDD1742C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19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BEFORE WORK BEGINS, WE AGREE 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12F23F8-DE13-473C-B4B5-0548F0171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152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2C13122-C398-41BC-93B5-6542AB040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Who owns the outcome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9B2E7B9-AD84-4430-B0B0-982B7465E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79152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46D5851-0D0F-47A6-A2D8-619DE544A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What completion means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119F8BD-CAEF-49E4-82B2-5834E0A70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6391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6F384F4-3386-49A4-89E1-02312581E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What is outside this pilot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AA6F454-3CA8-4B29-A8AA-1DA59C623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6391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6D281AF-DF6F-4280-922D-5AF298C5B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How the result will be judged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67978A2-24BC-4265-9FA5-38DEA7B24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8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60F6C5F-28CE-4A61-BCBF-07D12BCB2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88722586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2784A2C-EE57-417F-967C-0C8A2F716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6534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070707"/>
                </a:solidFill>
              </a:defRPr>
            </a:pPr>
            <a:r>
              <a:rPr sz="2400" b="0">
                <a:solidFill>
                  <a:srgbClr val="070707"/>
                </a:solidFill>
              </a:rPr>
              <a:t>Show what changed in the business,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070707"/>
                </a:solidFill>
              </a:defRPr>
            </a:pPr>
            <a:r>
              <a:rPr sz="2400" b="0">
                <a:solidFill>
                  <a:srgbClr val="070707"/>
                </a:solidFill>
              </a:rPr>
              <a:t>not only what the system looks like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34FD60-A06D-47E6-B675-C75291423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6534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4BA76E-ABC9-4EE2-8012-4AD533E19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622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32" b="1">
                <a:solidFill>
                  <a:srgbClr val="070707"/>
                </a:solidFill>
              </a:defRPr>
            </a:pPr>
            <a:r>
              <a:rPr sz="832" b="1">
                <a:solidFill>
                  <a:srgbClr val="070707"/>
                </a:solidFill>
              </a:rPr>
              <a:t>Case details are pending customer confirmation. No company name, logo, or performance figure will be used without permission and evidence.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55FABF-8ED0-443E-9FBC-58A21327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2890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COMPANIES WE HAVE SERVED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A4C355-CD7C-4E5C-AB67-A86005A80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30B5D1-A571-4D48-9C80-78C8B3DD3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[Client logo 1]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AA089D-F3B3-4E20-BC7C-97C737B77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197AEF-44BE-4A47-A0DE-EC6DFA60D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[Client logo 2]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C601FE-59C3-4D61-8E46-300EA36BA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D7320C-DA0A-41DB-A752-E8C9B4198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[Client logo 3]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073293-5EE9-4A73-90C5-09C70ABE2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C071BF-9877-45C0-A445-F8A9F6B34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[Client logo 4]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FE349E-6D2C-487B-92BB-8CC2AFBF6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8142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070707"/>
                </a:solidFill>
              </a:defRPr>
            </a:pPr>
            <a:r>
              <a:rPr sz="825" b="1">
                <a:solidFill>
                  <a:srgbClr val="070707"/>
                </a:solidFill>
              </a:rPr>
              <a:t>One line under each logo: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E8169D-0A45-4368-A620-D8D7ED68C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81425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10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[Company or industry] | We helped the team [one-sentence description of the actual service].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97E28B-BBE4-4275-AACE-064D4D01B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10" b="0">
                <a:solidFill>
                  <a:srgbClr val="656563"/>
                </a:solidFill>
              </a:defRPr>
            </a:pPr>
            <a:r>
              <a:rPr sz="810" b="0">
                <a:solidFill>
                  <a:srgbClr val="656563"/>
                </a:solidFill>
              </a:rPr>
              <a:t>Include a logo only when the service was actually delivered, the client has approved public use of its name and logo, and the work can be verified. A sales conversation, proposal, or public vendor case study is not a client engagement.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553105-0040-43AF-A035-2A8F007DB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CASE STUDY 1 | [Factory type / business function]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9BB987-EA99-438F-8A78-8E262F7BA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Before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673BDB-4B47-4C1A-8333-F0FA784BD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91200"/>
            <a:ext cx="3067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[Role] used [chat / spreadsheets / PDFs / ERP / email] to complete [specific task]. It happened [frequency], required [people or time], and often caused [specific issue].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2FB366-0999-471F-906A-833A43893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104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What we found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06B2C2-BD39-40C5-A46B-78141564B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The initial request was [customer’s original request]. After observing the workflow, the problem affecting the business was [confirmed problem].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0963C9-B007-499A-A1C8-B5CD61A4F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What we delivered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F7E032-AAF3-43B1-BBF8-588BF0B2E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7912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[Skill / custom SaaS / automation / database / agent workflow], connected to [existing systems or data].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8AFAD8-8022-4CC7-BD4F-CE30E02C0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848475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What changed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A07331-7567-4FF1-A466-AE3B98C7E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286625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941565-D516-4CB9-AC36-61AE0CB31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21995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18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Processing time: [before] → [after]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C05985-261B-4B44-AD8A-3EE42C68D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658100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136A48-11C6-468F-B35C-F08695F93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59142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18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Manual steps: [before] → [after]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6727AD-6AF4-4128-83B8-97C4BB9DC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029575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861DFEB-BC9A-4965-895C-DD7BF8A44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96290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18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Errors or rework: [before] → [after]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6404CE-9495-4239-9390-55FBCCA5D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401050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2353371-7BC8-4E13-A3D3-33E79E2E3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833437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18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Business result: [customer-confirmed result]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C88A77-C536-45D5-86DB-D41982AC6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20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5077B3A-65FE-4470-A5FC-D91F86969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059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CASE STUDY 2 | [Factory type / business function]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2E4BFB6-70A6-4D3A-817E-95719BF1E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9086850"/>
            <a:ext cx="371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18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Use the same structure. A useful set would include one small tool, one end-to-end workflow, and one database or company-wide transformation.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054CC22-BBE7-4C5E-B802-E885356C6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0AF4F7F-19E4-44F2-8095-AA66BCA61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77315099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88C1B1F-3C23-4B6A-B4ED-7877BEB71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2700" b="0">
                <a:solidFill>
                  <a:srgbClr val="070707"/>
                </a:solidFill>
              </a:rPr>
              <a:t>A working agent still needs</a:t>
            </a:r>
          </a:p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2700" b="0">
                <a:solidFill>
                  <a:srgbClr val="070707"/>
                </a:solidFill>
              </a:rPr>
              <a:t>someone who knows how to lead 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AC3B93-F5C3-439F-8F72-57B97312E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3362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8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FDE delivery builds the company’s AI upgrade.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028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After launch, managers and employees need to know how to: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904EB3-884D-43DC-ABBE-BC3FB6F84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38" b="1">
                <a:solidFill>
                  <a:srgbClr val="070707"/>
                </a:solidFill>
              </a:defRPr>
            </a:pPr>
            <a:r>
              <a:rPr sz="1238" b="1">
                <a:solidFill>
                  <a:srgbClr val="070707"/>
                </a:solidFill>
              </a:rPr>
              <a:t>We call this training Agent Boss.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D43942-B6F4-4E68-85F3-1DA9ED8B1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It is not a prompt-writing class or a tour of AI tools. It teaches people how to lead work carried out by both humans and agents.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DF1CB9-BC56-4DBB-A2A8-EF57F7A14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4193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AE3363-3911-4A43-9C97-A4A7CD714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336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Give agents clear goals and completion criteria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CEE6BC-2AA7-40FA-B1EB-2B52BE5F5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861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2F9B22-832F-4E88-B300-DF154B661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194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51E1C9-36B7-4FEB-BDCB-E64DCA6CE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337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Decide which work can be delegated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91D651-F152-4F1A-AB0B-BD16A2FD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8862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CBDD7A-F856-47FD-B724-0015F51AA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0195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CCF648-8DD2-4EB6-B7D8-330A2150C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9338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Review the process and the 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113FE5-7A2A-447B-89F6-9EA1CBDC7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6863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C42396-B7E4-4B6C-876D-75B8A0D10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196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2F5153-C8FD-4811-91A9-A48815787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7339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Handle exceptions, request changes, or stop a task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1AE992-548D-428A-A9E2-0CFDCF09A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4864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716C22-2CC6-4DDD-ABB4-944E79BE0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6197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09DC8D-3D34-4F09-93BD-B4C96D4EF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5340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Manage data, tools, and permissions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BE5F67-03B5-4C2B-9FA4-78E6BA27C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2865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46598F-6C0A-4FA3-B5C3-6B501AF48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4198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9DD25E-356D-4473-A558-CD6604A5F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3341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Turn good practices into shared Skills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4CEAEC-3A58-4C97-846E-4EA34F347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0866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8E4060-D5EF-4220-9C76-85144FC41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2199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D98FB9-130F-4091-9972-B09190016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1342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Remain accountable for the business outcome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B547FD-898E-4D94-B864-0A5A27FF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20125"/>
            <a:ext cx="6534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73AF11-C5FA-46D2-B959-11DEFE00C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8963025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FDE: build and launch the system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10632D-8A36-4E42-AD5E-E37B5C15A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89630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070707"/>
                </a:solidFill>
              </a:defRPr>
            </a:pPr>
            <a:r>
              <a:rPr sz="863" b="1">
                <a:solidFill>
                  <a:srgbClr val="070707"/>
                </a:solidFill>
              </a:rPr>
              <a:t>Agent Boss: help the team take ownership and keep improving it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41C5F4-ACB7-44D4-8343-0743CF34A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909BF3-1A28-41AC-839E-A5932EBC0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33853647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88E94CE-2573-4A28-9B66-4FB6DAC6C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0">
                <a:solidFill>
                  <a:srgbClr val="070707"/>
                </a:solidFill>
              </a:defRPr>
            </a:pPr>
            <a:r>
              <a:rPr sz="3150" b="0">
                <a:solidFill>
                  <a:srgbClr val="070707"/>
                </a:solidFill>
              </a:rPr>
              <a:t>Find the right first step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C1D633-506D-4719-8CF0-DCE4BA6EF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653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070707"/>
                </a:solidFill>
              </a:defRPr>
            </a:pPr>
            <a:r>
              <a:rPr sz="1050" b="0">
                <a:solidFill>
                  <a:srgbClr val="070707"/>
                </a:solidFill>
              </a:rPr>
              <a:t>During the event, we are offering a complimentary enterprise AI assessment.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A1401B-B41C-4E8B-9AED-C4C23172D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YOU WILL RECEIVE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808160-B8E2-4F72-8135-9E7967387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670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WE MAY ALSO TELL YOU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6C7AC5-0B61-4CA6-9DFF-600E328C9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289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5C7E81-7E21-4DA7-B29D-D9451F086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One to three areas worth examining first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DF3473-A451-4B0D-8681-28F3FFDAF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592874-ED1D-4355-A702-EA83C7040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5292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5814DB-997B-435C-AFBE-D4296B6FD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An initial judgment on whether AI fits the work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33BEC2-878D-47B9-BF0D-7ABEFB523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435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13A26B-8EA5-4C4A-B7B3-9354E86EE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768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782C01-7B3C-40B9-8A9B-9EE731BC7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The data, systems, and people required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8194C9-33B7-4752-AE31-33EB4FD69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674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5BC9CC-C555-4CD5-9E41-5DD6148EE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0082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C2AE48-9369-4D46-8A86-8CCB5663A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151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A recommendation: buy software, build a Skill, create custom SaaS, organize data, or redesign the workflow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3F465F-2C53-4B42-8612-D7C1B740B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5914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2D1B0F-9110-4A9C-B54A-58A0FE02E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7247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E62E19-9C71-4B73-B195-C72502A61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6390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An honest view on whether a pilot is worthwhile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9701CD-8B33-4CE4-AA60-D5BD59DAE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289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FC77AF-4559-42C4-8019-9605E6E2B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432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The problem does not need AI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9FE6D0-60ED-4F2A-A45C-3155F5A21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195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A204D1-1EEE-4736-8936-BDED2C5E2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5292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F9EBF5-70DE-4BAF-B579-C2BE0008C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672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The data is not ready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E6FA3F-D9F8-4560-B051-E3FFD6BA2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4352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CF7D8D-31AC-441F-87AF-AC8A296C3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4768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D41C5A-5B1D-4D3A-B5C9-2C6C0A00A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911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Fix the workflow before building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EAD0A8-EBC5-4C75-9F8F-754BCA8A9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4674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EA95FE-B641-4E28-9025-85EC9FE73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60082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843255-4279-45FA-AB2F-1FEB9B129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5151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An existing product is better value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53AAD80-5461-4F4E-B735-7372E4E00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8058150"/>
            <a:ext cx="3048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152198-9B44-402F-ADCA-33FC6E7D5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8410575"/>
            <a:ext cx="2552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70" b="1">
                <a:solidFill>
                  <a:srgbClr val="070707"/>
                </a:solidFill>
              </a:defRPr>
            </a:pPr>
            <a:r>
              <a:rPr sz="870" b="1">
                <a:solidFill>
                  <a:srgbClr val="070707"/>
                </a:solidFill>
              </a:rPr>
              <a:t>The assessment does not include a complete plan and does not require access to unauthorized sensitive data.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2EAF893-4228-4F06-8238-4570E5F43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DE2B77E-45DC-45AE-A607-4A0570786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42345530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D9D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D39CB9-E294-4266-87B6-0A66FC68E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3375" b="0">
                <a:solidFill>
                  <a:srgbClr val="070707"/>
                </a:solidFill>
              </a:rPr>
              <a:t>Which part of your business</a:t>
            </a:r>
          </a:p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3375" b="0">
                <a:solidFill>
                  <a:srgbClr val="070707"/>
                </a:solidFill>
              </a:rPr>
              <a:t>should AI improve first?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1762F2-91BA-4073-ABF8-5A3357191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05050"/>
            <a:ext cx="228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75CFF"/>
                </a:solidFill>
              </a:defRPr>
            </a:pPr>
            <a:r>
              <a:rPr sz="1350" b="1">
                <a:solidFill>
                  <a:srgbClr val="075CFF"/>
                </a:solidFill>
              </a:rPr>
              <a:t>10 companies per day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075CFF"/>
                </a:solidFill>
              </a:defRPr>
            </a:pPr>
            <a:r>
              <a:rPr sz="1350" b="1">
                <a:solidFill>
                  <a:srgbClr val="075CFF"/>
                </a:solidFill>
              </a:rPr>
              <a:t>20 over the two-day event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2E97E6-5C5C-4446-ABFC-0DF18B764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05050"/>
            <a:ext cx="19431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07070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69582B-9AB9-4EEF-B65E-47EB222C3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71825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656563"/>
                </a:solidFill>
              </a:defRPr>
            </a:pPr>
            <a:r>
              <a:rPr sz="825" b="0">
                <a:solidFill>
                  <a:srgbClr val="656563"/>
                </a:solidFill>
              </a:rPr>
              <a:t>QR CODE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D38F76-D83E-4AD0-8DCB-B08645CA6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SCAN AND TELL US: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62BD2F-2676-47BD-8380-839E4131B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577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65C943-5E38-45F1-9650-704C7DEA1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0482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Your company and industry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035E45-6EAA-40C5-8941-418B6C1D9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3405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1B3B63-C51B-40B2-98B2-6CA9889A0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007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5A5C89-8F76-4AE1-A0BE-355005712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9120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The one area you most want to improve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236D70-4659-4EC6-B406-943B011BB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47700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2CFF60-8DC4-4B11-9364-40D297D7D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BAC7B2-CBD2-4758-864B-7BF564048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5341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How the work is done today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E663D2-7833-44EF-9988-26C164097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21995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7E1A02-3A2F-4543-B756-D459F6A14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866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A4B519-0CB2-426F-8B9B-01ED11CAD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27710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Who owns that part of the business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856AF9-7456-481C-898F-F7250F13C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96290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B5A47F-A535-4499-A638-DEA48220D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295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1867D2-E51B-4227-B294-473F2CEB6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0200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Your contact details and preferred time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AA8C86-F28A-4B24-A66E-9948E0D61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SCAN TO RESERVE · AVAILABLE UNTIL FULL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B55993-3392-462F-A5FB-3E6B3A46C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87820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[Brand name]</a:t>
            </a:r>
          </a:p>
          <a:p xmlns:a="http://schemas.openxmlformats.org/drawingml/2006/main">
            <a:pPr algn="r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[Name / phone / WeChat / website]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F87D01-2D15-42D3-A914-768AD6EA7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66AF9F-AB1B-4850-9534-809B33673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829800"/>
            <a:ext cx="6534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0" b="1">
                <a:solidFill>
                  <a:srgbClr val="070707"/>
                </a:solidFill>
              </a:defRPr>
            </a:pPr>
            <a:r>
              <a:rPr sz="990" b="1">
                <a:solidFill>
                  <a:srgbClr val="070707"/>
                </a:solidFill>
              </a:rPr>
              <a:t>Start with one problem you can understand, complete, and measure.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BEA5B1-1E51-489E-811C-06F130D28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999C20-149E-4827-96ED-44D95D00C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6991500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2026-08-24T07:47:47.4000000Z</dcterms:created>
  <dcterms:modified xsi:type="dcterms:W3CDTF">2026-08-24T07:47:47.4000000Z</dcterms:modified>
</coreProperties>
</file>