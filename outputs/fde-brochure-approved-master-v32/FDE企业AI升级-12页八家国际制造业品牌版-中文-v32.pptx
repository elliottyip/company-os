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efdab3899242b7" /><Relationship Type="http://schemas.openxmlformats.org/officeDocument/2006/relationships/extended-properties" Target="/docProps/app.xml" Id="Redf69a98f7254df1" /><Relationship Type="http://schemas.openxmlformats.org/officeDocument/2006/relationships/officeDocument" Target="/ppt/presentation.xml" Id="R0660a501395b40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851b45923a4655"/>
  </p:sldMasterIdLst>
  <p:notesMasterIdLst>
    <p:notesMasterId xmlns:r="http://schemas.openxmlformats.org/officeDocument/2006/relationships" r:id="Rd11afe2039c847d1"/>
  </p:notesMasterIdLst>
  <p:sldIdLst>
    <p:sldId xmlns:r="http://schemas.openxmlformats.org/officeDocument/2006/relationships" id="256" r:id="Re07e9e67c2124e7d"/>
    <p:sldId xmlns:r="http://schemas.openxmlformats.org/officeDocument/2006/relationships" id="257" r:id="R63f52d14e6dc4aa2"/>
    <p:sldId xmlns:r="http://schemas.openxmlformats.org/officeDocument/2006/relationships" id="258" r:id="R27a952adbf504c55"/>
    <p:sldId xmlns:r="http://schemas.openxmlformats.org/officeDocument/2006/relationships" id="259" r:id="R5febaa75fdfa4074"/>
    <p:sldId xmlns:r="http://schemas.openxmlformats.org/officeDocument/2006/relationships" id="260" r:id="Rd3a88aaaf7d64bec"/>
    <p:sldId xmlns:r="http://schemas.openxmlformats.org/officeDocument/2006/relationships" id="261" r:id="R5e822f09f81a4346"/>
    <p:sldId xmlns:r="http://schemas.openxmlformats.org/officeDocument/2006/relationships" id="262" r:id="R3eedaf8266094b02"/>
    <p:sldId xmlns:r="http://schemas.openxmlformats.org/officeDocument/2006/relationships" id="263" r:id="R11b9a0231a3a4f3c"/>
    <p:sldId xmlns:r="http://schemas.openxmlformats.org/officeDocument/2006/relationships" id="264" r:id="R556a836f1eec4ad6"/>
    <p:sldId xmlns:r="http://schemas.openxmlformats.org/officeDocument/2006/relationships" id="265" r:id="R2561d3ba64fa40ed"/>
    <p:sldId xmlns:r="http://schemas.openxmlformats.org/officeDocument/2006/relationships" id="266" r:id="Rc6777bff87c144d0"/>
    <p:sldId xmlns:r="http://schemas.openxmlformats.org/officeDocument/2006/relationships" id="267" r:id="R7c0d4c8594464a86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a37f2b99f64714" /><Relationship Type="http://schemas.openxmlformats.org/officeDocument/2006/relationships/slideMaster" Target="/ppt/slideMasters/slideMaster1.xml" Id="R67851b45923a4655" /><Relationship Type="http://schemas.openxmlformats.org/officeDocument/2006/relationships/notesMaster" Target="/ppt/notesMasters/notesMaster1.xml" Id="Rd11afe2039c847d1" /><Relationship Type="http://schemas.openxmlformats.org/officeDocument/2006/relationships/presProps" Target="/ppt/presProps.xml" Id="R74c30ad056144c2c" /><Relationship Type="http://schemas.openxmlformats.org/officeDocument/2006/relationships/tableStyles" Target="/ppt/tableStyles.xml" Id="R95aca148b2a64ed7" /><Relationship Type="http://schemas.openxmlformats.org/officeDocument/2006/relationships/slide" Target="/ppt/slides/slide1.xml" Id="Re07e9e67c2124e7d" /><Relationship Type="http://schemas.openxmlformats.org/officeDocument/2006/relationships/slide" Target="/ppt/slides/slide2.xml" Id="R63f52d14e6dc4aa2" /><Relationship Type="http://schemas.openxmlformats.org/officeDocument/2006/relationships/slide" Target="/ppt/slides/slide3.xml" Id="R27a952adbf504c55" /><Relationship Type="http://schemas.openxmlformats.org/officeDocument/2006/relationships/slide" Target="/ppt/slides/slide4.xml" Id="R5febaa75fdfa4074" /><Relationship Type="http://schemas.openxmlformats.org/officeDocument/2006/relationships/slide" Target="/ppt/slides/slide5.xml" Id="Rd3a88aaaf7d64bec" /><Relationship Type="http://schemas.openxmlformats.org/officeDocument/2006/relationships/slide" Target="/ppt/slides/slide6.xml" Id="R5e822f09f81a4346" /><Relationship Type="http://schemas.openxmlformats.org/officeDocument/2006/relationships/slide" Target="/ppt/slides/slide7.xml" Id="R3eedaf8266094b02" /><Relationship Type="http://schemas.openxmlformats.org/officeDocument/2006/relationships/slide" Target="/ppt/slides/slide8.xml" Id="R11b9a0231a3a4f3c" /><Relationship Type="http://schemas.openxmlformats.org/officeDocument/2006/relationships/slide" Target="/ppt/slides/slide9.xml" Id="R556a836f1eec4ad6" /><Relationship Type="http://schemas.openxmlformats.org/officeDocument/2006/relationships/slide" Target="/ppt/slides/slide10.xml" Id="R2561d3ba64fa40ed" /><Relationship Type="http://schemas.openxmlformats.org/officeDocument/2006/relationships/slide" Target="/ppt/slides/slide11.xml" Id="Rc6777bff87c144d0" /><Relationship Type="http://schemas.openxmlformats.org/officeDocument/2006/relationships/slide" Target="/ppt/slides/slide12.xml" Id="R7c0d4c8594464a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bfddd97ea64f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edbd128476480b" /><Relationship Type="http://schemas.openxmlformats.org/officeDocument/2006/relationships/notesMaster" Target="/ppt/notesMasters/notesMaster1.xml" Id="R0937e70fb0d744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4ac490265141ef" /><Relationship Type="http://schemas.openxmlformats.org/officeDocument/2006/relationships/notesMaster" Target="/ppt/notesMasters/notesMaster1.xml" Id="Re5057c29e96c4e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a76f10a3024d96" /><Relationship Type="http://schemas.openxmlformats.org/officeDocument/2006/relationships/notesMaster" Target="/ppt/notesMasters/notesMaster1.xml" Id="R1d1992508bb34c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a9caa2a2284b74" /><Relationship Type="http://schemas.openxmlformats.org/officeDocument/2006/relationships/notesMaster" Target="/ppt/notesMasters/notesMaster1.xml" Id="R13b6a803d7e14a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ab68b47782442a" /><Relationship Type="http://schemas.openxmlformats.org/officeDocument/2006/relationships/notesMaster" Target="/ppt/notesMasters/notesMaster1.xml" Id="Re3339bcab3db4d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46b657a1c849e6" /><Relationship Type="http://schemas.openxmlformats.org/officeDocument/2006/relationships/notesMaster" Target="/ppt/notesMasters/notesMaster1.xml" Id="R85b9ce36b93a41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f5eefcf25247a1" /><Relationship Type="http://schemas.openxmlformats.org/officeDocument/2006/relationships/notesMaster" Target="/ppt/notesMasters/notesMaster1.xml" Id="R8d6180be192b4b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035c3701b84d83" /><Relationship Type="http://schemas.openxmlformats.org/officeDocument/2006/relationships/notesMaster" Target="/ppt/notesMasters/notesMaster1.xml" Id="R095c2c46ba6c4c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b46f39b04b4cd2" /><Relationship Type="http://schemas.openxmlformats.org/officeDocument/2006/relationships/notesMaster" Target="/ppt/notesMasters/notesMaster1.xml" Id="Rdb35351175cc47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093da1ac0e4ccd" /><Relationship Type="http://schemas.openxmlformats.org/officeDocument/2006/relationships/notesMaster" Target="/ppt/notesMasters/notesMaster1.xml" Id="Rc4b9185c8ced4c8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4d34ac68474721" /><Relationship Type="http://schemas.openxmlformats.org/officeDocument/2006/relationships/notesMaster" Target="/ppt/notesMasters/notesMaster1.xml" Id="R0183b66ed8ac4c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4777de5e1354d25" /><Relationship Type="http://schemas.openxmlformats.org/officeDocument/2006/relationships/notesMaster" Target="/ppt/notesMasters/notesMaster1.xml" Id="Rbd3fbbe2ea1443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Project-owned Raft logo supplied by the user: /Users/elliottye/Desktop/raft-logo-mark.svg; white rounded-square background removed while preserving the orange mark</a:t>
            </a:r>
          </a:p>
          <a:p xmlns:a="http://schemas.openxmlformats.org/drawingml/2006/main">
            <a:r>
              <a:t>- Project-owned blue cover asset preserved from the approved v21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https://openai.com/business/guides-and-resources/a-practical-guide-to-building-ai-agents/</a:t>
            </a:r>
          </a:p>
          <a:p xmlns:a="http://schemas.openxmlformats.org/drawingml/2006/main">
            <a:r>
              <a:t>- https://cloud.google.com/resources/core-concepts-ai-agents</a:t>
            </a:r>
          </a:p>
          <a:p xmlns:a="http://schemas.openxmlformats.org/drawingml/2006/main">
            <a:r>
              <a:t>- https://www.anthropic.com/research/claude-code-expertise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https://www.microsoft.com/en-us/worklab/work-trend-index/2025-the-year-the-frontier-firm-is-born</a:t>
            </a:r>
          </a:p>
          <a:p xmlns:a="http://schemas.openxmlformats.org/drawingml/2006/main">
            <a:r>
              <a:t>- https://openai.com/index/1-million-businesses-putting-ai-to-work/</a:t>
            </a:r>
          </a:p>
          <a:p xmlns:a="http://schemas.openxmlformats.org/drawingml/2006/main">
            <a:r>
              <a:t>- https://openai.com/index/how-enterprises-put-ai-to-work/</a:t>
            </a:r>
          </a:p>
          <a:p xmlns:a="http://schemas.openxmlformats.org/drawingml/2006/main">
            <a:r>
              <a:t>- https://openai.com/index/introducing-openai-frontier/</a:t>
            </a:r>
          </a:p>
          <a:p xmlns:a="http://schemas.openxmlformats.org/drawingml/2006/main">
            <a:r>
              <a:t>- https://cloud.google.com/customers/telus-gemini-enterprise-cx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https://press.siemens.com/global/en/pressrelease/siemens-introduces-ai-agents-industrial-automation</a:t>
            </a:r>
          </a:p>
          <a:p xmlns:a="http://schemas.openxmlformats.org/drawingml/2006/main">
            <a:r>
              <a:t>https://www.bosch.com/research/bcai/industrial-ai/</a:t>
            </a:r>
          </a:p>
          <a:p xmlns:a="http://schemas.openxmlformats.org/drawingml/2006/main">
            <a:r>
              <a:t>https://www.se.com/ww/en/about-us/newsroom/news/press-releases/Schneider-Electric-unveils-next-generation-agentic-manufacturing-capabilities-powered-by-Microsoft-Azure-AI-at-Hannover-Messe-2026-69e08de2ddabef15890a48f3/</a:t>
            </a:r>
          </a:p>
          <a:p xmlns:a="http://schemas.openxmlformats.org/drawingml/2006/main">
            <a:r>
              <a:t>https://new.abb.com/process-automation/genix/abb-genix-copilot</a:t>
            </a:r>
          </a:p>
          <a:p xmlns:a="http://schemas.openxmlformats.org/drawingml/2006/main">
            <a:r>
              <a:t>https://commons.wikimedia.org/wiki/File:Siemens-logo.svg</a:t>
            </a:r>
          </a:p>
          <a:p xmlns:a="http://schemas.openxmlformats.org/drawingml/2006/main">
            <a:r>
              <a:t>https://commons.wikimedia.org/wiki/File:Bosch-logo.svg</a:t>
            </a:r>
          </a:p>
          <a:p xmlns:a="http://schemas.openxmlformats.org/drawingml/2006/main">
            <a:r>
              <a:t>https://commons.wikimedia.org/wiki/File:SchneiderElectric_Logo.svg</a:t>
            </a:r>
          </a:p>
          <a:p xmlns:a="http://schemas.openxmlformats.org/drawingml/2006/main">
            <a:r>
              <a:t>https://commons.wikimedia.org/wiki/File:ABB_logo.svg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
[Sources]
https://commons.wikimedia.org/wiki/File:Toyota_logo.svg
https://commons.wikimedia.org/wiki/File:BMW.svg
https://commons.wikimedia.org/wiki/File:Honeywell_logo.svg
https://commons.wikimedia.org/wiki/File:Caterpillar_logo.svg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  <a:p xmlns:a="http://schemas.openxmlformats.org/drawingml/2006/main">
            <a:r>
              <a:t>
[Sources]
- https://github.com/ElliottYip/agentboss-school (public repository verified 2026-08-25)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docs/marketing/assets/fde-logo-orange-v1.png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edaa6d17d43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3a01748ae44d95" /><Relationship Type="http://schemas.openxmlformats.org/officeDocument/2006/relationships/slideLayout" Target="/ppt/slideLayouts/slideLayout1.xml" Id="Rcc6df3b0e5ee47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6df3b0e5ee47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e8b217c774e75" /><Relationship Type="http://schemas.openxmlformats.org/officeDocument/2006/relationships/image" Target="/ppt/media/image.png" Id="Recd9f11c74d64a27" /><Relationship Type="http://schemas.openxmlformats.org/officeDocument/2006/relationships/image" Target="/ppt/media/image2.png" Id="R35a70310da114531" /><Relationship Type="http://schemas.openxmlformats.org/officeDocument/2006/relationships/notesSlide" Target="/ppt/notesSlides/notesSlide1.xml" Id="Re64ef7cafc0a4c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77935cb7c4b23" /><Relationship Type="http://schemas.openxmlformats.org/officeDocument/2006/relationships/notesSlide" Target="/ppt/notesSlides/notesSlide2.xml" Id="Rb1a1b59790f145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e12fd629d456e" /><Relationship Type="http://schemas.openxmlformats.org/officeDocument/2006/relationships/notesSlide" Target="/ppt/notesSlides/notesSlide3.xml" Id="Redb67b8cf2c24c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ea5447bee42b1" /><Relationship Type="http://schemas.openxmlformats.org/officeDocument/2006/relationships/notesSlide" Target="/ppt/notesSlides/notesSlide4.xml" Id="Rc9b63778d34246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fd245f8da4a4c" /><Relationship Type="http://schemas.openxmlformats.org/officeDocument/2006/relationships/notesSlide" Target="/ppt/notesSlides/notesSlide5.xml" Id="Rec2c8669f0104f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c958b8d194d0e" /><Relationship Type="http://schemas.openxmlformats.org/officeDocument/2006/relationships/notesSlide" Target="/ppt/notesSlides/notesSlide6.xml" Id="R005158b4da754a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fab1f521347a7" /><Relationship Type="http://schemas.openxmlformats.org/officeDocument/2006/relationships/notesSlide" Target="/ppt/notesSlides/notesSlide7.xml" Id="R7c703744d11545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7dcffc63545b8" /><Relationship Type="http://schemas.openxmlformats.org/officeDocument/2006/relationships/notesSlide" Target="/ppt/notesSlides/notesSlide8.xml" Id="R8bf072f994314e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dbba516a94809" /><Relationship Type="http://schemas.openxmlformats.org/officeDocument/2006/relationships/image" Target="/ppt/media/image3.png" Id="Rc3e9e36eb71a427c" /><Relationship Type="http://schemas.openxmlformats.org/officeDocument/2006/relationships/image" Target="/ppt/media/image4.png" Id="R0e460e2ee76f444d" /><Relationship Type="http://schemas.openxmlformats.org/officeDocument/2006/relationships/image" Target="/ppt/media/image5.png" Id="R245978eba0a24c01" /><Relationship Type="http://schemas.openxmlformats.org/officeDocument/2006/relationships/image" Target="/ppt/media/image6.png" Id="R93060ea650234b19" /><Relationship Type="http://schemas.openxmlformats.org/officeDocument/2006/relationships/image" Target="/ppt/media/image7.png" Id="Rc1e3590843c34233" /><Relationship Type="http://schemas.openxmlformats.org/officeDocument/2006/relationships/image" Target="/ppt/media/image8.png" Id="Rcede947d59bc46f0" /><Relationship Type="http://schemas.openxmlformats.org/officeDocument/2006/relationships/image" Target="/ppt/media/image9.png" Id="R2f0ca7e13e0a4ffc" /><Relationship Type="http://schemas.openxmlformats.org/officeDocument/2006/relationships/image" Target="/ppt/media/image10.png" Id="R4da99a14b2b24c90" /><Relationship Type="http://schemas.openxmlformats.org/officeDocument/2006/relationships/image" Target="/ppt/media/image11.png" Id="Rd34208afd0c74079" /><Relationship Type="http://schemas.openxmlformats.org/officeDocument/2006/relationships/image" Target="/ppt/media/image12.png" Id="Ra75c345637774a50" /><Relationship Type="http://schemas.openxmlformats.org/officeDocument/2006/relationships/image" Target="/ppt/media/image13.png" Id="R9701e1ba0c9644dc" /><Relationship Type="http://schemas.openxmlformats.org/officeDocument/2006/relationships/image" Target="/ppt/media/image14.png" Id="R2557e2a75a8841fb" /><Relationship Type="http://schemas.openxmlformats.org/officeDocument/2006/relationships/notesSlide" Target="/ppt/notesSlides/notesSlide9.xml" Id="R59a81bc233434c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a2bd11e694dce" /><Relationship Type="http://schemas.openxmlformats.org/officeDocument/2006/relationships/notesSlide" Target="/ppt/notesSlides/notesSlide10.xml" Id="R7ad3a495200c4b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229236ea04cab" /><Relationship Type="http://schemas.openxmlformats.org/officeDocument/2006/relationships/notesSlide" Target="/ppt/notesSlides/notesSlide11.xml" Id="R3f0a6c653187469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4dbc53b96467c" /><Relationship Type="http://schemas.openxmlformats.org/officeDocument/2006/relationships/notesSlide" Target="/ppt/notesSlides/notesSlide12.xml" Id="R0ed75a95dbbe4d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ull-page-natural-orange-background">
            <a:extLst xmlns:a="http://schemas.openxmlformats.org/drawingml/2006/main">
              <a:ext uri="{FF2B5EF4-FFF2-40B4-BE49-F238E27FC236}">
                <a16:creationId xmlns:a16="http://schemas.microsoft.com/office/drawing/2014/main" id="{CF619C15-6903-4D01-AC97-35402E10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ecd9f11c74d64a27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10" name="full-page-frosted-veil">
            <a:extLst xmlns:a="http://schemas.openxmlformats.org/drawingml/2006/main">
              <a:ext uri="{FF2B5EF4-FFF2-40B4-BE49-F238E27FC236}">
                <a16:creationId xmlns:a16="http://schemas.microsoft.com/office/drawing/2014/main" id="{00278D45-F6E3-42F6-962A-C739F048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653415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F55-733C-4D23-8CA4-886FC7E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8156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FDE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01A52-3C3C-4BE8-BD9B-E9DC5BE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企业想做 AI 升级，</a:t>
            </a:r>
          </a:p>
          <a:p xmlns:a="http://schemas.openxmlformats.org/drawingml/2006/main">
            <a:pPr algn="l">
              <a:buNone/>
              <a:defRPr sz="3900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3900">
                <a:solidFill>
                  <a:srgbClr val="070707"/>
                </a:solidFill>
                <a:latin typeface="Arial"/>
                <a:ea typeface="Arial"/>
                <a:cs typeface="Arial"/>
              </a:rPr>
              <a:t>第一步从哪里开始？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4DA22A-B930-4629-A55A-DB29B6C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53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FDE 走进业务现场，帮你找准第一个问题，</a:t>
            </a:r>
          </a:p>
          <a:p xmlns:a="http://schemas.openxmlformats.org/drawingml/2006/main">
            <a:pPr algn="l">
              <a:buNone/>
              <a:defRPr sz="1313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1313">
                <a:solidFill>
                  <a:srgbClr val="070707"/>
                </a:solidFill>
                <a:latin typeface="Arial"/>
                <a:ea typeface="Arial"/>
                <a:cs typeface="Arial"/>
              </a:rPr>
              <a:t>再把它做成有人用、看得到结果的系统。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B97AFF-B204-49DF-9215-935AA654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91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业务诊断｜流程改造｜Skill｜定制 SaaS｜数据库｜Agent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84990C-3A83-4502-85DA-30F73A99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0963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展会限定：免费企业 AI 诊断</a:t>
            </a:r>
          </a:p>
          <a:p xmlns:a="http://schemas.openxmlformats.org/drawingml/2006/main">
            <a:pPr algn="r">
              <a:buNone/>
              <a:defRPr sz="870" b="1">
                <a:solidFill>
                  <a:srgbClr val="070707"/>
                </a:solidFill>
                <a:latin typeface="Arial"/>
                <a:ea typeface="Arial"/>
                <a:cs typeface="Arial"/>
              </a:defRPr>
            </a:pPr>
            <a:r>
              <a:rPr sz="870" b="1">
                <a:solidFill>
                  <a:srgbClr val="070707"/>
                </a:solidFill>
                <a:latin typeface="Arial"/>
                <a:ea typeface="Arial"/>
                <a:cs typeface="Arial"/>
              </a:rPr>
              <a:t>每天 10 家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a70310da114531"/>
          <a:stretch xmlns:a="http://schemas.openxmlformats.org/drawingml/2006/main"/>
        </p:blipFill>
        <p:spPr>
          <a:xfrm xmlns:a="http://schemas.openxmlformats.org/drawingml/2006/main" flipH="0" flipV="0">
            <a:off x="514350" y="40005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154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F22A87-DE40-4C16-BE39-DBEC23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6534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AI 已经可以</a:t>
            </a:r>
          </a:p>
          <a:p xmlns:a="http://schemas.openxmlformats.org/drawingml/2006/main">
            <a:pPr algn="l">
              <a:buNone/>
              <a:defRPr sz="4125" b="0">
                <a:solidFill>
                  <a:srgbClr val="070707"/>
                </a:solidFill>
              </a:defRPr>
            </a:pPr>
            <a:r>
              <a:rPr sz="4125" b="0">
                <a:solidFill>
                  <a:srgbClr val="070707"/>
                </a:solidFill>
              </a:rPr>
              <a:t>自己干活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DE99C-15B6-4353-A571-77C1BBA2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653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过去，我们手动完成工作每一步。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2E9938-B8A7-4E68-B14D-5DCDC469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653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现在，Agent 可以读资料、查数据、调用工具、完成一连串任务。碰到需要审核的事，再交给人判断。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F36D57-017F-4398-B006-25CDCC9A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公司的工作方式也会跟着变：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7C528-B761-4CAE-BEB7-7B87E763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4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D0CE7D-191F-4C7F-90F0-DBDD621B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重复工作交给 Agent；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09E5D-6369-4156-B353-31D891D6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F22C2-0572-44FB-86B7-F2A3B364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9592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人负责目标、判断和审核；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5D4C0-5D34-4BCF-9C9C-EBEA03C7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98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9F-9D8F-4833-B452-6431B73D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一个负责人可以带多个 Agent；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63AC15-4D40-4068-9C7C-AAECEF67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974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800C5-5D15-463E-AAD3-5B9D74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91275"/>
            <a:ext cx="630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65" b="0">
                <a:solidFill>
                  <a:srgbClr val="070707"/>
                </a:solidFill>
              </a:defRPr>
            </a:pPr>
            <a:r>
              <a:rPr sz="1065" b="0">
                <a:solidFill>
                  <a:srgbClr val="070707"/>
                </a:solidFill>
              </a:rPr>
              <a:t>公司积累的不只是文件，还有能反复使用的流程和 Skill。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2376BC-29BC-4FD2-BCA0-B1C2B0B5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547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E28C7-CF0E-4AA7-A3FE-E1636CE7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866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Microsoft 在 2025 年提出 Agent Boss：员工将开始构建、分配和管理 Agent。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F597D-8FF5-4ACD-8A96-4A50225D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16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A107E-5850-4537-87CD-57DB5CD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4485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OpenAI 把 Agent 定义为能够代表用户完成工作流的系统，不只是聊天机器人。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F75E76-821B-4BF0-BBEB-629B3A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9786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A27B-272E-49B3-83A7-D64BBC81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1050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Google 认为企业 Agent 要连接公司的数据、工具、记忆和运行环境，才能真正工作。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4AD-DC9F-4C70-AFDC-76E7680D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405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52DE5C-AA7C-4B9B-87F6-27F2170C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72450"/>
            <a:ext cx="6305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Anthropic 发现，人在实际协作中更多决定“做什么”，Agent 更多负责“怎么做”。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7F713-3F9A-4C5A-ABB7-191CC897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8F58FB-8EFF-40CA-84FC-63E373D7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39200"/>
            <a:ext cx="6534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13" b="1">
                <a:solidFill>
                  <a:srgbClr val="070707"/>
                </a:solidFill>
              </a:defRPr>
            </a:pPr>
            <a:r>
              <a:rPr sz="1613" b="1">
                <a:solidFill>
                  <a:srgbClr val="070707"/>
                </a:solidFill>
              </a:rPr>
              <a:t>公司的运作效率，会随着AI Native程度拉开差距。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32DC5-59E3-4108-80E9-64AF1C94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070A8A-D719-41A2-AC5A-DBCF008A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2155949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B07E82-4AE4-4AEB-957C-1913B0B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这些数字已经发生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CEB06-6883-4D43-8570-89B39EF2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81%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10FF5-6629-46F9-B1BF-2A5DD095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5240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Microsoft 2025 Work Trend Index 调查了 31 个国家的 31,000 名员工。81% 的受访领导者预计，未来 12—18 个月 Agent 会进入公司的 AI 战略。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9B937-5552-4107-ADCE-899DC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525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Microsoft · 2025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996D8-A610-4FCA-B5CD-6A615117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09F13A-160D-4991-96EF-B0CC98E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100万+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6C18B-4748-4802-BA89-2123691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861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2025 年公布，已有超过 100 万家企业客户在使用其产品。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D68BB-B2F5-4C05-A84B-1EA942E2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4E027-F827-4C51-9757-B81EC301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064C-AA85-488B-8759-20A2B43F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108×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F2C74-61B7-4581-BD08-C6397DFC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48200"/>
            <a:ext cx="36671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77" b="1">
                <a:solidFill>
                  <a:srgbClr val="070707"/>
                </a:solidFill>
              </a:defRPr>
            </a:pPr>
            <a:r>
              <a:rPr sz="1177" b="1">
                <a:solidFill>
                  <a:srgbClr val="070707"/>
                </a:solidFill>
              </a:rPr>
              <a:t>OpenAI 2026 年的企业使用数据中，自 2 月以来，Codex 周活跃用户在法务部门增长 108 倍，在销售和招聘部门均增长 41 倍，在市场部门增长 26 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AA1BC2-198D-44E1-BA84-F73922D2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767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90" b="0">
                <a:solidFill>
                  <a:srgbClr val="656563"/>
                </a:solidFill>
              </a:defRPr>
            </a:pPr>
            <a:r>
              <a:rPr sz="690" b="0">
                <a:solidFill>
                  <a:srgbClr val="656563"/>
                </a:solidFill>
              </a:rPr>
              <a:t>OpenAI ·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61D0-152D-40DC-B145-6211F01B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8AE6C-FCDF-4709-9CB0-1929F9CC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71A2-2013-482A-A417-F94A235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30" b="1">
                <a:solidFill>
                  <a:srgbClr val="070707"/>
                </a:solidFill>
              </a:defRPr>
            </a:pPr>
            <a:r>
              <a:rPr sz="930" b="1">
                <a:solidFill>
                  <a:srgbClr val="070707"/>
                </a:solidFill>
              </a:rPr>
              <a:t>已经进入生产的公开案例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01D5F-3128-4532-984B-BF43D202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Cisco：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AE96AF-6F70-43A5-A2FC-B2DE11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公布的客户资料显示，Codex 帮助其把代码评审时间缩短 50%，部分项目从数周缩短到数天。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E0A88-F155-47E5-8DC6-F9D8537D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700087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Carlyle：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AB605-EB2C-407C-A77C-BFB9C3D7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700087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其多 Agent 尽调系统的开发时间减少超过 50%，Agent 准确率提高 30%。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C95F4-30A2-4AAC-B425-3C9AEB9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TELUS：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613B11-1A28-4F37-8B44-660FBFE0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Google Cloud 客户案例称，其 AI 系统每年节省 5,390 万美元，客户问题解决速度提高 87%，30% 的来电由 AI 主动解决。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DD22DE-5D43-4E8E-8B6E-F907B65D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81248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70707"/>
                </a:solidFill>
              </a:defRPr>
            </a:pPr>
            <a:r>
              <a:rPr sz="900" b="1">
                <a:solidFill>
                  <a:srgbClr val="070707"/>
                </a:solidFill>
              </a:rPr>
              <a:t>Lowe’s：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0CE6B-57E9-49AD-AE1E-3E2BE944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81248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0" b="0">
                <a:solidFill>
                  <a:srgbClr val="070707"/>
                </a:solidFill>
              </a:defRPr>
            </a:pPr>
            <a:r>
              <a:rPr sz="930" b="0">
                <a:solidFill>
                  <a:srgbClr val="070707"/>
                </a:solidFill>
              </a:rPr>
              <a:t>OpenAI 客户资料显示，Lowe’s 已在 1,700 多家门店为员工提供 AI 项目指导工具。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FA089-59AE-4E83-94F7-396B914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4587A-A5FE-4348-B4DA-02645D4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570315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5F5525-B72C-4BA3-BAA4-15A31C40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6534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想要升级提效，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000" b="0">
                <a:solidFill>
                  <a:srgbClr val="070707"/>
                </a:solidFill>
              </a:rPr>
              <a:t>但不知道从哪里入手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C5B90-6393-43A7-B871-16C4CC1B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很多企业已经试过 AI：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2C6D-96B8-46D7-940B-4C59D957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31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2B9B-AF9E-4528-AC78-A776F905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574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买过会员，员工偶尔问几个问题；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1CEB6-622E-45C1-897A-0A3F429C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49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18600-5DC1-43C4-98D5-FFF3F66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做过 Demo，演示时很好，上线后没人用；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FAAA1-4FED-4B2E-B892-A8F4DA7C0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557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34CA7-F409-45B8-B216-3A7AEF1B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看了很多案例，回到自己公司却套不上；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9C17C-7B0F-40CD-8359-91CE5CB6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18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A88A8-E899-402E-ACF1-162416B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每个部门都说有需求，但排不出先后；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5426D-6C35-4A77-A4CD-55B48375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78029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3CB89-1B77-4818-8B55-23F2ABE1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想建知识库，资料却散在微信、Excel、PDF、网盘和员工电脑里；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3F57D-9287-48BE-A757-739EBF7C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4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273BF-C923-449A-823B-9D45076A2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8525"/>
            <a:ext cx="630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070707"/>
                </a:solidFill>
              </a:defRPr>
            </a:pPr>
            <a:r>
              <a:rPr sz="855" b="0">
                <a:solidFill>
                  <a:srgbClr val="070707"/>
                </a:solidFill>
              </a:rPr>
              <a:t>担心数据安全，也不知道 Agent 能开放多大权限。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D5AE6-7089-40D2-9492-A258D86B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AI 升级横跨了四件事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7EDBE-D240-4B90-AA56-D5851E4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100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老板想要的结果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6DF84-7153-4B08-8C09-23CFF10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148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33EC-B008-455F-91C2-646EAF96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一线员工的工作流程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AE1A04-E823-4579-9047-5B2963E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7682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3788F3-632A-4D44-B4A4-E59BBB8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13397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数据和系统在哪里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A565D-D535-4D79-B44F-CBEFDE58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38775"/>
            <a:ext cx="3105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C371C1-E42F-4695-B9FA-CA0A10B5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959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013" b="1">
                <a:solidFill>
                  <a:srgbClr val="070707"/>
                </a:solidFill>
              </a:rPr>
              <a:t>技术怎么做出来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BBFB1-0B03-4BB2-9783-B53BB23B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895975"/>
            <a:ext cx="3105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少一层，项目就容易停住。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7A332C-F5C5-4C2F-83C5-16F803E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6534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为什么自己做容易卡住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1A2F1-54A6-41B8-8930-C027E372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34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只听老板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1DEE52-AE74-4DDB-9F48-4CD7407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6934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方向很大，但找不到具体从哪项工作开始。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04CE0-6A5F-4AB4-A6C9-51976BB2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96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0B94A-502D-40D7-9FF4-255ABBA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只听一线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6517AC-0964-4420-8574-7B64DC3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3533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会得到很多零散需求，却不知道哪个最值得投入。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77EB1C-F1D3-4F37-BA07-43877F51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152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D8EF5-D110-4061-B472-B1946018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772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只找软件公司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61B0B-9641-435F-A632-06F1C6A3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7724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对方需要清楚的需求文档，但企业现在最缺的就是清楚的需求。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7D586F-6E39-4F5E-A82D-36E3B63E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343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242B17-E830-48AC-B7C6-A516EFD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直接买标准产品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279BC8-534B-43F5-A696-33F63F70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1915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上线很快，但公司的流程不一定适合它。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DFB4D-4F5F-4A67-A96F-8E7F8075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534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D2DAF0-6109-4704-9112-8249D3C4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10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98" b="1">
                <a:solidFill>
                  <a:srgbClr val="070707"/>
                </a:solidFill>
              </a:defRPr>
            </a:pPr>
            <a:r>
              <a:rPr sz="885" b="1">
                <a:solidFill>
                  <a:srgbClr val="070707"/>
                </a:solidFill>
              </a:rPr>
              <a:t>一开始就建大平台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D4B596-8941-4FFC-AFAB-4AA073BA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86106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070707"/>
                </a:solidFill>
              </a:defRPr>
            </a:pPr>
            <a:r>
              <a:rPr sz="840" b="0">
                <a:solidFill>
                  <a:srgbClr val="070707"/>
                </a:solidFill>
              </a:rPr>
              <a:t>钱和时间先花出去了，业务价值还没有验证。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3660CA-E39A-4C1E-B77D-3D5F46FA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3925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28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企业需要一个人把业务、产品和技术接在一起。这就是 FDE 的工作。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70B4E87-63B2-431D-AF66-108677A4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464D8DB-A97F-4791-A36E-7C1F4141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3223876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7B760-4D94-463B-B44C-47829C94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FDE 从模糊问题开始，</a:t>
            </a:r>
          </a:p>
          <a:p xmlns:a="http://schemas.openxmlformats.org/drawingml/2006/main">
            <a:pPr algn="l">
              <a:buNone/>
              <a:defRPr sz="3300" b="0">
                <a:solidFill>
                  <a:srgbClr val="070707"/>
                </a:solidFill>
              </a:defRPr>
            </a:pPr>
            <a:r>
              <a:rPr sz="3300" b="0">
                <a:solidFill>
                  <a:srgbClr val="070707"/>
                </a:solidFill>
              </a:rPr>
              <a:t>做到结果出来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9A603-9D47-4B36-AF1E-237090E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5341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Forward Deployed Engineer 不是坐在客户办公室写代码的人。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FDE 先去现场看真实工作：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老板为什么想做 AI，一线每天怎么操作，数据放在哪里，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070707"/>
                </a:solidFill>
              </a:defRPr>
            </a:pPr>
            <a:r>
              <a:rPr sz="1200" b="0">
                <a:solidFill>
                  <a:srgbClr val="070707"/>
                </a:solidFill>
              </a:rPr>
              <a:t>哪些地方最耗时间、最容易错、最影响客户。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ED2D5-8E5B-48BA-982C-7767748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9A747-CA1B-46FE-98E5-600F9A16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问题看清后，再决定怎么做：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B057D-DE59-40BB-A2CC-71123798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2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28D42-66D6-4C1E-8CB7-9AADFFFF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现成软件能解决，就直接用现成软件；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FAB9C-19E1-4AC5-8523-E6722307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0552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9C620-063B-4A91-A394-6EF6CF21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689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F0CDE-AA80-4352-9C91-BC17EA9B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5315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一个 Skill 能解决，就不做大系统；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4FAC29-BE45-42BB-9090-0DAED4A5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97230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819A6-83CC-4ED2-8F7F-E626B516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356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A06D1-D4FB-438F-B7BD-B1AD8BD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1992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需要连接原有系统，就做集成；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79DEFC-0A1E-4C9C-B264-0F8A1E29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39075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C3075-A7EF-4E4C-B24D-7C78FC72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24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FBAAC-35FB-4E0E-8A52-5B726056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886700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需要整理数据，就先建数据库或知识库；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742FFA-F723-45B1-8E04-220557FD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05850"/>
            <a:ext cx="63055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E39DE-785F-4363-8EC9-EBF4DFB7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69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2D038-6BF6-4932-BEDF-ED428E69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53475"/>
            <a:ext cx="6305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一条流程适合 Agent，就把人和 Agent 的分工设计清楚。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97944-09A8-48ED-8DFB-4B8464DB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F44702-46A0-42AD-8D1A-658D295D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62213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0D943D-2CBE-44EB-9B3E-CA7BE9C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653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从一个小工具，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到一次公司级 AI 升级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267FD-312E-452F-860E-DF61699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0035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FD7A65-B6DD-4004-8813-456BEE80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一个具体问题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C1623-1AAB-4845-8D03-8F73B1F8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875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72BE7-CE58-4DED-B426-E0D3705C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企业专属 Skill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752B-B09A-4BE0-98DA-CEDC2248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8289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30F5A-A543-4B2A-BD1E-8DFC7DF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报价、录单、对账、报告自动化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D271B-7E41-4B54-AECA-CF3C30A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352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2CBC4F-3A1F-4744-9A5F-48989E28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42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文档、表格和图片处理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63BDC-8944-4700-9DB2-FF62EEDA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0541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CB214-1AE9-423A-B199-A9FCEF57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3438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小型定制 SaaS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2BE79-844D-4EB8-BE87-3686F67E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B33FE-1E67-464B-B61C-5D53310C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适合：问题明确，希望尽快看到效果。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A8485-6C97-4718-9244-FD959F9F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D0703-BE43-43F9-BE32-8F7A8A6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一条业务流程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C1EF5-C513-40AA-B344-1C3FCD0D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21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FF62D-0D66-4A1B-BD74-410E1807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访谈和流程整理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4A4B1-11C3-4266-A7DE-D085BAF5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784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FCBDFD-2051-4F23-968C-07BE0E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722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ERP、CRM、飞书、钉钉、企微等系统连接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1FA104-2F5E-4E53-9BFB-8B57991B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546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DA9F-8B0A-4759-8A71-00F7CD06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484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进度、结果和操作记录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0E838D-0BAD-4E13-8C5E-334F5772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402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8CB63-2EED-4C9C-9653-585B3813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多角色 Agent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0560B3-F160-4182-99B1-59B62BCC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65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8CA196-10A2-457C-BA0A-B52F77C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103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异常处理和人工确认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D7F78-0C95-45CA-A010-023F00F4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24675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5B4642-CF7C-4737-B1FA-E06E9C0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29450"/>
            <a:ext cx="3667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适合：工作跨多人、跨系统，靠人工反复传递。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4150D1-4584-47FC-BB0F-20DAB222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15200"/>
            <a:ext cx="3667125" cy="7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1831D-B3C6-4C52-9B29-9941A3FA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53325"/>
            <a:ext cx="3667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一套数据基础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53A605-7487-4B06-92E5-BFF6812B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691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A04F7-1B6B-4919-BF12-DD26DD70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9629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业务数据库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26FA6-0CE1-4B39-9D8E-FCCFBE9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4535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8B62-76B9-44C6-AA14-ABEA6892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43915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数据整理和统一命名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F1447B-F550-442C-A789-3BDE6ADF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21604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5DED1F-780E-4A5F-812A-8EC32CAA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915400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为 Agent 提供可信的数据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CEF3A7-5106-4775-A6BE-8B1C848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0722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CC5296-F2F1-4578-8775-233DD267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20102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企业知识库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6E3062-408C-4B2A-B308-195B63D0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783479"/>
            <a:ext cx="8572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6A1D9-9A7D-41DE-BA8A-EB789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677275"/>
            <a:ext cx="34385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15" b="0">
                <a:solidFill>
                  <a:srgbClr val="070707"/>
                </a:solidFill>
              </a:defRPr>
            </a:pPr>
            <a:r>
              <a:rPr sz="915" b="0">
                <a:solidFill>
                  <a:srgbClr val="070707"/>
                </a:solidFill>
              </a:rPr>
              <a:t>权限和使用范围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8679A2-5721-486C-A961-8BBC2A6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82100"/>
            <a:ext cx="366712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216123-02D7-4DAC-A6E9-96629399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267825"/>
            <a:ext cx="3667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适合：资料很多，但找不到、用不准、无法共享。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07C0B5-5492-455E-BB37-6C44676E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00350"/>
            <a:ext cx="2533650" cy="678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A754F3-54D2-450F-A843-E70B4B67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035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91638C-2939-4DA0-B57D-CCDE2E88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00400"/>
            <a:ext cx="2076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70707"/>
                </a:solidFill>
              </a:defRPr>
            </a:pPr>
            <a:r>
              <a:rPr sz="2025" b="1">
                <a:solidFill>
                  <a:srgbClr val="070707"/>
                </a:solidFill>
              </a:rPr>
              <a:t>一次公司级升级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13EBAE-7191-4E56-8016-7A6D1C35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06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11A426-7B57-442E-B569-1F9F993F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767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找出各部门适合 AI 的工作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90D1D5-CBBD-4749-B571-B3331D1E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735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18B7A0-F3A7-44DC-9331-05FE2B2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2197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重新设计人和 Agent 的分工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49EF25-B193-4577-90EB-CC943287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3165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343CE7-052D-4353-A520-9D6EE75B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9626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建立权限、审批和责任记录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E152D5-D82F-4A2C-B1A1-2E58617F0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05945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D8EC93-A51C-44B0-9CD5-BC28BBF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670560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制定试点顺序和后续计划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2CF5D3F-4BE5-43CD-A776-A8B6465D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7802404"/>
            <a:ext cx="952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BACA70-16B2-4027-92D2-54112CBD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7448550"/>
            <a:ext cx="1847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90" b="0">
                <a:solidFill>
                  <a:srgbClr val="070707"/>
                </a:solidFill>
              </a:defRPr>
            </a:pPr>
            <a:r>
              <a:rPr sz="990" b="0">
                <a:solidFill>
                  <a:srgbClr val="070707"/>
                </a:solidFill>
              </a:rPr>
              <a:t>培训企业自己的 Agent Boss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0794A3-D4C1-4F7E-9FF7-F2C27D4B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8858250"/>
            <a:ext cx="20764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A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75C197-83A9-4EAB-AF93-51176DE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9067800"/>
            <a:ext cx="20764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适合：老板希望系统推进，不想让各部门各自尝试。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718BE43-DF8D-41B1-9AD3-523F654D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AE87252-809B-426A-91EE-5B1093CD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6489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0E11E-0F40-42CE-AE5B-5F907FD3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65341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先做一次诊断，</a:t>
            </a:r>
          </a:p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再决定要不要开发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EFA19-99D6-46A3-9508-E1B1B58A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098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248F-2BC4-4E97-A175-97832AF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03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先确认企业为什么要做 AI：省时间、少出错、增加收入，还是改善整个公司的工作方式。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10B46-F51A-4B09-A925-E5369349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0047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94F636-3298-4F7B-AAB9-140D7608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671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AF39C1-6B94-4351-9A0A-0289961A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5762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我们会看员工实际使用的表格、文件、聊天工具和业务系统，也会看正常流程之外的各种例外。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FBC1B-B544-40E4-BADE-CDA08F75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25780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A65F7-D46F-4F3F-806E-33C84AB7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244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103E-3E98-49F7-AC74-32120390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31495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按价值、难度、数据条件、风险和验证时间排序。不是所有问题都要用 AI。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9F8C0-3F53-4A68-9E37-E70AAAD7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15125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BEE7-4800-43E7-9518-5C1DC722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781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EFE78-0F61-4649-B896-036FF251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772275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只选一项工作，先约定负责人、数据、范围和判断结果的指标，再做出能用的版本。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6422D0-FAEB-4345-83B2-A1D6C7CB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172450"/>
            <a:ext cx="60864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3F4BF7-57E2-4DAF-BA5B-2880B31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391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070707"/>
                </a:solidFill>
              </a:defRPr>
            </a:pPr>
            <a:r>
              <a:rPr sz="788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44E37-E38E-4854-98B2-5B2ED62E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229600"/>
            <a:ext cx="60864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33" b="0">
                <a:solidFill>
                  <a:srgbClr val="070707"/>
                </a:solidFill>
              </a:defRPr>
            </a:pPr>
            <a:r>
              <a:rPr sz="1133" b="0">
                <a:solidFill>
                  <a:srgbClr val="070707"/>
                </a:solidFill>
              </a:rPr>
              <a:t>真实用户用过以后，再决定继续修改、推广到其他部门，还是停止。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49821-DC2E-42A6-A193-E6860601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E8BB-7A2A-4F5B-AB8B-08B8E75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87791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212BC3-2937-4C51-9DA9-4AC0AB5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不交一个演示，</a:t>
            </a:r>
          </a:p>
          <a:p xmlns:a="http://schemas.openxmlformats.org/drawingml/2006/main">
            <a:pPr algn="l">
              <a:buNone/>
              <a:defRPr sz="3375" b="0">
                <a:solidFill>
                  <a:srgbClr val="070707"/>
                </a:solidFill>
              </a:defRPr>
            </a:pPr>
            <a:r>
              <a:rPr sz="3375" b="0">
                <a:solidFill>
                  <a:srgbClr val="070707"/>
                </a:solidFill>
              </a:rPr>
              <a:t>交一套能验证的东西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A5D6D9-97BB-416A-856E-641FBE75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653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根据项目范围，试点通常包括：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34F422-2DE6-4426-B079-FCC7D284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48318-5293-4D46-A64F-003AE70E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原来的工作流程图；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275D-844A-4285-AEE4-1224E19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A6305-567A-485F-A9A9-56ED6A61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84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3E58D-71AF-42BB-8555-9E7F6652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5336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找到的问题和改造范围；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DABE7-2581-449C-B627-D3FDF833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9087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A8145-A4C1-4C0F-BC86-377E4DD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0D857-B6B4-4B68-9B07-802E2348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可以运行的原型或系统；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93678-671E-4E46-B272-043ADC5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55BCA-7522-4C5C-B884-BA80751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4951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51183-D393-4C67-865B-2149B09F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使用的数据和权限说明；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DA99C0-4374-4A46-8C1F-EE5619ED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17195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F049-96AC-4DB8-B843-EB5A9F8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971A-B932-4C83-84A8-6090D7ED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人和 Agent 各自负责什么；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B26AE-ED68-4AC5-A522-604568DA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1C8BD-624F-4ACE-B9CC-469C3ED8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73059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B4EA6-727A-4684-956E-758A51D7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49580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哪些动作需要人工确认；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C9FDC-B54A-447C-A5F4-27ABDF4E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153025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2CE44-A88F-4C1A-A566-103BD709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C4929-931D-4953-B4D7-8613F770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上线前后的对比方法；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CC4A62-75E3-4EBF-8845-B5E0D751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63ABF1-93C1-4377-B926-054CB6D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711666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06B473-CCE8-471B-AF67-5D1175B0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476875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8" b="1">
                <a:solidFill>
                  <a:srgbClr val="070707"/>
                </a:solidFill>
              </a:defRPr>
            </a:pPr>
            <a:r>
              <a:rPr sz="1058" b="1">
                <a:solidFill>
                  <a:srgbClr val="070707"/>
                </a:solidFill>
              </a:rPr>
              <a:t>继续做、调整或停止的建议。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F1A600-3C84-43EA-A8D9-6AD2FDC3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134100"/>
            <a:ext cx="30003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463FD-EE51-4BA6-B1B8-04E29D81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905625"/>
            <a:ext cx="6534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A46A22-F1D6-45BA-AC75-91AC19F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19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我们会提前写清楚：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965F1-F488-4144-A942-450728F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BBBA58-8FC3-4342-AEB0-11306EB9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谁负责；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FE6768-5171-44E4-A7B1-AFB3C099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0262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E8FDCE-0C63-49B4-9FB3-E87E66B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295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做到哪里算完成；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1ACE6A-B558-4C67-BC3F-CBBC12AD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B6402B-D133-4F7A-B150-94AD00C5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什么不在这次范围内；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53F4BD-0457-4584-B368-B757FFC5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8750141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CAECC3-030D-483B-9333-FE80D085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5534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怎么判断有没有效果。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15C0C9-BB29-473F-AC49-6C3F2AA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7798F7-545B-4409-8DD1-776E1A10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207550651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6D9CFD-6179-4BC4-B0FD-37BDAA9B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653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国际制造业已经把 AI</a:t>
            </a:r>
          </a:p>
          <a:p xmlns:a="http://schemas.openxmlformats.org/drawingml/2006/main">
            <a:pPr algn="l">
              <a:buNone/>
              <a:defRPr sz="2700" b="0">
                <a:solidFill>
                  <a:srgbClr val="070707"/>
                </a:solidFill>
              </a:defRPr>
            </a:pPr>
            <a:r>
              <a:rPr sz="2700" b="0">
                <a:solidFill>
                  <a:srgbClr val="070707"/>
                </a:solidFill>
              </a:rPr>
              <a:t>放进真实生产流程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AD8F-8505-49A0-9DCC-C36C35D8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6534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2F130-E0D7-4099-B103-C09929C2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22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1">
                <a:solidFill>
                  <a:srgbClr val="070707"/>
                </a:solidFill>
              </a:defRPr>
            </a:pPr>
            <a:r>
              <a:rPr sz="907" b="1">
                <a:solidFill>
                  <a:srgbClr val="070707"/>
                </a:solidFill>
              </a:rPr>
              <a:t>全球制造业公开实践｜AI 已经进入工程、生产、质量与设备运维。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2F854-0477-4918-8CAB-86818D081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国际大型制造企业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1E439-63FD-4890-B8EF-AA837A83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01D37-F725-419D-BBAB-22718410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FD731-B5BE-4F09-A2A4-160BF62A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5A666-67D1-45EF-A146-12BDD65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90850"/>
            <a:ext cx="1466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2"/>
          </a:solidFill>
          <a:ln xmlns:a="http://schemas.openxmlformats.org/drawingml/2006/main" w="4286">
            <a:solidFill>
              <a:srgbClr val="D8D8D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35852-C4AF-4DF6-8382-2F73F446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57675"/>
            <a:ext cx="653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以下内容整理自企业官网公开资料，仅作行业实践参考，不代表 FDE 客户或合作关系。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4D6D-66BB-4299-9686-86D698F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48250"/>
            <a:ext cx="653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BOSCH｜AI Analytics Platform / 制造质量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649259-803E-4B8E-8617-EA1B4C2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公开应用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2F329-28F9-4B04-9462-7E0039B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3067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Bosch 将 AI 用于自动光学检测、异常检测、根因分析与排产，并用制造数据持续优化生产。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3BD4A7-0456-4398-A376-27FD684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104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公开规模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4E3FBB-FECA-414C-8A12-FDC0B0E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533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官方资料显示，其 AI Analytics Platform 已用于 8 个业务部门、超过 1,500 条生产线。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04D8A0-0D39-44DB-9A24-4A5B9DA3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48300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生产现场发生什么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AF078D-D72B-421F-B812-00C1AF47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91200"/>
            <a:ext cx="306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7" b="0">
                <a:solidFill>
                  <a:srgbClr val="070707"/>
                </a:solidFill>
              </a:defRPr>
            </a:pPr>
            <a:r>
              <a:rPr sz="907" b="0">
                <a:solidFill>
                  <a:srgbClr val="070707"/>
                </a:solidFill>
              </a:rPr>
              <a:t>系统持续读取设备与质量数据，把异常和可能原因更早呈现给一线团队。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C4CF-15F9-4AB1-A50A-C81AE87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848475"/>
            <a:ext cx="3067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业务价值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71D13-FA60-4810-A524-2B5038FE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38806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45CDB5-814E-476E-A34F-E92D9CED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21995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质量问题：事后追查 → 过程识别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7A70AC-0932-448F-BF32-98A2789C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75954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A5C68-271E-449D-B674-B0C98D5D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59142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分析方式：人工筛查 → 数据驱动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EC39D3-9871-48FD-92B9-C23BE96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131016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58C590-FFA5-48D4-B42B-B64D956B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改进范围：单点经验 → 跨产线复用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EAF38-9106-4991-8A99-8BAAE10B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502491"/>
            <a:ext cx="762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7CBD4-E4A3-4425-A550-EA9CF275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8334375"/>
            <a:ext cx="283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现场协作：AI 提示 → 人员判断与处置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523DB7-C1B8-418E-BE73-9C575045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820150"/>
            <a:ext cx="653415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B17710-BBA3-4641-8B27-0248A407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059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SIEMENS｜Industrial Copilot / 工程与运维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73155B-0E68-46A3-AB55-5AEE1732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0868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070707"/>
                </a:solidFill>
              </a:defRPr>
            </a:pPr>
            <a:r>
              <a:rPr sz="900" b="0">
                <a:solidFill>
                  <a:srgbClr val="070707"/>
                </a:solidFill>
              </a:rPr>
              <a:t>Siemens 将生成式 AI 接入 PLC 代码生成、设备运维和车间数据查询；其 Bad Neustadt 工厂的 Production Copilot 用于把分散数据转成可执行洞察。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677C3F-ED61-4ACC-8744-B7CCAA94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E0783-F96B-4652-A1D5-15D5A29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e9e36eb71a427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9125" y="3048000"/>
            <a:ext cx="1257300" cy="419100"/>
          </a:xfrm>
          <a:prstGeom xmlns:a="http://schemas.openxmlformats.org/drawingml/2006/main" prst="rect">
            <a:avLst/>
          </a:prstGeom>
        </p:spPr>
      </p:pic>
      <p:pic>
        <p:nvPicPr>
          <p:cNvPr id="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60e2ee76f444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425700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978eba0a24c0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111625" y="3067050"/>
            <a:ext cx="1016000" cy="381000"/>
          </a:xfrm>
          <a:prstGeom xmlns:a="http://schemas.openxmlformats.org/drawingml/2006/main" prst="rect">
            <a:avLst/>
          </a:prstGeom>
        </p:spPr>
      </p:pic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60ea650234b1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7550" y="3067050"/>
            <a:ext cx="1016000" cy="38100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CB9AC9-7836-443A-8794-A3F90203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2573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1e3590843c34233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22EB84-9C49-4630-AFD8-08C7CCF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3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ede947d59bc46f0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A99177-4D99-4D17-9249-A1AA7FD5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f0ca7e13e0a4ffc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E432F8-9908-4FAE-A84B-58693BEF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067050"/>
            <a:ext cx="1016032" cy="3810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da99a14b2b24c90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287B55-D09B-4E8D-B73C-E9670953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75234"/>
            <a:ext cx="1257300" cy="221933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d34208afd0c74079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660FCD-43F4-4697-BC1E-25C9C48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419100" cy="419100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a75c345637774a50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8B0D-6783-408E-902B-EE05F9B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657" y="3796284"/>
            <a:ext cx="1016032" cy="179832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9701e1ba0c9644dc"/>
            <a:stretch/>
          </a:blip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803CB5-0E17-496D-8BA9-36D1E52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7582" y="3795522"/>
            <a:ext cx="1016032" cy="18145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557e2a75a8841fb"/>
            <a:stretch/>
          </a:blip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8523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D31659-8914-4AE8-8277-FD2EF0F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65341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系统上线了，</a:t>
            </a:r>
          </a:p>
          <a:p xmlns:a="http://schemas.openxmlformats.org/drawingml/2006/main">
            <a:pPr algn="l">
              <a:buNone/>
              <a:defRPr sz="3225" b="0">
                <a:solidFill>
                  <a:srgbClr val="070707"/>
                </a:solidFill>
              </a:defRPr>
            </a:pPr>
            <a:r>
              <a:rPr sz="3225" b="0">
                <a:solidFill>
                  <a:srgbClr val="070707"/>
                </a:solidFill>
              </a:rPr>
              <a:t>还要有人会带 Agent 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862D4-348D-4455-A072-B4C4A30F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FDE 负责把企业 AI 升级做出来。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125" b="0">
                <a:solidFill>
                  <a:srgbClr val="070707"/>
                </a:solidFill>
              </a:defRPr>
            </a:pPr>
            <a:r>
              <a:rPr sz="1125" b="0">
                <a:solidFill>
                  <a:srgbClr val="070707"/>
                </a:solidFill>
              </a:rPr>
              <a:t>系统上线后，企业自己的管理者和员工要学会：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740AC-8911-4709-BBA4-6EE78B9E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0707"/>
                </a:solidFill>
              </a:defRPr>
            </a:pPr>
            <a:r>
              <a:rPr sz="1425" b="1">
                <a:solidFill>
                  <a:srgbClr val="070707"/>
                </a:solidFill>
              </a:rPr>
              <a:t>我们把这套培训叫做 Agent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B90E3-FD71-451E-BF96-E4F547D6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070707"/>
                </a:solidFill>
              </a:defRPr>
            </a:pPr>
            <a:r>
              <a:rPr sz="1088" b="0">
                <a:solidFill>
                  <a:srgbClr val="070707"/>
                </a:solidFill>
              </a:rPr>
              <a:t>它不是一门提示词课，也不是教员工多用几个 AI 工具。它教企业的人怎么管理一支由人和 Agent 组成的团队。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4667F-503A-4CF9-81D6-FFD900AF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60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A35DE3-AC5F-4E0B-B4C2-A82025E2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336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给 Agent 说清目标和完成标准；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1ED0B-B8D8-4716-9A3A-54CD748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861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A55D3-0A77-4BDA-BCA0-1C618D3C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161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43928-E954-4433-AA34-3C86A2EE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337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判断哪些工作可以交出去；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5FFB6-B9FF-40B6-A676-63EB0EE0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862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DFC99-7DB4-484D-8737-CE769060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162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58FB7-8DF4-4498-BB79-1043D477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338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检查 Agent 的过程和结果；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51E4F-FFAC-4177-A4AD-C235E605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863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ABCF8-DAC4-4F51-9504-9EDDB7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163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A96E6-2C50-494E-9C15-24FE98D8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339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处理异常、退回修改或暂停任务；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E64EFF-408C-4BB1-9A00-C0C46407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864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757F4-B5EA-4A0D-B750-9A5F077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16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BD3DA-A34D-4565-BCFD-1EA4D9EF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340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管好数据、工具和权限；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799C2-3DA5-45D9-92C3-2E9EEC94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58AD95-0EF7-42B0-93EB-1680409B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716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B8BFB-15A6-4F4A-A428-5880E86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3341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把好用的方法做成团队共同使用的 Skill；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3EA6C2-A70F-4094-938D-781FB5E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86600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B9895-AE92-443D-8940-46FC6B8C3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5166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D78-9152-4749-9D5E-7CE3875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34225"/>
            <a:ext cx="2819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070707"/>
                </a:solidFill>
              </a:defRPr>
            </a:pPr>
            <a:r>
              <a:rPr sz="975" b="0">
                <a:solidFill>
                  <a:srgbClr val="070707"/>
                </a:solidFill>
              </a:rPr>
              <a:t>对最后的业务结果负责。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74273C-00A6-4D5C-8399-658C43D8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620125"/>
            <a:ext cx="6534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02531-66C0-41A2-8730-AF96518E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8963025"/>
            <a:ext cx="261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70707"/>
                </a:solidFill>
              </a:defRPr>
            </a:pPr>
            <a:r>
              <a:rPr sz="1050" b="1">
                <a:solidFill>
                  <a:srgbClr val="070707"/>
                </a:solidFill>
              </a:rPr>
              <a:t>AgentBoss School 已开源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69BBC-1C11-4149-A60F-35117380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89630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070707"/>
                </a:solidFill>
              </a:defRPr>
            </a:pPr>
            <a:r>
              <a:rPr sz="938" b="1">
                <a:solidFill>
                  <a:srgbClr val="070707"/>
                </a:solidFill>
              </a:rPr>
              <a:t>github.com/ElliottYip/agentboss-school
MIT · v0.7.1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98BF2-2CF8-43A2-BBDA-72B88E05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4DA7AE-1F8F-40FC-8F2F-458FE40C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790692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3DDB5-01F8-4B19-8B21-E8310A7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0">
                <a:solidFill>
                  <a:srgbClr val="070707"/>
                </a:solidFill>
              </a:defRPr>
            </a:pPr>
            <a:r>
              <a:rPr sz="3450" b="0">
                <a:solidFill>
                  <a:srgbClr val="070707"/>
                </a:solidFill>
              </a:rPr>
              <a:t>先帮你找到第一步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C3758-5EC4-4191-A316-B8FA0F04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653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070707"/>
                </a:solidFill>
              </a:defRPr>
            </a:pPr>
            <a:r>
              <a:rPr sz="1163" b="0">
                <a:solidFill>
                  <a:srgbClr val="070707"/>
                </a:solidFill>
              </a:rPr>
              <a:t>展会期间，我们提供免费的企业 AI 诊断。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0FD50-CD1A-4535-84D6-BAF3A27E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你会拿到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9948B-AC9B-4021-A85B-C876BB28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我们也可能直接告诉你：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EC1D1-4CD5-4AF2-92BA-8817DC44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8F4A-59CB-4BCB-8F6D-65D6DE5C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目前最值得先看的 1—3 项工作；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485F-AE4C-49AA-86B9-6ACA420A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E8290-6915-4AA6-9935-70751EF2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EE63A-1145-4B20-99FA-C9DF6E6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这些工作适不适合用 AI；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41BED-D0E1-4E36-B5F9-1CA148A6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5544C-6276-40C4-B59B-185FD2A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758F5-34F8-4AEB-A808-AF582D7E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需要哪些数据、系统和人员参与；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51889-C913-46D8-9FC6-A50B22E6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6747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687918-1137-4610-903D-1341A15E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FDAF2-4113-46CF-BC24-A87F1AEA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51510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更适合买现成软件、做 Skill、定制 SaaS、建数据库，还是先改流程；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FA88-FF8B-4E17-AECE-1C3DF22B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591425"/>
            <a:ext cx="27717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D027E-0241-4C0D-BFC9-9835E41B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834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9E235-B0B5-4F79-978F-84C0F7CC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639050"/>
            <a:ext cx="27717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是否值得做一个小试点。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A584B-BAA2-41AE-B0EF-3681F1A3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876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3F465-AD14-4868-8AEC-57D227FA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432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这个问题不需要 AI；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1D642-84EB-421F-A982-CE34A847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95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52F14-3A20-4D34-AA03-FBE7939A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115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2845C-CE03-486B-A2BD-0FD733F0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672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现在的数据条件还做不了；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E8A79-F8AC-4287-AFD8-9CCC4071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4352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D8F4EE-BC32-4AC1-BBF9-7FA42EF6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3550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111A76-31A4-4E98-8F7B-3E908A67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9115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先把流程理顺，再考虑开发；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88C471-FA44-467A-A7E4-273CFE42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467475"/>
            <a:ext cx="2819400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B4D5C0-A8A4-45E8-B343-F99BC6A0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59454"/>
            <a:ext cx="104775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86EE77-D17C-41CF-A8C0-D7D312AA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15100"/>
            <a:ext cx="2819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82" b="0">
                <a:solidFill>
                  <a:srgbClr val="070707"/>
                </a:solidFill>
              </a:defRPr>
            </a:pPr>
            <a:r>
              <a:rPr sz="982" b="0">
                <a:solidFill>
                  <a:srgbClr val="070707"/>
                </a:solidFill>
              </a:rPr>
              <a:t>买现成产品更划算。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6C369B-8DF6-436B-BFF9-44589EE9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58150"/>
            <a:ext cx="3048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D9754B-FFFB-44B5-B982-8E5EA5F5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410575"/>
            <a:ext cx="2552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60" b="1">
                <a:solidFill>
                  <a:srgbClr val="070707"/>
                </a:solidFill>
              </a:defRPr>
            </a:pPr>
            <a:r>
              <a:rPr sz="960" b="1">
                <a:solidFill>
                  <a:srgbClr val="070707"/>
                </a:solidFill>
              </a:rPr>
              <a:t>免费诊断不承诺完整方案，也不接触未经授权的敏感数据。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9D73-50E8-4CF3-A258-5725A2B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43DD0D-B4C4-4FBC-BE3D-C737C18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476891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4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8D41D-1C80-42D8-92BC-FC83B251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653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你的企业，</a:t>
            </a:r>
          </a:p>
          <a:p xmlns:a="http://schemas.openxmlformats.org/drawingml/2006/main">
            <a:pPr algn="l">
              <a:buNone/>
              <a:defRPr sz="3825" b="0">
                <a:solidFill>
                  <a:srgbClr val="070707"/>
                </a:solidFill>
              </a:defRPr>
            </a:pPr>
            <a:r>
              <a:rPr sz="3825" b="0">
                <a:solidFill>
                  <a:srgbClr val="070707"/>
                </a:solidFill>
              </a:rPr>
              <a:t>最应该先改哪项工作？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E1ABF-0294-4BBE-9360-938EC88C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2286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每天限 10 家</a:t>
            </a:r>
          </a:p>
          <a:p xmlns:a="http://schemas.openxmlformats.org/drawingml/2006/main">
            <a:pPr algn="l">
              <a:buNone/>
              <a:defRPr sz="1575" b="1">
                <a:solidFill>
                  <a:srgbClr val="075CFF"/>
                </a:solidFill>
              </a:defRPr>
            </a:pPr>
            <a:r>
              <a:rPr sz="1575" b="1">
                <a:solidFill>
                  <a:srgbClr val="FF7A00"/>
                </a:solidFill>
              </a:rPr>
              <a:t>展会两天，共 20 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EDA8-D9AF-4CEB-A268-7D46DF9D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05050"/>
            <a:ext cx="1943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07070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426D7-955C-4317-A52F-A65349B5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71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56563"/>
                </a:solidFill>
              </a:defRPr>
            </a:pPr>
            <a:r>
              <a:rPr sz="900" b="0">
                <a:solidFill>
                  <a:srgbClr val="656563"/>
                </a:solidFill>
              </a:rPr>
              <a:t>[飞书二维码]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8339D-F68E-4A2E-AD20-680C99D8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70707"/>
                </a:solidFill>
              </a:defRPr>
            </a:pPr>
            <a:r>
              <a:rPr sz="975" b="1">
                <a:solidFill>
                  <a:srgbClr val="070707"/>
                </a:solidFill>
              </a:rPr>
              <a:t>加我飞书好友，并发送：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25B5C-547E-4A86-916E-15191EFF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1.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21686-4338-4C32-ABC3-646CEEC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0482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企业和行业；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8F2BF-C4EE-4FE6-8346-F8225A7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340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7B339-69AE-43BC-957B-6F6CA982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9D050A-F9FF-4275-B6BD-A80F6DE5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912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最想改善的一项工作；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BDC73-37D7-4161-BF90-9558084A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4770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34567-6702-45A3-8529-858FBE67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5BD-D693-478C-A7D4-58448F05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5341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现在怎么做；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25F3D-F16A-4952-BD62-4F82F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1995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98BC23-D903-4184-8723-3311DECD6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8662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2BD089-AC1E-4063-BDCD-FD298434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27710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谁负责这项业务；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8B5EB-10DB-409D-8629-FA1F05B6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7962900"/>
            <a:ext cx="3267075" cy="42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96C0A-F7AA-4FCC-BBED-96A1153AC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95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20" b="0">
                <a:solidFill>
                  <a:srgbClr val="070707"/>
                </a:solidFill>
              </a:defRPr>
            </a:pPr>
            <a:r>
              <a:rPr sz="720" b="0">
                <a:solidFill>
                  <a:srgbClr val="070707"/>
                </a:solidFill>
              </a:rPr>
              <a:t>5.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07DF3B-8E20-4943-8133-87987F1F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8020050"/>
            <a:ext cx="32670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05" b="0">
                <a:solidFill>
                  <a:srgbClr val="070707"/>
                </a:solidFill>
              </a:defRPr>
            </a:pPr>
            <a:r>
              <a:rPr sz="1005" b="0">
                <a:solidFill>
                  <a:srgbClr val="070707"/>
                </a:solidFill>
              </a:rPr>
              <a:t>方便沟通的时间。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56FB0-AAA6-4761-9313-86F10C59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70707"/>
                </a:solidFill>
              </a:defRPr>
            </a:pPr>
            <a:r>
              <a:rPr sz="1125" b="1">
                <a:solidFill>
                  <a:srgbClr val="070707"/>
                </a:solidFill>
              </a:rPr>
              <a:t>扫码加飞书｜发送现状即可预约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D2827-DFA3-4338-83BC-FDB51723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0"/>
            <a:ext cx="6534150" cy="85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57B5C-E51E-41B2-9D0D-5D0E7105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29800"/>
            <a:ext cx="6534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70707"/>
                </a:solidFill>
              </a:defRPr>
            </a:pPr>
            <a:r>
              <a:rPr sz="1088" b="1">
                <a:solidFill>
                  <a:srgbClr val="070707"/>
                </a:solidFill>
              </a:rPr>
              <a:t>想做 AI 升级，就从一个看得清、做得完的问题开始。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CF1EA-8740-400D-81B0-FD688F7A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0"/>
            <a:ext cx="381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12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452A7F-C077-402C-BEAB-BE61630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0287000"/>
            <a:ext cx="2000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660" b="0">
                <a:solidFill>
                  <a:srgbClr val="656563"/>
                </a:solidFill>
              </a:defRPr>
            </a:pPr>
            <a:r>
              <a:rPr sz="660" b="0">
                <a:solidFill>
                  <a:srgbClr val="656563"/>
                </a:solidFill>
              </a:rPr>
              <a:t>FDE 企业 AI 升级</a:t>
            </a:r>
          </a:p>
        </p:txBody>
      </p:sp>
    </p:spTree>
    <p:extLst>
      <p:ext uri="{BB962C8B-B14F-4D97-AF65-F5344CB8AC3E}">
        <p14:creationId xmlns:p14="http://schemas.microsoft.com/office/powerpoint/2010/main" val="18923781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2026-08-25T01:47:57.8730000Z</dcterms:created>
  <dcterms:modified xsi:type="dcterms:W3CDTF">2026-08-25T01:47:57.8730000Z</dcterms:modified>
</coreProperties>
</file>